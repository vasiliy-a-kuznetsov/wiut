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8" r:id="rId3"/>
    <p:sldId id="276"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70"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EEE"/>
    <a:srgbClr val="F2F2F2"/>
    <a:srgbClr val="358A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guide orient="horz" pos="958"/>
        <p:guide pos="3840"/>
      </p:guideLst>
    </p:cSldViewPr>
  </p:slideViewPr>
  <p:notesTextViewPr>
    <p:cViewPr>
      <p:scale>
        <a:sx n="1" d="1"/>
        <a:sy n="1" d="1"/>
      </p:scale>
      <p:origin x="0" y="0"/>
    </p:cViewPr>
  </p:notesTextViewPr>
  <p:notesViewPr>
    <p:cSldViewPr snapToGrid="0">
      <p:cViewPr varScale="1">
        <p:scale>
          <a:sx n="84" d="100"/>
          <a:sy n="84" d="100"/>
        </p:scale>
        <p:origin x="276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D7DEE-5312-4C23-BF9D-CEE6AA43FDA7}" type="datetimeFigureOut">
              <a:rPr lang="ru-RU" smtClean="0"/>
              <a:t>10.01.2025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F33E4F-C868-4D44-AC30-8AEA639D4053}" type="slidenum">
              <a:rPr lang="ru-RU" smtClean="0"/>
              <a:t>‹#›</a:t>
            </a:fld>
            <a:endParaRPr lang="ru-RU"/>
          </a:p>
        </p:txBody>
      </p:sp>
    </p:spTree>
    <p:extLst>
      <p:ext uri="{BB962C8B-B14F-4D97-AF65-F5344CB8AC3E}">
        <p14:creationId xmlns:p14="http://schemas.microsoft.com/office/powerpoint/2010/main" val="2755264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bg1"/>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A2733B-51EE-F674-C628-1F90FFB250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0" y="1671545"/>
            <a:ext cx="10515600" cy="2387600"/>
          </a:xfrm>
          <a:prstGeom prst="rect">
            <a:avLst/>
          </a:prstGeom>
        </p:spPr>
        <p:txBody>
          <a:bodyPr anchor="b"/>
          <a:lstStyle>
            <a:lvl1pPr algn="ctr">
              <a:defRPr sz="6000">
                <a:solidFill>
                  <a:schemeClr val="tx2"/>
                </a:solidFill>
              </a:defRPr>
            </a:lvl1pPr>
          </a:lstStyle>
          <a:p>
            <a:r>
              <a:rPr lang="en" dirty="0"/>
              <a:t>PRESENTATION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199" y="4151220"/>
            <a:ext cx="10515599" cy="1655762"/>
          </a:xfrm>
          <a:prstGeom prst="rect">
            <a:avLst/>
          </a:prstGeom>
        </p:spPr>
        <p:txBody>
          <a:bodyPr/>
          <a:lstStyle>
            <a:lvl1pPr marL="0" indent="0" algn="ctr">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9" name="Рисунок 8">
            <a:extLst>
              <a:ext uri="{FF2B5EF4-FFF2-40B4-BE49-F238E27FC236}">
                <a16:creationId xmlns:a16="http://schemas.microsoft.com/office/drawing/2014/main" id="{5E07DD49-C310-E4D0-AD52-96E34968CD39}"/>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894560" y="867420"/>
            <a:ext cx="2402881" cy="1392830"/>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6" name="Рисунок 1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641085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bg>
      <p:bgPr>
        <a:solidFill>
          <a:schemeClr val="tx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F199F8-BC65-3557-878B-6D38F25C56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1682560"/>
            <a:ext cx="10515599" cy="2387600"/>
          </a:xfrm>
          <a:prstGeom prst="rect">
            <a:avLst/>
          </a:prstGeom>
        </p:spPr>
        <p:txBody>
          <a:bodyPr anchor="b"/>
          <a:lstStyle>
            <a:lvl1pPr algn="ctr">
              <a:defRPr sz="6000">
                <a:solidFill>
                  <a:schemeClr val="bg1"/>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4162235"/>
            <a:ext cx="10515599" cy="1655762"/>
          </a:xfrm>
          <a:prstGeom prst="rect">
            <a:avLst/>
          </a:prstGeom>
        </p:spPr>
        <p:txBody>
          <a:bodyPr/>
          <a:lstStyle>
            <a:lvl1pPr marL="0" indent="0" algn="ctr">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4" name="Рисунок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94560" y="429394"/>
            <a:ext cx="2402881" cy="1953883"/>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395671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Титульный слайд">
    <p:bg>
      <p:bgPr>
        <a:solidFill>
          <a:schemeClr val="tx2"/>
        </a:solidFill>
        <a:effectLst/>
      </p:bgPr>
    </p:bg>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89061EA6-9975-07F8-8A83-81823CDEE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99630"/>
            <a:ext cx="12192000" cy="5576705"/>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2528374"/>
            <a:ext cx="10515599" cy="2387600"/>
          </a:xfrm>
          <a:prstGeom prst="rect">
            <a:avLst/>
          </a:prstGeom>
        </p:spPr>
        <p:txBody>
          <a:bodyPr anchor="b"/>
          <a:lstStyle>
            <a:lvl1pPr algn="ctr">
              <a:defRPr sz="6000">
                <a:solidFill>
                  <a:schemeClr val="accent3"/>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5008049"/>
            <a:ext cx="10515599" cy="1068286"/>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sp>
        <p:nvSpPr>
          <p:cNvPr id="12"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3"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4" name="Рисунок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39420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Титульный слайд">
    <p:bg>
      <p:bgPr>
        <a:solidFill>
          <a:schemeClr val="accent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89061EA6-9975-07F8-8A83-81823CDEE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99630"/>
            <a:ext cx="12192000" cy="5576705"/>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2528374"/>
            <a:ext cx="10515599" cy="2387600"/>
          </a:xfrm>
          <a:prstGeom prst="rect">
            <a:avLst/>
          </a:prstGeom>
        </p:spPr>
        <p:txBody>
          <a:bodyPr anchor="b"/>
          <a:lstStyle>
            <a:lvl1pPr algn="ctr">
              <a:defRPr sz="6000">
                <a:solidFill>
                  <a:schemeClr val="accent5"/>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5008049"/>
            <a:ext cx="10515599" cy="1655762"/>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spTree>
    <p:extLst>
      <p:ext uri="{BB962C8B-B14F-4D97-AF65-F5344CB8AC3E}">
        <p14:creationId xmlns:p14="http://schemas.microsoft.com/office/powerpoint/2010/main" val="4287257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bg>
      <p:bgPr>
        <a:solidFill>
          <a:schemeClr val="accent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F199F8-BC65-3557-878B-6D38F25C56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1319003"/>
            <a:ext cx="10515599" cy="2387600"/>
          </a:xfrm>
          <a:prstGeom prst="rect">
            <a:avLst/>
          </a:prstGeom>
        </p:spPr>
        <p:txBody>
          <a:bodyPr anchor="b"/>
          <a:lstStyle>
            <a:lvl1pPr algn="ctr">
              <a:defRPr sz="6000">
                <a:solidFill>
                  <a:schemeClr val="bg1"/>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3798678"/>
            <a:ext cx="10515599" cy="1655762"/>
          </a:xfrm>
          <a:prstGeom prst="rect">
            <a:avLst/>
          </a:prstGeom>
        </p:spPr>
        <p:txBody>
          <a:bodyPr/>
          <a:lstStyle>
            <a:lvl1pPr marL="0" indent="0" algn="ctr">
              <a:buNone/>
              <a:defRPr sz="24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9" name="Рисунок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94560" y="429394"/>
            <a:ext cx="2402881" cy="1953882"/>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3" name="Рисунок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1513936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bg>
      <p:bgPr>
        <a:solidFill>
          <a:schemeClr val="bg1"/>
        </a:solidFill>
        <a:effectLst/>
      </p:bgPr>
    </p:bg>
    <p:spTree>
      <p:nvGrpSpPr>
        <p:cNvPr id="1" name=""/>
        <p:cNvGrpSpPr/>
        <p:nvPr/>
      </p:nvGrpSpPr>
      <p:grpSpPr>
        <a:xfrm>
          <a:off x="0" y="0"/>
          <a:ext cx="0" cy="0"/>
          <a:chOff x="0" y="0"/>
          <a:chExt cx="0" cy="0"/>
        </a:xfrm>
      </p:grpSpPr>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1" y="1714500"/>
            <a:ext cx="5074557"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p:nvPr>
        </p:nvSpPr>
        <p:spPr>
          <a:xfrm>
            <a:off x="838201" y="474531"/>
            <a:ext cx="8578173"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You can also split your content</a:t>
            </a:r>
            <a:endParaRPr dirty="0"/>
          </a:p>
        </p:txBody>
      </p:sp>
      <p:sp>
        <p:nvSpPr>
          <p:cNvPr id="9" name="Google Shape;146;p19">
            <a:extLst>
              <a:ext uri="{FF2B5EF4-FFF2-40B4-BE49-F238E27FC236}">
                <a16:creationId xmlns:a16="http://schemas.microsoft.com/office/drawing/2014/main" id="{1A3271C3-5EB1-33E0-AD0F-C686F31E636B}"/>
              </a:ext>
            </a:extLst>
          </p:cNvPr>
          <p:cNvSpPr txBox="1">
            <a:spLocks noGrp="1"/>
          </p:cNvSpPr>
          <p:nvPr>
            <p:ph type="body" idx="2"/>
          </p:nvPr>
        </p:nvSpPr>
        <p:spPr>
          <a:xfrm>
            <a:off x="6223821" y="1714500"/>
            <a:ext cx="5129978"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Black</a:t>
            </a:r>
            <a:endParaRPr b="1" dirty="0"/>
          </a:p>
          <a:p>
            <a:pPr marL="0" lvl="0" indent="0" algn="l" rtl="0">
              <a:spcBef>
                <a:spcPts val="600"/>
              </a:spcBef>
              <a:spcAft>
                <a:spcPts val="0"/>
              </a:spcAft>
              <a:buNone/>
            </a:pPr>
            <a:r>
              <a:rPr lang="en" dirty="0"/>
              <a:t>Is the color of ebony and of outer space. It has been the symbolic color of elegance, solemnity and authority.</a:t>
            </a:r>
            <a:endParaRPr dirty="0"/>
          </a:p>
        </p:txBody>
      </p:sp>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3" name="Рисунок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8561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Заголовок и объект">
    <p:bg>
      <p:bgPr>
        <a:solidFill>
          <a:schemeClr val="bg1"/>
        </a:solidFill>
        <a:effectLst/>
      </p:bgPr>
    </p:bg>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8A280644-DFCA-A39E-6662-615C37F73B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9990" r="3233"/>
          <a:stretch/>
        </p:blipFill>
        <p:spPr>
          <a:xfrm>
            <a:off x="6806594" y="0"/>
            <a:ext cx="5385406" cy="5844445"/>
          </a:xfrm>
          <a:prstGeom prst="rect">
            <a:avLst/>
          </a:prstGeom>
        </p:spPr>
      </p:pic>
      <p:pic>
        <p:nvPicPr>
          <p:cNvPr id="3" name="Рисунок 2">
            <a:extLst>
              <a:ext uri="{FF2B5EF4-FFF2-40B4-BE49-F238E27FC236}">
                <a16:creationId xmlns:a16="http://schemas.microsoft.com/office/drawing/2014/main" id="{A5F9CA98-FE23-6C0C-C5CC-498BF274772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885" r="8325"/>
          <a:stretch/>
        </p:blipFill>
        <p:spPr>
          <a:xfrm>
            <a:off x="0" y="0"/>
            <a:ext cx="12192000" cy="6858000"/>
          </a:xfrm>
          <a:prstGeom prst="rect">
            <a:avLst/>
          </a:prstGeom>
        </p:spPr>
      </p:pic>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2" y="2056024"/>
            <a:ext cx="5129980" cy="1705800"/>
          </a:xfrm>
          <a:prstGeom prst="rect">
            <a:avLst/>
          </a:prstGeom>
        </p:spPr>
        <p:txBody>
          <a:bodyPr spcFirstLastPara="1" wrap="square" lIns="91425" tIns="91425" rIns="91425" bIns="91425" anchor="t" anchorCtr="0">
            <a:noAutofit/>
          </a:bodyPr>
          <a:lstStyle>
            <a:lvl1pPr>
              <a:defRPr sz="2000">
                <a:solidFill>
                  <a:schemeClr val="bg1"/>
                </a:solidFill>
              </a:defRPr>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4857519" cy="857400"/>
          </a:xfrm>
          <a:prstGeom prst="rect">
            <a:avLst/>
          </a:prstGeom>
        </p:spPr>
        <p:txBody>
          <a:bodyPr spcFirstLastPara="1" wrap="square" lIns="91425" tIns="91425" rIns="91425" bIns="91425" anchor="t" anchorCtr="0">
            <a:noAutofit/>
          </a:bodyPr>
          <a:lstStyle>
            <a:lvl1pPr>
              <a:defRPr>
                <a:solidFill>
                  <a:schemeClr val="accent3"/>
                </a:solidFill>
              </a:defRPr>
            </a:lvl1pPr>
          </a:lstStyle>
          <a:p>
            <a:pPr marL="0" lvl="0" indent="0" algn="l" rtl="0">
              <a:spcBef>
                <a:spcPts val="0"/>
              </a:spcBef>
              <a:spcAft>
                <a:spcPts val="0"/>
              </a:spcAft>
              <a:buNone/>
            </a:pPr>
            <a:r>
              <a:rPr lang="en-US" dirty="0"/>
              <a:t>You can also insert a photo</a:t>
            </a:r>
            <a:endParaRPr dirty="0"/>
          </a:p>
        </p:txBody>
      </p:sp>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3668988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Заголовок и объект">
    <p:bg>
      <p:bgPr>
        <a:solidFill>
          <a:schemeClr val="bg1"/>
        </a:solidFill>
        <a:effectLst/>
      </p:bgPr>
    </p:bg>
    <p:spTree>
      <p:nvGrpSpPr>
        <p:cNvPr id="1" name=""/>
        <p:cNvGrpSpPr/>
        <p:nvPr/>
      </p:nvGrpSpPr>
      <p:grpSpPr>
        <a:xfrm>
          <a:off x="0" y="0"/>
          <a:ext cx="0" cy="0"/>
          <a:chOff x="0" y="0"/>
          <a:chExt cx="0" cy="0"/>
        </a:xfrm>
      </p:grpSpPr>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1" y="2056020"/>
            <a:ext cx="5129981" cy="1705800"/>
          </a:xfrm>
          <a:prstGeom prst="rect">
            <a:avLst/>
          </a:prstGeom>
        </p:spPr>
        <p:txBody>
          <a:bodyPr spcFirstLastPara="1" wrap="square" lIns="91425" tIns="91425" rIns="91425" bIns="91425" anchor="t" anchorCtr="0">
            <a:noAutofit/>
          </a:bodyPr>
          <a:lstStyle>
            <a:lvl1pPr>
              <a:defRPr sz="2000">
                <a:solidFill>
                  <a:schemeClr val="tx1"/>
                </a:solidFill>
              </a:defRPr>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4725317" cy="857400"/>
          </a:xfrm>
          <a:prstGeom prst="rect">
            <a:avLst/>
          </a:prstGeom>
        </p:spPr>
        <p:txBody>
          <a:bodyPr spcFirstLastPara="1" wrap="square" lIns="91425" tIns="91425" rIns="91425" bIns="91425" anchor="t" anchorCtr="0">
            <a:noAutofit/>
          </a:bodyPr>
          <a:lstStyle>
            <a:lvl1pPr>
              <a:defRPr>
                <a:solidFill>
                  <a:schemeClr val="accent3"/>
                </a:solidFill>
              </a:defRPr>
            </a:lvl1pPr>
          </a:lstStyle>
          <a:p>
            <a:pPr marL="0" lvl="0" indent="0" algn="l" rtl="0">
              <a:spcBef>
                <a:spcPts val="0"/>
              </a:spcBef>
              <a:spcAft>
                <a:spcPts val="0"/>
              </a:spcAft>
              <a:buNone/>
            </a:pPr>
            <a:r>
              <a:rPr lang="en-US" dirty="0"/>
              <a:t>You can also insert a photo</a:t>
            </a:r>
            <a:endParaRPr dirty="0"/>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3467460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bg>
      <p:bgPr>
        <a:solidFill>
          <a:schemeClr val="accent5"/>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58718"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US" dirty="0"/>
              <a:t>You can also insert a photos</a:t>
            </a:r>
            <a:endParaRPr dirty="0"/>
          </a:p>
        </p:txBody>
      </p:sp>
      <p:pic>
        <p:nvPicPr>
          <p:cNvPr id="7" name="Рисунок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384844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Заголовок и объект">
    <p:bg>
      <p:bgPr>
        <a:solidFill>
          <a:schemeClr val="accent6"/>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675450" cy="857400"/>
          </a:xfrm>
          <a:prstGeom prst="rect">
            <a:avLst/>
          </a:prstGeom>
        </p:spPr>
        <p:txBody>
          <a:bodyPr spcFirstLastPara="1" wrap="square" lIns="91425" tIns="91425" rIns="91425" bIns="91425" anchor="b" anchorCtr="0">
            <a:noAutofit/>
          </a:bodyPr>
          <a:lstStyle>
            <a:lvl1pPr>
              <a:defRPr>
                <a:solidFill>
                  <a:schemeClr val="bg1"/>
                </a:solidFill>
              </a:defRPr>
            </a:lvl1pPr>
          </a:lstStyle>
          <a:p>
            <a:pPr marL="0" lvl="0" indent="0" algn="l" rtl="0">
              <a:spcBef>
                <a:spcPts val="0"/>
              </a:spcBef>
              <a:spcAft>
                <a:spcPts val="0"/>
              </a:spcAft>
              <a:buNone/>
            </a:pPr>
            <a:r>
              <a:rPr lang="en-US" dirty="0"/>
              <a:t>You can also insert a photos</a:t>
            </a:r>
            <a:endParaRPr dirty="0"/>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8941" y="700391"/>
            <a:ext cx="1634857" cy="400373"/>
          </a:xfrm>
          <a:prstGeom prst="rect">
            <a:avLst/>
          </a:prstGeom>
        </p:spPr>
      </p:pic>
      <p:sp>
        <p:nvSpPr>
          <p:cNvPr id="11"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5"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6" name="Рисунок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112131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Заголовок и объект">
    <p:bg>
      <p:bgPr>
        <a:solidFill>
          <a:schemeClr val="bg1"/>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646267" cy="857400"/>
          </a:xfrm>
          <a:prstGeom prst="rect">
            <a:avLst/>
          </a:prstGeom>
        </p:spPr>
        <p:txBody>
          <a:bodyPr spcFirstLastPara="1" wrap="square" lIns="91425" tIns="91425" rIns="91425" bIns="91425" anchor="b" anchorCtr="0">
            <a:noAutofit/>
          </a:bodyPr>
          <a:lstStyle>
            <a:lvl1pPr>
              <a:defRPr>
                <a:solidFill>
                  <a:schemeClr val="accent5"/>
                </a:solidFill>
              </a:defRPr>
            </a:lvl1pPr>
          </a:lstStyle>
          <a:p>
            <a:pPr marL="0" lvl="0" indent="0" algn="l" rtl="0">
              <a:spcBef>
                <a:spcPts val="0"/>
              </a:spcBef>
              <a:spcAft>
                <a:spcPts val="0"/>
              </a:spcAft>
              <a:buNone/>
            </a:pPr>
            <a:r>
              <a:rPr lang="en-US" dirty="0"/>
              <a:t>You can also insert a photos</a:t>
            </a:r>
            <a:endParaRPr dirty="0"/>
          </a:p>
        </p:txBody>
      </p:sp>
      <p:pic>
        <p:nvPicPr>
          <p:cNvPr id="5" name="Рисунок 4">
            <a:extLst>
              <a:ext uri="{FF2B5EF4-FFF2-40B4-BE49-F238E27FC236}">
                <a16:creationId xmlns:a16="http://schemas.microsoft.com/office/drawing/2014/main" id="{8BE65376-C484-7E39-4F18-93A9C81E25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3186"/>
            <a:ext cx="12192000" cy="231590"/>
          </a:xfrm>
          <a:prstGeom prst="rect">
            <a:avLst/>
          </a:prstGeom>
        </p:spPr>
      </p:pic>
      <p:pic>
        <p:nvPicPr>
          <p:cNvPr id="10" name="Рисунок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721058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bg>
      <p:bgPr>
        <a:solidFill>
          <a:srgbClr val="ECEEEE"/>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87901"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US" dirty="0"/>
              <a:t>You can also insert a photos</a:t>
            </a:r>
            <a:endParaRPr dirty="0"/>
          </a:p>
        </p:txBody>
      </p:sp>
      <p:pic>
        <p:nvPicPr>
          <p:cNvPr id="7" name="Рисунок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824082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Заголовок и объект">
    <p:bg>
      <p:bgPr>
        <a:solidFill>
          <a:srgbClr val="ECEEEE"/>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93624" y="1714500"/>
            <a:ext cx="5074557"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p:nvPr>
        </p:nvSpPr>
        <p:spPr>
          <a:xfrm>
            <a:off x="893699" y="474531"/>
            <a:ext cx="8561586"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You can also split your content</a:t>
            </a:r>
            <a:endParaRPr dirty="0"/>
          </a:p>
        </p:txBody>
      </p:sp>
      <p:sp>
        <p:nvSpPr>
          <p:cNvPr id="9" name="Google Shape;146;p19">
            <a:extLst>
              <a:ext uri="{FF2B5EF4-FFF2-40B4-BE49-F238E27FC236}">
                <a16:creationId xmlns:a16="http://schemas.microsoft.com/office/drawing/2014/main" id="{1A3271C3-5EB1-33E0-AD0F-C686F31E636B}"/>
              </a:ext>
            </a:extLst>
          </p:cNvPr>
          <p:cNvSpPr txBox="1">
            <a:spLocks noGrp="1"/>
          </p:cNvSpPr>
          <p:nvPr>
            <p:ph type="body" idx="2"/>
          </p:nvPr>
        </p:nvSpPr>
        <p:spPr>
          <a:xfrm>
            <a:off x="6223821" y="1714500"/>
            <a:ext cx="5129978"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Black</a:t>
            </a:r>
            <a:endParaRPr b="1" dirty="0"/>
          </a:p>
          <a:p>
            <a:pPr marL="0" lvl="0" indent="0" algn="l" rtl="0">
              <a:spcBef>
                <a:spcPts val="600"/>
              </a:spcBef>
              <a:spcAft>
                <a:spcPts val="0"/>
              </a:spcAft>
              <a:buNone/>
            </a:pPr>
            <a:r>
              <a:rPr lang="en" dirty="0"/>
              <a:t>Is the color of ebony and of outer space. It has been the symbolic color of elegance, solemnity and authority.</a:t>
            </a:r>
            <a:endParaRPr dirty="0"/>
          </a:p>
        </p:txBody>
      </p:sp>
      <p:pic>
        <p:nvPicPr>
          <p:cNvPr id="16" name="Рисунок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5"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7" name="Рисунок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1180198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bg>
      <p:bgPr>
        <a:solidFill>
          <a:schemeClr val="bg1"/>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48990"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In two or three columns</a:t>
            </a:r>
            <a:endParaRPr dirty="0"/>
          </a:p>
        </p:txBody>
      </p:sp>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10" name="Google Shape;153;p20">
            <a:extLst>
              <a:ext uri="{FF2B5EF4-FFF2-40B4-BE49-F238E27FC236}">
                <a16:creationId xmlns:a16="http://schemas.microsoft.com/office/drawing/2014/main" id="{42D3C5AD-203C-06E8-B308-7570F0188AA6}"/>
              </a:ext>
            </a:extLst>
          </p:cNvPr>
          <p:cNvSpPr txBox="1">
            <a:spLocks noGrp="1"/>
          </p:cNvSpPr>
          <p:nvPr>
            <p:ph type="body" idx="1"/>
          </p:nvPr>
        </p:nvSpPr>
        <p:spPr>
          <a:xfrm>
            <a:off x="838201"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Yellow</a:t>
            </a:r>
            <a:endParaRPr b="1" dirty="0"/>
          </a:p>
          <a:p>
            <a:pPr marL="0" lvl="0" indent="0" algn="l" rtl="0">
              <a:spcBef>
                <a:spcPts val="600"/>
              </a:spcBef>
              <a:spcAft>
                <a:spcPts val="0"/>
              </a:spcAft>
              <a:buNone/>
            </a:pPr>
            <a:r>
              <a:rPr lang="en" dirty="0"/>
              <a:t>Is the color of gold, butter and ripe lemons. In the spectrum of visible light, yellow is found between green and orange.</a:t>
            </a:r>
            <a:endParaRPr dirty="0"/>
          </a:p>
        </p:txBody>
      </p:sp>
      <p:sp>
        <p:nvSpPr>
          <p:cNvPr id="15" name="Google Shape;154;p20">
            <a:extLst>
              <a:ext uri="{FF2B5EF4-FFF2-40B4-BE49-F238E27FC236}">
                <a16:creationId xmlns:a16="http://schemas.microsoft.com/office/drawing/2014/main" id="{93774569-09A6-3D2C-E96E-EB2A8880292B}"/>
              </a:ext>
            </a:extLst>
          </p:cNvPr>
          <p:cNvSpPr txBox="1">
            <a:spLocks noGrp="1"/>
          </p:cNvSpPr>
          <p:nvPr>
            <p:ph type="body" idx="2"/>
          </p:nvPr>
        </p:nvSpPr>
        <p:spPr>
          <a:xfrm>
            <a:off x="4450326"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Blue</a:t>
            </a:r>
            <a:endParaRPr b="1" dirty="0"/>
          </a:p>
          <a:p>
            <a:pPr marL="0" lvl="0" indent="0" algn="l" rtl="0">
              <a:spcBef>
                <a:spcPts val="600"/>
              </a:spcBef>
              <a:spcAft>
                <a:spcPts val="0"/>
              </a:spcAft>
              <a:buNone/>
            </a:pPr>
            <a:r>
              <a:rPr lang="en" dirty="0"/>
              <a:t>Is the colour of the clear sky and the deep sea. It is located between violet and green on the optical spectrum.</a:t>
            </a:r>
            <a:endParaRPr dirty="0"/>
          </a:p>
        </p:txBody>
      </p:sp>
      <p:sp>
        <p:nvSpPr>
          <p:cNvPr id="16" name="Google Shape;155;p20">
            <a:extLst>
              <a:ext uri="{FF2B5EF4-FFF2-40B4-BE49-F238E27FC236}">
                <a16:creationId xmlns:a16="http://schemas.microsoft.com/office/drawing/2014/main" id="{12B6BEED-76B3-42F1-1655-75B4633AFEFE}"/>
              </a:ext>
            </a:extLst>
          </p:cNvPr>
          <p:cNvSpPr txBox="1">
            <a:spLocks noGrp="1"/>
          </p:cNvSpPr>
          <p:nvPr>
            <p:ph type="body" idx="3"/>
          </p:nvPr>
        </p:nvSpPr>
        <p:spPr>
          <a:xfrm>
            <a:off x="8062452"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Red</a:t>
            </a:r>
            <a:endParaRPr b="1" dirty="0"/>
          </a:p>
          <a:p>
            <a:pPr marL="0" lvl="0" indent="0" algn="l" rtl="0">
              <a:spcBef>
                <a:spcPts val="600"/>
              </a:spcBef>
              <a:spcAft>
                <a:spcPts val="0"/>
              </a:spcAft>
              <a:buNone/>
            </a:pPr>
            <a:r>
              <a:rPr lang="en" dirty="0"/>
              <a:t>Is the color of blood, and because of this it has historically been associated with sacrifice, danger and courage. </a:t>
            </a:r>
            <a:endParaRPr dirty="0"/>
          </a:p>
          <a:p>
            <a:pPr marL="0" lvl="0" indent="0" algn="l" rtl="0">
              <a:spcBef>
                <a:spcPts val="600"/>
              </a:spcBef>
              <a:spcAft>
                <a:spcPts val="0"/>
              </a:spcAft>
              <a:buNone/>
            </a:pPr>
            <a:endParaRPr dirty="0"/>
          </a:p>
        </p:txBody>
      </p:sp>
      <p:pic>
        <p:nvPicPr>
          <p:cNvPr id="19" name="Рисунок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17"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8"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20" name="Рисунок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58361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Дата 3">
            <a:extLst>
              <a:ext uri="{FF2B5EF4-FFF2-40B4-BE49-F238E27FC236}">
                <a16:creationId xmlns:a16="http://schemas.microsoft.com/office/drawing/2014/main" id="{86C3C5BA-7D7F-4C3F-2640-8F638B45F002}"/>
              </a:ext>
            </a:extLst>
          </p:cNvPr>
          <p:cNvSpPr>
            <a:spLocks noGrp="1"/>
          </p:cNvSpPr>
          <p:nvPr>
            <p:ph type="dt" sz="half" idx="2"/>
          </p:nvPr>
        </p:nvSpPr>
        <p:spPr>
          <a:xfrm>
            <a:off x="838200" y="6356350"/>
            <a:ext cx="2743200" cy="365125"/>
          </a:xfrm>
          <a:prstGeom prst="rect">
            <a:avLst/>
          </a:prstGeom>
        </p:spPr>
        <p:txBody>
          <a:bodyPr/>
          <a:lstStyle>
            <a:lvl1pPr>
              <a:defRPr>
                <a:solidFill>
                  <a:schemeClr val="bg1"/>
                </a:solidFill>
              </a:defRPr>
            </a:lvl1pPr>
          </a:lstStyle>
          <a:p>
            <a:fld id="{41F200A8-E1A7-4435-83E2-162A61D52FA6}" type="datetime1">
              <a:rPr lang="ru-RU" smtClean="0"/>
              <a:t>10.01.2025</a:t>
            </a:fld>
            <a:endParaRPr lang="ru-RU" dirty="0"/>
          </a:p>
        </p:txBody>
      </p:sp>
      <p:sp>
        <p:nvSpPr>
          <p:cNvPr id="8" name="Нижний колонтитул 4">
            <a:extLst>
              <a:ext uri="{FF2B5EF4-FFF2-40B4-BE49-F238E27FC236}">
                <a16:creationId xmlns:a16="http://schemas.microsoft.com/office/drawing/2014/main" id="{1FF6D44D-D6D0-493E-4D28-4910FD03724E}"/>
              </a:ext>
            </a:extLst>
          </p:cNvPr>
          <p:cNvSpPr>
            <a:spLocks noGrp="1"/>
          </p:cNvSpPr>
          <p:nvPr>
            <p:ph type="ftr" sz="quarter" idx="3"/>
          </p:nvPr>
        </p:nvSpPr>
        <p:spPr>
          <a:xfrm>
            <a:off x="4038600" y="6356350"/>
            <a:ext cx="4114800" cy="365125"/>
          </a:xfrm>
          <a:prstGeom prst="rect">
            <a:avLst/>
          </a:prstGeom>
        </p:spPr>
        <p:txBody>
          <a:bodyPr/>
          <a:lstStyle>
            <a:lvl1pPr algn="ctr">
              <a:defRPr>
                <a:solidFill>
                  <a:schemeClr val="bg1"/>
                </a:solidFill>
              </a:defRPr>
            </a:lvl1pPr>
          </a:lstStyle>
          <a:p>
            <a:r>
              <a:rPr lang="en-US" dirty="0"/>
              <a:t>Name of Department</a:t>
            </a:r>
            <a:endParaRPr lang="ru-RU" dirty="0"/>
          </a:p>
        </p:txBody>
      </p:sp>
      <p:sp>
        <p:nvSpPr>
          <p:cNvPr id="9" name="Номер слайда 5">
            <a:extLst>
              <a:ext uri="{FF2B5EF4-FFF2-40B4-BE49-F238E27FC236}">
                <a16:creationId xmlns:a16="http://schemas.microsoft.com/office/drawing/2014/main" id="{4BCEA065-B04F-95C1-710E-80D4D07F321A}"/>
              </a:ext>
            </a:extLst>
          </p:cNvPr>
          <p:cNvSpPr>
            <a:spLocks noGrp="1"/>
          </p:cNvSpPr>
          <p:nvPr>
            <p:ph type="sldNum" sz="quarter" idx="4"/>
          </p:nvPr>
        </p:nvSpPr>
        <p:spPr>
          <a:xfrm>
            <a:off x="8610600" y="6356350"/>
            <a:ext cx="2743200" cy="365125"/>
          </a:xfrm>
          <a:prstGeom prst="rect">
            <a:avLst/>
          </a:prstGeom>
        </p:spPr>
        <p:txBody>
          <a:bodyPr/>
          <a:lstStyle>
            <a:lvl1pPr>
              <a:defRPr>
                <a:solidFill>
                  <a:schemeClr val="bg1"/>
                </a:solidFill>
              </a:defRPr>
            </a:lvl1pPr>
          </a:lstStyle>
          <a:p>
            <a:fld id="{24CFBF5F-D9F7-437E-8CF8-688EAF21A1C0}" type="slidenum">
              <a:rPr lang="ru-RU" smtClean="0"/>
              <a:pPr/>
              <a:t>‹#›</a:t>
            </a:fld>
            <a:endParaRPr lang="ru-RU" dirty="0"/>
          </a:p>
        </p:txBody>
      </p:sp>
    </p:spTree>
    <p:extLst>
      <p:ext uri="{BB962C8B-B14F-4D97-AF65-F5344CB8AC3E}">
        <p14:creationId xmlns:p14="http://schemas.microsoft.com/office/powerpoint/2010/main" val="213592523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4" r:id="rId3"/>
    <p:sldLayoutId id="2147483665" r:id="rId4"/>
    <p:sldLayoutId id="2147483663" r:id="rId5"/>
    <p:sldLayoutId id="2147483650" r:id="rId6"/>
    <p:sldLayoutId id="2147483666" r:id="rId7"/>
    <p:sldLayoutId id="2147483671" r:id="rId8"/>
    <p:sldLayoutId id="2147483662" r:id="rId9"/>
    <p:sldLayoutId id="2147483670" r:id="rId10"/>
    <p:sldLayoutId id="2147483669" r:id="rId11"/>
    <p:sldLayoutId id="2147483668" r:id="rId12"/>
    <p:sldLayoutId id="2147483667" r:id="rId13"/>
    <p:sldLayoutId id="2147483661"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ECDC59-877C-90A9-C652-0BE567D7F1F2}"/>
              </a:ext>
            </a:extLst>
          </p:cNvPr>
          <p:cNvSpPr>
            <a:spLocks noGrp="1"/>
          </p:cNvSpPr>
          <p:nvPr>
            <p:ph type="ctrTitle"/>
          </p:nvPr>
        </p:nvSpPr>
        <p:spPr>
          <a:xfrm>
            <a:off x="654341" y="1671545"/>
            <a:ext cx="10972799" cy="2387600"/>
          </a:xfrm>
        </p:spPr>
        <p:txBody>
          <a:bodyPr/>
          <a:lstStyle/>
          <a:p>
            <a:r>
              <a:rPr lang="en" dirty="0"/>
              <a:t>Fundamentals of Programming</a:t>
            </a:r>
            <a:endParaRPr lang="ru-RU" dirty="0"/>
          </a:p>
        </p:txBody>
      </p:sp>
      <p:sp>
        <p:nvSpPr>
          <p:cNvPr id="3" name="Подзаголовок 2">
            <a:extLst>
              <a:ext uri="{FF2B5EF4-FFF2-40B4-BE49-F238E27FC236}">
                <a16:creationId xmlns:a16="http://schemas.microsoft.com/office/drawing/2014/main" id="{E886D810-431C-E147-2D52-2B768F306D30}"/>
              </a:ext>
            </a:extLst>
          </p:cNvPr>
          <p:cNvSpPr>
            <a:spLocks noGrp="1"/>
          </p:cNvSpPr>
          <p:nvPr>
            <p:ph type="subTitle" idx="1"/>
          </p:nvPr>
        </p:nvSpPr>
        <p:spPr/>
        <p:txBody>
          <a:bodyPr/>
          <a:lstStyle/>
          <a:p>
            <a:r>
              <a:rPr lang="en-US" dirty="0"/>
              <a:t>Lecture 13</a:t>
            </a:r>
          </a:p>
          <a:p>
            <a:r>
              <a:rPr lang="en-US" sz="2400" dirty="0"/>
              <a:t>Introduction to Data Structures and Algorithms</a:t>
            </a:r>
          </a:p>
        </p:txBody>
      </p:sp>
      <p:sp>
        <p:nvSpPr>
          <p:cNvPr id="9"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15750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Agenda</a:t>
            </a:r>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457200" indent="-457200">
              <a:lnSpc>
                <a:spcPct val="100000"/>
              </a:lnSpc>
              <a:spcBef>
                <a:spcPts val="0"/>
              </a:spcBef>
              <a:spcAft>
                <a:spcPts val="600"/>
              </a:spcAft>
            </a:pPr>
            <a:r>
              <a:rPr lang="en-US" altLang="en-US" sz="3200" dirty="0"/>
              <a:t>Data Structures</a:t>
            </a:r>
          </a:p>
          <a:p>
            <a:pPr marL="457200" indent="-457200">
              <a:lnSpc>
                <a:spcPct val="100000"/>
              </a:lnSpc>
              <a:spcBef>
                <a:spcPts val="0"/>
              </a:spcBef>
              <a:spcAft>
                <a:spcPts val="600"/>
              </a:spcAft>
            </a:pPr>
            <a:r>
              <a:rPr lang="en-US" altLang="en-US" sz="3200" dirty="0"/>
              <a:t>Algorithms</a:t>
            </a:r>
          </a:p>
          <a:p>
            <a:pPr marL="457200" indent="-457200">
              <a:lnSpc>
                <a:spcPct val="100000"/>
              </a:lnSpc>
              <a:spcBef>
                <a:spcPts val="0"/>
              </a:spcBef>
              <a:spcAft>
                <a:spcPts val="600"/>
              </a:spcAft>
            </a:pPr>
            <a:r>
              <a:rPr lang="en-US" altLang="en-US" sz="3200" dirty="0"/>
              <a:t>Understand data types</a:t>
            </a:r>
          </a:p>
          <a:p>
            <a:pPr marL="457200" indent="-457200">
              <a:lnSpc>
                <a:spcPct val="100000"/>
              </a:lnSpc>
              <a:spcBef>
                <a:spcPts val="0"/>
              </a:spcBef>
              <a:spcAft>
                <a:spcPts val="600"/>
              </a:spcAft>
            </a:pPr>
            <a:r>
              <a:rPr lang="en-US" altLang="en-US" sz="3200" dirty="0"/>
              <a:t>Understand the role of classes</a:t>
            </a:r>
          </a:p>
          <a:p>
            <a:pPr marL="457200" indent="-457200">
              <a:lnSpc>
                <a:spcPct val="100000"/>
              </a:lnSpc>
              <a:spcBef>
                <a:spcPts val="0"/>
              </a:spcBef>
              <a:spcAft>
                <a:spcPts val="600"/>
              </a:spcAft>
            </a:pPr>
            <a:r>
              <a:rPr lang="en-US" altLang="en-US" sz="3200" dirty="0"/>
              <a:t>Understand objects</a:t>
            </a:r>
          </a:p>
          <a:p>
            <a:pPr marL="457200" indent="-457200">
              <a:lnSpc>
                <a:spcPct val="100000"/>
              </a:lnSpc>
              <a:spcBef>
                <a:spcPts val="0"/>
              </a:spcBef>
              <a:spcAft>
                <a:spcPts val="600"/>
              </a:spcAft>
            </a:pPr>
            <a:r>
              <a:rPr lang="en-US" altLang="en-US" sz="3200" dirty="0"/>
              <a:t>Learn C#.NET class Syntax</a:t>
            </a:r>
          </a:p>
        </p:txBody>
      </p:sp>
    </p:spTree>
    <p:extLst>
      <p:ext uri="{BB962C8B-B14F-4D97-AF65-F5344CB8AC3E}">
        <p14:creationId xmlns:p14="http://schemas.microsoft.com/office/powerpoint/2010/main" val="663812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Data structure</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nSpc>
                <a:spcPct val="100000"/>
              </a:lnSpc>
              <a:spcBef>
                <a:spcPts val="0"/>
              </a:spcBef>
              <a:spcAft>
                <a:spcPts val="1200"/>
              </a:spcAft>
              <a:buClr>
                <a:schemeClr val="tx1"/>
              </a:buClr>
            </a:pPr>
            <a:r>
              <a:rPr lang="en-US" altLang="en-US" sz="2800" dirty="0"/>
              <a:t>Data structure – method to store information</a:t>
            </a:r>
          </a:p>
        </p:txBody>
      </p:sp>
    </p:spTree>
    <p:extLst>
      <p:ext uri="{BB962C8B-B14F-4D97-AF65-F5344CB8AC3E}">
        <p14:creationId xmlns:p14="http://schemas.microsoft.com/office/powerpoint/2010/main" val="296692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Algorithms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4</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a:lnSpc>
                <a:spcPct val="100000"/>
              </a:lnSpc>
              <a:spcBef>
                <a:spcPts val="0"/>
              </a:spcBef>
              <a:spcAft>
                <a:spcPts val="1200"/>
              </a:spcAft>
              <a:buClr>
                <a:schemeClr val="tx1"/>
              </a:buClr>
            </a:pPr>
            <a:r>
              <a:rPr lang="en-US" altLang="en-US" sz="2800" dirty="0"/>
              <a:t>Algorithm – method for solving a problem</a:t>
            </a:r>
          </a:p>
          <a:p>
            <a:pPr algn="just">
              <a:lnSpc>
                <a:spcPct val="100000"/>
              </a:lnSpc>
              <a:spcBef>
                <a:spcPts val="0"/>
              </a:spcBef>
              <a:spcAft>
                <a:spcPts val="1200"/>
              </a:spcAft>
              <a:buClr>
                <a:schemeClr val="tx1"/>
              </a:buClr>
            </a:pPr>
            <a:endParaRPr lang="en-US" altLang="en-US" sz="2800" dirty="0"/>
          </a:p>
          <a:p>
            <a:pPr algn="just">
              <a:lnSpc>
                <a:spcPct val="100000"/>
              </a:lnSpc>
              <a:spcBef>
                <a:spcPts val="0"/>
              </a:spcBef>
              <a:spcAft>
                <a:spcPts val="1200"/>
              </a:spcAft>
              <a:buClr>
                <a:schemeClr val="tx1"/>
              </a:buClr>
            </a:pPr>
            <a:r>
              <a:rPr lang="en-US" altLang="en-US" sz="2800" dirty="0"/>
              <a:t>Algorithm – a process or set of rules to be followed in calculations or other problem-solving operations</a:t>
            </a:r>
          </a:p>
          <a:p>
            <a:pPr>
              <a:lnSpc>
                <a:spcPct val="100000"/>
              </a:lnSpc>
              <a:spcBef>
                <a:spcPts val="0"/>
              </a:spcBef>
              <a:spcAft>
                <a:spcPts val="1200"/>
              </a:spcAft>
              <a:buClr>
                <a:schemeClr val="tx1"/>
              </a:buClr>
            </a:pPr>
            <a:endParaRPr lang="en-US" altLang="en-US" sz="2800" dirty="0"/>
          </a:p>
        </p:txBody>
      </p:sp>
    </p:spTree>
    <p:extLst>
      <p:ext uri="{BB962C8B-B14F-4D97-AF65-F5344CB8AC3E}">
        <p14:creationId xmlns:p14="http://schemas.microsoft.com/office/powerpoint/2010/main" val="132413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Why study Algorithms?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5</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indent="0" algn="just">
              <a:lnSpc>
                <a:spcPct val="100000"/>
              </a:lnSpc>
              <a:spcBef>
                <a:spcPts val="0"/>
              </a:spcBef>
              <a:spcAft>
                <a:spcPts val="1200"/>
              </a:spcAft>
              <a:buClr>
                <a:schemeClr val="tx1"/>
              </a:buClr>
              <a:buNone/>
            </a:pPr>
            <a:r>
              <a:rPr lang="en-US" altLang="en-US" sz="3200" dirty="0"/>
              <a:t>If you know about available algorithms you can:</a:t>
            </a:r>
          </a:p>
          <a:p>
            <a:pPr algn="just">
              <a:lnSpc>
                <a:spcPct val="100000"/>
              </a:lnSpc>
              <a:spcBef>
                <a:spcPts val="0"/>
              </a:spcBef>
              <a:spcAft>
                <a:spcPts val="1200"/>
              </a:spcAft>
              <a:buClr>
                <a:schemeClr val="tx1"/>
              </a:buClr>
            </a:pPr>
            <a:r>
              <a:rPr lang="en-US" altLang="en-US" sz="2800" dirty="0"/>
              <a:t>avoid re-inventing the wheel</a:t>
            </a:r>
          </a:p>
          <a:p>
            <a:pPr algn="just">
              <a:lnSpc>
                <a:spcPct val="100000"/>
              </a:lnSpc>
              <a:spcBef>
                <a:spcPts val="0"/>
              </a:spcBef>
              <a:spcAft>
                <a:spcPts val="1200"/>
              </a:spcAft>
              <a:buClr>
                <a:schemeClr val="tx1"/>
              </a:buClr>
            </a:pPr>
            <a:r>
              <a:rPr lang="en-US" altLang="en-US" sz="2800" dirty="0"/>
              <a:t>select best algorithm based on information on complexity for different tasks</a:t>
            </a:r>
          </a:p>
          <a:p>
            <a:pPr algn="just">
              <a:lnSpc>
                <a:spcPct val="100000"/>
              </a:lnSpc>
              <a:spcBef>
                <a:spcPts val="0"/>
              </a:spcBef>
              <a:spcAft>
                <a:spcPts val="1200"/>
              </a:spcAft>
              <a:buClr>
                <a:schemeClr val="tx1"/>
              </a:buClr>
            </a:pPr>
            <a:r>
              <a:rPr lang="en-US" altLang="en-US" sz="2800" dirty="0"/>
              <a:t>develop new algorithms more easily</a:t>
            </a:r>
          </a:p>
        </p:txBody>
      </p:sp>
    </p:spTree>
    <p:extLst>
      <p:ext uri="{BB962C8B-B14F-4D97-AF65-F5344CB8AC3E}">
        <p14:creationId xmlns:p14="http://schemas.microsoft.com/office/powerpoint/2010/main" val="314604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Algorithms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6</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nSpc>
                <a:spcPct val="100000"/>
              </a:lnSpc>
              <a:spcBef>
                <a:spcPts val="0"/>
              </a:spcBef>
              <a:spcAft>
                <a:spcPts val="1200"/>
              </a:spcAft>
              <a:buClr>
                <a:schemeClr val="tx1"/>
              </a:buClr>
            </a:pPr>
            <a:r>
              <a:rPr lang="en-US" altLang="en-US" sz="2800" dirty="0"/>
              <a:t>Web searching</a:t>
            </a:r>
          </a:p>
          <a:p>
            <a:pPr>
              <a:lnSpc>
                <a:spcPct val="100000"/>
              </a:lnSpc>
              <a:spcBef>
                <a:spcPts val="0"/>
              </a:spcBef>
              <a:spcAft>
                <a:spcPts val="1200"/>
              </a:spcAft>
              <a:buClr>
                <a:schemeClr val="tx1"/>
              </a:buClr>
            </a:pPr>
            <a:r>
              <a:rPr lang="en-US" altLang="en-US" sz="2800" dirty="0"/>
              <a:t>Human genome project</a:t>
            </a:r>
          </a:p>
          <a:p>
            <a:pPr>
              <a:lnSpc>
                <a:spcPct val="100000"/>
              </a:lnSpc>
              <a:spcBef>
                <a:spcPts val="0"/>
              </a:spcBef>
              <a:spcAft>
                <a:spcPts val="1200"/>
              </a:spcAft>
              <a:buClr>
                <a:schemeClr val="tx1"/>
              </a:buClr>
            </a:pPr>
            <a:r>
              <a:rPr lang="en-US" altLang="en-US" sz="2800" dirty="0"/>
              <a:t>Airline crew scheduling</a:t>
            </a:r>
          </a:p>
          <a:p>
            <a:pPr>
              <a:lnSpc>
                <a:spcPct val="100000"/>
              </a:lnSpc>
              <a:spcBef>
                <a:spcPts val="0"/>
              </a:spcBef>
              <a:spcAft>
                <a:spcPts val="1200"/>
              </a:spcAft>
              <a:buClr>
                <a:schemeClr val="tx1"/>
              </a:buClr>
            </a:pPr>
            <a:r>
              <a:rPr lang="en-US" altLang="en-US" sz="2800" dirty="0"/>
              <a:t>GPS navigation</a:t>
            </a:r>
          </a:p>
          <a:p>
            <a:pPr>
              <a:lnSpc>
                <a:spcPct val="100000"/>
              </a:lnSpc>
              <a:spcBef>
                <a:spcPts val="0"/>
              </a:spcBef>
              <a:spcAft>
                <a:spcPts val="1200"/>
              </a:spcAft>
              <a:buClr>
                <a:schemeClr val="tx1"/>
              </a:buClr>
            </a:pPr>
            <a:r>
              <a:rPr lang="en-US" altLang="en-US" sz="2800" dirty="0"/>
              <a:t>Financial prediction systems</a:t>
            </a:r>
          </a:p>
          <a:p>
            <a:pPr>
              <a:lnSpc>
                <a:spcPct val="100000"/>
              </a:lnSpc>
              <a:spcBef>
                <a:spcPts val="0"/>
              </a:spcBef>
              <a:spcAft>
                <a:spcPts val="1200"/>
              </a:spcAft>
              <a:buClr>
                <a:schemeClr val="tx1"/>
              </a:buClr>
            </a:pPr>
            <a:r>
              <a:rPr lang="en-US" altLang="en-US" sz="2800" dirty="0"/>
              <a:t>Timetabling</a:t>
            </a:r>
          </a:p>
        </p:txBody>
      </p:sp>
    </p:spTree>
    <p:extLst>
      <p:ext uri="{BB962C8B-B14F-4D97-AF65-F5344CB8AC3E}">
        <p14:creationId xmlns:p14="http://schemas.microsoft.com/office/powerpoint/2010/main" val="3959962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Books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7</a:t>
            </a:fld>
            <a:endParaRPr lang="ru-RU"/>
          </a:p>
        </p:txBody>
      </p:sp>
      <p:pic>
        <p:nvPicPr>
          <p:cNvPr id="11" name="Picture 9">
            <a:extLst>
              <a:ext uri="{FF2B5EF4-FFF2-40B4-BE49-F238E27FC236}">
                <a16:creationId xmlns:a16="http://schemas.microsoft.com/office/drawing/2014/main" id="{F5D90F0B-99E0-4D42-85AE-CB6F9D850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002" y="1759561"/>
            <a:ext cx="2438400" cy="31353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0">
            <a:extLst>
              <a:ext uri="{FF2B5EF4-FFF2-40B4-BE49-F238E27FC236}">
                <a16:creationId xmlns:a16="http://schemas.microsoft.com/office/drawing/2014/main" id="{342DBB2F-619F-4125-9389-7340AD1E7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600" y="1656374"/>
            <a:ext cx="2449513" cy="3238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97380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Data type</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8</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a:lnSpc>
                <a:spcPct val="100000"/>
              </a:lnSpc>
              <a:spcBef>
                <a:spcPts val="0"/>
              </a:spcBef>
              <a:spcAft>
                <a:spcPts val="1200"/>
              </a:spcAft>
              <a:buClr>
                <a:schemeClr val="tx1"/>
              </a:buClr>
            </a:pPr>
            <a:r>
              <a:rPr lang="en-US" altLang="en-US" sz="2800" dirty="0"/>
              <a:t>A definition of a set of data that specifies the possible range of values of the set, the operations that can be performed on the values, and the way in which the values are stored in memory. </a:t>
            </a:r>
          </a:p>
        </p:txBody>
      </p:sp>
    </p:spTree>
    <p:extLst>
      <p:ext uri="{BB962C8B-B14F-4D97-AF65-F5344CB8AC3E}">
        <p14:creationId xmlns:p14="http://schemas.microsoft.com/office/powerpoint/2010/main" val="1684941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Data types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9</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nSpc>
                <a:spcPct val="100000"/>
              </a:lnSpc>
              <a:spcBef>
                <a:spcPts val="0"/>
              </a:spcBef>
              <a:spcAft>
                <a:spcPts val="1200"/>
              </a:spcAft>
              <a:buClr>
                <a:schemeClr val="tx1"/>
              </a:buClr>
            </a:pPr>
            <a:r>
              <a:rPr lang="en-US" altLang="en-US" sz="3200" dirty="0"/>
              <a:t>Integer </a:t>
            </a:r>
          </a:p>
          <a:p>
            <a:pPr lvl="1">
              <a:lnSpc>
                <a:spcPct val="100000"/>
              </a:lnSpc>
              <a:spcBef>
                <a:spcPts val="0"/>
              </a:spcBef>
              <a:spcAft>
                <a:spcPts val="1200"/>
              </a:spcAft>
              <a:buClr>
                <a:schemeClr val="tx1"/>
              </a:buClr>
            </a:pPr>
            <a:r>
              <a:rPr lang="en-US" altLang="en-US" sz="2800" dirty="0"/>
              <a:t>Operations: +, - , *, /</a:t>
            </a:r>
          </a:p>
          <a:p>
            <a:pPr>
              <a:lnSpc>
                <a:spcPct val="100000"/>
              </a:lnSpc>
              <a:spcBef>
                <a:spcPts val="0"/>
              </a:spcBef>
              <a:spcAft>
                <a:spcPts val="1200"/>
              </a:spcAft>
              <a:buClr>
                <a:schemeClr val="tx1"/>
              </a:buClr>
            </a:pPr>
            <a:r>
              <a:rPr lang="en-US" altLang="en-US" sz="3200" dirty="0"/>
              <a:t>String</a:t>
            </a:r>
            <a:r>
              <a:rPr lang="en-US" altLang="en-US" sz="2800" dirty="0"/>
              <a:t> </a:t>
            </a:r>
          </a:p>
          <a:p>
            <a:pPr lvl="1">
              <a:lnSpc>
                <a:spcPct val="100000"/>
              </a:lnSpc>
              <a:spcBef>
                <a:spcPts val="0"/>
              </a:spcBef>
              <a:spcAft>
                <a:spcPts val="1200"/>
              </a:spcAft>
              <a:buClr>
                <a:schemeClr val="tx1"/>
              </a:buClr>
            </a:pPr>
            <a:r>
              <a:rPr lang="en-US" altLang="en-US" sz="2800" dirty="0"/>
              <a:t>Operations: Substring(), Trim()</a:t>
            </a:r>
          </a:p>
          <a:p>
            <a:pPr>
              <a:lnSpc>
                <a:spcPct val="100000"/>
              </a:lnSpc>
              <a:spcBef>
                <a:spcPts val="0"/>
              </a:spcBef>
              <a:spcAft>
                <a:spcPts val="1200"/>
              </a:spcAft>
              <a:buClr>
                <a:schemeClr val="tx1"/>
              </a:buClr>
            </a:pPr>
            <a:r>
              <a:rPr lang="en-US" altLang="en-US" sz="3200" dirty="0" err="1"/>
              <a:t>DateTime</a:t>
            </a:r>
            <a:r>
              <a:rPr lang="en-US" altLang="en-US" sz="2800" dirty="0"/>
              <a:t> </a:t>
            </a:r>
          </a:p>
          <a:p>
            <a:pPr lvl="1">
              <a:lnSpc>
                <a:spcPct val="100000"/>
              </a:lnSpc>
              <a:spcBef>
                <a:spcPts val="0"/>
              </a:spcBef>
              <a:spcAft>
                <a:spcPts val="1200"/>
              </a:spcAft>
              <a:buClr>
                <a:schemeClr val="tx1"/>
              </a:buClr>
            </a:pPr>
            <a:r>
              <a:rPr lang="en-US" altLang="en-US" sz="2800" dirty="0"/>
              <a:t>Operations: </a:t>
            </a:r>
            <a:r>
              <a:rPr lang="en-US" altLang="en-US" sz="2800" dirty="0" err="1"/>
              <a:t>AddDays</a:t>
            </a:r>
            <a:r>
              <a:rPr lang="en-US" altLang="en-US" sz="2800" dirty="0"/>
              <a:t>(), </a:t>
            </a:r>
            <a:r>
              <a:rPr lang="en-US" altLang="en-US" sz="2800" dirty="0" err="1"/>
              <a:t>AddYears</a:t>
            </a:r>
            <a:r>
              <a:rPr lang="en-US" altLang="en-US" sz="2800" dirty="0"/>
              <a:t>()</a:t>
            </a:r>
          </a:p>
        </p:txBody>
      </p:sp>
    </p:spTree>
    <p:extLst>
      <p:ext uri="{BB962C8B-B14F-4D97-AF65-F5344CB8AC3E}">
        <p14:creationId xmlns:p14="http://schemas.microsoft.com/office/powerpoint/2010/main" val="769672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What is a Class?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10</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nSpc>
                <a:spcPct val="100000"/>
              </a:lnSpc>
              <a:spcBef>
                <a:spcPts val="0"/>
              </a:spcBef>
              <a:spcAft>
                <a:spcPts val="1200"/>
              </a:spcAft>
              <a:buClr>
                <a:schemeClr val="tx1"/>
              </a:buClr>
            </a:pPr>
            <a:r>
              <a:rPr lang="en-US" altLang="en-US" sz="2800" dirty="0"/>
              <a:t>Class is a user defined Data type</a:t>
            </a:r>
          </a:p>
          <a:p>
            <a:pPr marL="0" indent="0">
              <a:lnSpc>
                <a:spcPct val="100000"/>
              </a:lnSpc>
              <a:spcBef>
                <a:spcPts val="0"/>
              </a:spcBef>
              <a:spcAft>
                <a:spcPts val="1200"/>
              </a:spcAft>
              <a:buClr>
                <a:schemeClr val="tx1"/>
              </a:buClr>
              <a:buNone/>
            </a:pPr>
            <a:endParaRPr lang="en-US" altLang="en-US" sz="2800" dirty="0"/>
          </a:p>
          <a:p>
            <a:pPr>
              <a:lnSpc>
                <a:spcPct val="100000"/>
              </a:lnSpc>
              <a:spcBef>
                <a:spcPts val="0"/>
              </a:spcBef>
              <a:spcAft>
                <a:spcPts val="1200"/>
              </a:spcAft>
              <a:buClr>
                <a:schemeClr val="tx1"/>
              </a:buClr>
            </a:pPr>
            <a:endParaRPr lang="en-US" altLang="en-US" sz="2800" dirty="0"/>
          </a:p>
        </p:txBody>
      </p:sp>
    </p:spTree>
    <p:extLst>
      <p:ext uri="{BB962C8B-B14F-4D97-AF65-F5344CB8AC3E}">
        <p14:creationId xmlns:p14="http://schemas.microsoft.com/office/powerpoint/2010/main" val="2954010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What is an Object?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11</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nSpc>
                <a:spcPct val="100000"/>
              </a:lnSpc>
              <a:spcBef>
                <a:spcPts val="0"/>
              </a:spcBef>
              <a:spcAft>
                <a:spcPts val="1200"/>
              </a:spcAft>
              <a:buClr>
                <a:schemeClr val="tx1"/>
              </a:buClr>
            </a:pPr>
            <a:r>
              <a:rPr lang="en-US" altLang="en-US" sz="2800" dirty="0"/>
              <a:t>Object is an instance of a class</a:t>
            </a:r>
          </a:p>
          <a:p>
            <a:pPr>
              <a:lnSpc>
                <a:spcPct val="100000"/>
              </a:lnSpc>
              <a:spcBef>
                <a:spcPts val="0"/>
              </a:spcBef>
              <a:spcAft>
                <a:spcPts val="1200"/>
              </a:spcAft>
              <a:buClr>
                <a:schemeClr val="tx1"/>
              </a:buClr>
            </a:pPr>
            <a:r>
              <a:rPr lang="en-US" altLang="en-US" sz="2800" dirty="0"/>
              <a:t>A variable of a particular class type</a:t>
            </a:r>
          </a:p>
          <a:p>
            <a:pPr>
              <a:lnSpc>
                <a:spcPct val="100000"/>
              </a:lnSpc>
              <a:spcBef>
                <a:spcPts val="0"/>
              </a:spcBef>
              <a:spcAft>
                <a:spcPts val="1200"/>
              </a:spcAft>
              <a:buClr>
                <a:schemeClr val="tx1"/>
              </a:buClr>
            </a:pPr>
            <a:endParaRPr lang="en-US" altLang="en-US" sz="2800" dirty="0"/>
          </a:p>
          <a:p>
            <a:pPr marL="0" indent="0">
              <a:lnSpc>
                <a:spcPct val="100000"/>
              </a:lnSpc>
              <a:spcBef>
                <a:spcPts val="0"/>
              </a:spcBef>
              <a:spcAft>
                <a:spcPts val="1200"/>
              </a:spcAft>
              <a:buClr>
                <a:schemeClr val="tx1"/>
              </a:buClr>
              <a:buNone/>
            </a:pPr>
            <a:endParaRPr lang="en-US" altLang="en-US" sz="2800" dirty="0"/>
          </a:p>
          <a:p>
            <a:pPr>
              <a:lnSpc>
                <a:spcPct val="100000"/>
              </a:lnSpc>
              <a:spcBef>
                <a:spcPts val="0"/>
              </a:spcBef>
              <a:spcAft>
                <a:spcPts val="1200"/>
              </a:spcAft>
              <a:buClr>
                <a:schemeClr val="tx1"/>
              </a:buClr>
            </a:pPr>
            <a:endParaRPr lang="en-US" altLang="en-US" sz="2800" dirty="0"/>
          </a:p>
        </p:txBody>
      </p:sp>
    </p:spTree>
    <p:extLst>
      <p:ext uri="{BB962C8B-B14F-4D97-AF65-F5344CB8AC3E}">
        <p14:creationId xmlns:p14="http://schemas.microsoft.com/office/powerpoint/2010/main" val="242241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Classes in C#.NET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12</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indent="0">
              <a:buNone/>
            </a:pPr>
            <a:r>
              <a:rPr lang="en-US" sz="2800" dirty="0">
                <a:solidFill>
                  <a:srgbClr val="0000FF"/>
                </a:solidFill>
                <a:latin typeface="Consolas" panose="020B0609020204030204" pitchFamily="49" charset="0"/>
              </a:rPr>
              <a:t>public</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class</a:t>
            </a:r>
            <a:r>
              <a:rPr lang="en-US" sz="2800" dirty="0">
                <a:solidFill>
                  <a:srgbClr val="000000"/>
                </a:solidFill>
                <a:latin typeface="Consolas" panose="020B0609020204030204" pitchFamily="49" charset="0"/>
              </a:rPr>
              <a:t> </a:t>
            </a:r>
            <a:r>
              <a:rPr lang="en-US" sz="2800" dirty="0">
                <a:solidFill>
                  <a:srgbClr val="2B91AF"/>
                </a:solidFill>
                <a:latin typeface="Consolas" panose="020B0609020204030204" pitchFamily="49" charset="0"/>
              </a:rPr>
              <a:t>Boat</a:t>
            </a:r>
            <a:endParaRPr lang="en-US" sz="2800" dirty="0">
              <a:solidFill>
                <a:srgbClr val="000000"/>
              </a:solidFill>
              <a:latin typeface="Consolas" panose="020B0609020204030204" pitchFamily="49" charset="0"/>
            </a:endParaRPr>
          </a:p>
          <a:p>
            <a:pPr marL="0" indent="0">
              <a:buNone/>
            </a:pPr>
            <a:r>
              <a:rPr lang="en-US" sz="2800" dirty="0">
                <a:solidFill>
                  <a:srgbClr val="000000"/>
                </a:solidFill>
                <a:latin typeface="Consolas" panose="020B0609020204030204" pitchFamily="49" charset="0"/>
              </a:rPr>
              <a:t>{</a:t>
            </a:r>
          </a:p>
          <a:p>
            <a:pPr marL="0" indent="0">
              <a:buNone/>
            </a:pPr>
            <a:r>
              <a:rPr lang="en-US" sz="2800" dirty="0">
                <a:solidFill>
                  <a:srgbClr val="0000FF"/>
                </a:solidFill>
                <a:latin typeface="Consolas" panose="020B0609020204030204" pitchFamily="49" charset="0"/>
              </a:rPr>
              <a:t>	private</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int</a:t>
            </a:r>
            <a:r>
              <a:rPr lang="en-US" sz="2800" dirty="0">
                <a:solidFill>
                  <a:srgbClr val="000000"/>
                </a:solidFill>
                <a:latin typeface="Consolas" panose="020B0609020204030204" pitchFamily="49" charset="0"/>
              </a:rPr>
              <a:t> _width;</a:t>
            </a:r>
          </a:p>
          <a:p>
            <a:pPr marL="0" indent="0">
              <a:buNone/>
            </a:pPr>
            <a:r>
              <a:rPr lang="en-US" sz="2800" dirty="0">
                <a:solidFill>
                  <a:srgbClr val="0000FF"/>
                </a:solidFill>
                <a:latin typeface="Consolas" panose="020B0609020204030204" pitchFamily="49" charset="0"/>
              </a:rPr>
              <a:t>	private</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int</a:t>
            </a:r>
            <a:r>
              <a:rPr lang="en-US" sz="2800" dirty="0">
                <a:solidFill>
                  <a:srgbClr val="000000"/>
                </a:solidFill>
                <a:latin typeface="Consolas" panose="020B0609020204030204" pitchFamily="49" charset="0"/>
              </a:rPr>
              <a:t> _length;</a:t>
            </a:r>
          </a:p>
          <a:p>
            <a:pPr marL="0" indent="0">
              <a:buNone/>
            </a:pPr>
            <a:endParaRPr lang="en-US" sz="2800" dirty="0">
              <a:solidFill>
                <a:srgbClr val="000000"/>
              </a:solidFill>
              <a:latin typeface="Consolas" panose="020B0609020204030204" pitchFamily="49" charset="0"/>
            </a:endParaRPr>
          </a:p>
          <a:p>
            <a:pPr marL="0" indent="0">
              <a:buNone/>
            </a:pPr>
            <a:r>
              <a:rPr lang="en-US" sz="2800" dirty="0">
                <a:solidFill>
                  <a:srgbClr val="008000"/>
                </a:solidFill>
                <a:latin typeface="Consolas" panose="020B0609020204030204" pitchFamily="49" charset="0"/>
              </a:rPr>
              <a:t>	//More stuff goes here</a:t>
            </a:r>
            <a:endParaRPr lang="en-US" sz="2800" dirty="0">
              <a:solidFill>
                <a:srgbClr val="000000"/>
              </a:solidFill>
              <a:latin typeface="Consolas" panose="020B0609020204030204" pitchFamily="49" charset="0"/>
            </a:endParaRPr>
          </a:p>
          <a:p>
            <a:pPr marL="0" indent="0">
              <a:buNone/>
            </a:pPr>
            <a:r>
              <a:rPr lang="en-US" sz="2800" dirty="0">
                <a:solidFill>
                  <a:srgbClr val="000000"/>
                </a:solidFill>
                <a:latin typeface="Consolas" panose="020B0609020204030204" pitchFamily="49" charset="0"/>
              </a:rPr>
              <a:t>}</a:t>
            </a:r>
            <a:endParaRPr lang="en-US" sz="2800" dirty="0"/>
          </a:p>
          <a:p>
            <a:pPr marL="0" indent="0">
              <a:lnSpc>
                <a:spcPct val="100000"/>
              </a:lnSpc>
              <a:spcBef>
                <a:spcPts val="0"/>
              </a:spcBef>
              <a:spcAft>
                <a:spcPts val="1200"/>
              </a:spcAft>
              <a:buClr>
                <a:schemeClr val="tx1"/>
              </a:buClr>
              <a:buNone/>
            </a:pPr>
            <a:endParaRPr lang="en-US" altLang="en-US" sz="2800" dirty="0"/>
          </a:p>
        </p:txBody>
      </p:sp>
    </p:spTree>
    <p:extLst>
      <p:ext uri="{BB962C8B-B14F-4D97-AF65-F5344CB8AC3E}">
        <p14:creationId xmlns:p14="http://schemas.microsoft.com/office/powerpoint/2010/main" val="3710127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Constructors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13</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331931"/>
            <a:ext cx="11225168" cy="4557141"/>
          </a:xfrm>
        </p:spPr>
        <p:txBody>
          <a:bodyPr/>
          <a:lstStyle/>
          <a:p>
            <a:pPr marL="0" indent="0">
              <a:buNone/>
            </a:pPr>
            <a:r>
              <a:rPr lang="en-US" sz="2400" dirty="0">
                <a:solidFill>
                  <a:srgbClr val="0000FF"/>
                </a:solidFill>
                <a:latin typeface="Consolas" panose="020B0609020204030204" pitchFamily="49" charset="0"/>
              </a:rPr>
              <a:t>public</a:t>
            </a:r>
            <a:r>
              <a:rPr lang="en-US" sz="2400" dirty="0">
                <a:solidFill>
                  <a:srgbClr val="000000"/>
                </a:solidFill>
                <a:latin typeface="Consolas" panose="020B0609020204030204" pitchFamily="49" charset="0"/>
              </a:rPr>
              <a:t> Boat()</a:t>
            </a:r>
          </a:p>
          <a:p>
            <a:pPr marL="0" indent="0">
              <a:buNone/>
            </a:pP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	_width = 10;</a:t>
            </a:r>
          </a:p>
          <a:p>
            <a:pPr marL="0" indent="0">
              <a:buNone/>
            </a:pPr>
            <a:r>
              <a:rPr lang="en-US" sz="2400" dirty="0">
                <a:solidFill>
                  <a:srgbClr val="000000"/>
                </a:solidFill>
                <a:latin typeface="Consolas" panose="020B0609020204030204" pitchFamily="49" charset="0"/>
              </a:rPr>
              <a:t>	_length = 110;</a:t>
            </a:r>
          </a:p>
          <a:p>
            <a:pPr marL="0" indent="0">
              <a:buNone/>
            </a:pPr>
            <a:r>
              <a:rPr lang="en-US" sz="2400" dirty="0">
                <a:solidFill>
                  <a:srgbClr val="000000"/>
                </a:solidFill>
                <a:latin typeface="Consolas" panose="020B0609020204030204" pitchFamily="49" charset="0"/>
              </a:rPr>
              <a:t>}</a:t>
            </a:r>
          </a:p>
          <a:p>
            <a:pPr marL="0" indent="0">
              <a:buNone/>
            </a:pPr>
            <a:r>
              <a:rPr lang="en-US" sz="2400" dirty="0">
                <a:solidFill>
                  <a:srgbClr val="0000FF"/>
                </a:solidFill>
                <a:latin typeface="Consolas" panose="020B0609020204030204" pitchFamily="49" charset="0"/>
              </a:rPr>
              <a:t>public</a:t>
            </a:r>
            <a:r>
              <a:rPr lang="en-US" sz="2400" dirty="0">
                <a:solidFill>
                  <a:srgbClr val="000000"/>
                </a:solidFill>
                <a:latin typeface="Consolas" panose="020B0609020204030204" pitchFamily="49" charset="0"/>
              </a:rPr>
              <a:t> Boat(</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width,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length)</a:t>
            </a:r>
          </a:p>
          <a:p>
            <a:pPr marL="0" indent="0">
              <a:buNone/>
            </a:pP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	_width = width;</a:t>
            </a:r>
          </a:p>
          <a:p>
            <a:pPr marL="0" indent="0">
              <a:buNone/>
            </a:pPr>
            <a:r>
              <a:rPr lang="en-US" sz="2400" dirty="0">
                <a:solidFill>
                  <a:srgbClr val="000000"/>
                </a:solidFill>
                <a:latin typeface="Consolas" panose="020B0609020204030204" pitchFamily="49" charset="0"/>
              </a:rPr>
              <a:t>	_length = length;</a:t>
            </a:r>
          </a:p>
          <a:p>
            <a:pPr marL="0" indent="0">
              <a:buNone/>
            </a:pPr>
            <a:r>
              <a:rPr lang="en-US" sz="2400" dirty="0">
                <a:solidFill>
                  <a:srgbClr val="000000"/>
                </a:solidFill>
                <a:latin typeface="Consolas" panose="020B0609020204030204" pitchFamily="49" charset="0"/>
              </a:rPr>
              <a:t>}</a:t>
            </a:r>
            <a:endParaRPr lang="en-US" sz="2400" dirty="0"/>
          </a:p>
        </p:txBody>
      </p:sp>
    </p:spTree>
    <p:extLst>
      <p:ext uri="{BB962C8B-B14F-4D97-AF65-F5344CB8AC3E}">
        <p14:creationId xmlns:p14="http://schemas.microsoft.com/office/powerpoint/2010/main" val="3913609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Properties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14</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258349"/>
            <a:ext cx="11225168" cy="4630723"/>
          </a:xfrm>
        </p:spPr>
        <p:txBody>
          <a:bodyPr/>
          <a:lstStyle/>
          <a:p>
            <a:pPr marL="0" indent="0">
              <a:spcBef>
                <a:spcPts val="300"/>
              </a:spcBef>
              <a:buNone/>
            </a:pPr>
            <a:r>
              <a:rPr lang="en-US" sz="2400" dirty="0">
                <a:solidFill>
                  <a:srgbClr val="0000FF"/>
                </a:solidFill>
                <a:latin typeface="Consolas" panose="020B0609020204030204" pitchFamily="49" charset="0"/>
              </a:rPr>
              <a:t>private</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_width;</a:t>
            </a:r>
          </a:p>
          <a:p>
            <a:pPr marL="0" indent="0">
              <a:spcBef>
                <a:spcPts val="300"/>
              </a:spcBef>
              <a:buNone/>
            </a:pPr>
            <a:r>
              <a:rPr lang="en-US" sz="2400" dirty="0">
                <a:solidFill>
                  <a:srgbClr val="0000FF"/>
                </a:solidFill>
                <a:latin typeface="Consolas" panose="020B0609020204030204" pitchFamily="49" charset="0"/>
              </a:rPr>
              <a:t>public</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Width</a:t>
            </a:r>
          </a:p>
          <a:p>
            <a:pPr marL="0" indent="0">
              <a:spcBef>
                <a:spcPts val="300"/>
              </a:spcBef>
              <a:buNone/>
            </a:pPr>
            <a:r>
              <a:rPr lang="en-US" sz="2400" dirty="0">
                <a:solidFill>
                  <a:srgbClr val="000000"/>
                </a:solidFill>
                <a:latin typeface="Consolas" panose="020B0609020204030204" pitchFamily="49" charset="0"/>
              </a:rPr>
              <a:t>{</a:t>
            </a:r>
          </a:p>
          <a:p>
            <a:pPr marL="0" indent="0">
              <a:spcBef>
                <a:spcPts val="300"/>
              </a:spcBef>
              <a:buNone/>
            </a:pPr>
            <a:r>
              <a:rPr lang="en-US" sz="2400" dirty="0">
                <a:solidFill>
                  <a:srgbClr val="0000FF"/>
                </a:solidFill>
                <a:latin typeface="Consolas" panose="020B0609020204030204" pitchFamily="49" charset="0"/>
              </a:rPr>
              <a:t>	get</a:t>
            </a:r>
            <a:endParaRPr lang="en-US" sz="2400" dirty="0">
              <a:solidFill>
                <a:srgbClr val="000000"/>
              </a:solidFill>
              <a:latin typeface="Consolas" panose="020B0609020204030204" pitchFamily="49" charset="0"/>
            </a:endParaRPr>
          </a:p>
          <a:p>
            <a:pPr marL="0" indent="0">
              <a:spcBef>
                <a:spcPts val="300"/>
              </a:spcBef>
              <a:buNone/>
            </a:pPr>
            <a:r>
              <a:rPr lang="en-US" sz="2400" dirty="0">
                <a:solidFill>
                  <a:srgbClr val="000000"/>
                </a:solidFill>
                <a:latin typeface="Consolas" panose="020B0609020204030204" pitchFamily="49" charset="0"/>
              </a:rPr>
              <a:t>	{</a:t>
            </a:r>
          </a:p>
          <a:p>
            <a:pPr marL="0" indent="0">
              <a:spcBef>
                <a:spcPts val="300"/>
              </a:spcBef>
              <a:buNone/>
            </a:pPr>
            <a:r>
              <a:rPr lang="en-US" sz="2400" dirty="0">
                <a:solidFill>
                  <a:srgbClr val="0000FF"/>
                </a:solidFill>
                <a:latin typeface="Consolas" panose="020B0609020204030204" pitchFamily="49" charset="0"/>
              </a:rPr>
              <a:t>		return</a:t>
            </a:r>
            <a:r>
              <a:rPr lang="en-US" sz="2400" dirty="0">
                <a:solidFill>
                  <a:srgbClr val="000000"/>
                </a:solidFill>
                <a:latin typeface="Consolas" panose="020B0609020204030204" pitchFamily="49" charset="0"/>
              </a:rPr>
              <a:t> _width;</a:t>
            </a:r>
          </a:p>
          <a:p>
            <a:pPr marL="0" indent="0">
              <a:spcBef>
                <a:spcPts val="300"/>
              </a:spcBef>
              <a:buNone/>
            </a:pPr>
            <a:r>
              <a:rPr lang="en-US" sz="2400" dirty="0">
                <a:solidFill>
                  <a:srgbClr val="000000"/>
                </a:solidFill>
                <a:latin typeface="Consolas" panose="020B0609020204030204" pitchFamily="49" charset="0"/>
              </a:rPr>
              <a:t>	}</a:t>
            </a:r>
          </a:p>
          <a:p>
            <a:pPr marL="0" indent="0">
              <a:spcBef>
                <a:spcPts val="300"/>
              </a:spcBef>
              <a:buNone/>
            </a:pPr>
            <a:r>
              <a:rPr lang="en-US" sz="2400" dirty="0">
                <a:solidFill>
                  <a:srgbClr val="0000FF"/>
                </a:solidFill>
                <a:latin typeface="Consolas" panose="020B0609020204030204" pitchFamily="49" charset="0"/>
              </a:rPr>
              <a:t>	set</a:t>
            </a:r>
            <a:endParaRPr lang="en-US" sz="2400" dirty="0">
              <a:solidFill>
                <a:srgbClr val="000000"/>
              </a:solidFill>
              <a:latin typeface="Consolas" panose="020B0609020204030204" pitchFamily="49" charset="0"/>
            </a:endParaRPr>
          </a:p>
          <a:p>
            <a:pPr marL="0" indent="0">
              <a:spcBef>
                <a:spcPts val="300"/>
              </a:spcBef>
              <a:buNone/>
            </a:pPr>
            <a:r>
              <a:rPr lang="en-US" sz="2400" dirty="0">
                <a:solidFill>
                  <a:srgbClr val="000000"/>
                </a:solidFill>
                <a:latin typeface="Consolas" panose="020B0609020204030204" pitchFamily="49" charset="0"/>
              </a:rPr>
              <a:t>	{</a:t>
            </a:r>
          </a:p>
          <a:p>
            <a:pPr marL="0" indent="0">
              <a:spcBef>
                <a:spcPts val="300"/>
              </a:spcBef>
              <a:buNone/>
            </a:pPr>
            <a:r>
              <a:rPr lang="en-US" sz="2400" dirty="0">
                <a:solidFill>
                  <a:srgbClr val="000000"/>
                </a:solidFill>
                <a:latin typeface="Consolas" panose="020B0609020204030204" pitchFamily="49" charset="0"/>
              </a:rPr>
              <a:t>		_width = value;</a:t>
            </a:r>
          </a:p>
          <a:p>
            <a:pPr marL="0" indent="0">
              <a:spcBef>
                <a:spcPts val="300"/>
              </a:spcBef>
              <a:buNone/>
            </a:pPr>
            <a:r>
              <a:rPr lang="en-US" sz="2400" dirty="0">
                <a:solidFill>
                  <a:srgbClr val="000000"/>
                </a:solidFill>
                <a:latin typeface="Consolas" panose="020B0609020204030204" pitchFamily="49" charset="0"/>
              </a:rPr>
              <a:t>	}</a:t>
            </a:r>
          </a:p>
          <a:p>
            <a:pPr marL="0" indent="0">
              <a:spcBef>
                <a:spcPts val="300"/>
              </a:spcBef>
              <a:buNone/>
            </a:pPr>
            <a:r>
              <a:rPr lang="en-US" sz="2400" dirty="0">
                <a:solidFill>
                  <a:srgbClr val="000000"/>
                </a:solidFill>
                <a:latin typeface="Consolas" panose="020B0609020204030204" pitchFamily="49" charset="0"/>
              </a:rPr>
              <a:t>}</a:t>
            </a:r>
            <a:endParaRPr lang="en-US" sz="2400" dirty="0"/>
          </a:p>
        </p:txBody>
      </p:sp>
    </p:spTree>
    <p:extLst>
      <p:ext uri="{BB962C8B-B14F-4D97-AF65-F5344CB8AC3E}">
        <p14:creationId xmlns:p14="http://schemas.microsoft.com/office/powerpoint/2010/main" val="3530910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Auto properties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15</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258349"/>
            <a:ext cx="11225168" cy="4630723"/>
          </a:xfrm>
        </p:spPr>
        <p:txBody>
          <a:bodyPr/>
          <a:lstStyle/>
          <a:p>
            <a:pPr marL="0" indent="0">
              <a:buNone/>
            </a:pPr>
            <a:r>
              <a:rPr lang="en-US" sz="2800" dirty="0">
                <a:solidFill>
                  <a:srgbClr val="0000FF"/>
                </a:solidFill>
                <a:latin typeface="Consolas" panose="020B0609020204030204" pitchFamily="49" charset="0"/>
              </a:rPr>
              <a:t>public</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int</a:t>
            </a:r>
            <a:r>
              <a:rPr lang="en-US" sz="2800" dirty="0">
                <a:solidFill>
                  <a:srgbClr val="000000"/>
                </a:solidFill>
                <a:latin typeface="Consolas" panose="020B0609020204030204" pitchFamily="49" charset="0"/>
              </a:rPr>
              <a:t> Width { </a:t>
            </a:r>
            <a:r>
              <a:rPr lang="en-US" sz="2800" dirty="0">
                <a:solidFill>
                  <a:srgbClr val="0000FF"/>
                </a:solidFill>
                <a:latin typeface="Consolas" panose="020B0609020204030204" pitchFamily="49" charset="0"/>
              </a:rPr>
              <a:t>get</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set</a:t>
            </a:r>
            <a:r>
              <a:rPr lang="en-US" sz="2800" dirty="0">
                <a:solidFill>
                  <a:srgbClr val="000000"/>
                </a:solidFill>
                <a:latin typeface="Consolas" panose="020B0609020204030204" pitchFamily="49" charset="0"/>
              </a:rPr>
              <a:t>; }</a:t>
            </a:r>
            <a:endParaRPr lang="en-US" sz="2800" dirty="0"/>
          </a:p>
        </p:txBody>
      </p:sp>
    </p:spTree>
    <p:extLst>
      <p:ext uri="{BB962C8B-B14F-4D97-AF65-F5344CB8AC3E}">
        <p14:creationId xmlns:p14="http://schemas.microsoft.com/office/powerpoint/2010/main" val="224118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Methods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16</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258349"/>
            <a:ext cx="11225168" cy="4630723"/>
          </a:xfrm>
        </p:spPr>
        <p:txBody>
          <a:bodyPr/>
          <a:lstStyle/>
          <a:p>
            <a:pPr marL="0" indent="0">
              <a:buNone/>
            </a:pPr>
            <a:r>
              <a:rPr lang="en-US" sz="2800" dirty="0">
                <a:solidFill>
                  <a:srgbClr val="0000FF"/>
                </a:solidFill>
                <a:latin typeface="Consolas" panose="020B0609020204030204" pitchFamily="49" charset="0"/>
              </a:rPr>
              <a:t>public</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void</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AddPerson</a:t>
            </a:r>
            <a:r>
              <a:rPr lang="en-US" sz="2800" dirty="0">
                <a:solidFill>
                  <a:srgbClr val="000000"/>
                </a:solidFill>
                <a:latin typeface="Consolas" panose="020B0609020204030204" pitchFamily="49" charset="0"/>
              </a:rPr>
              <a:t>(Person p)</a:t>
            </a:r>
          </a:p>
          <a:p>
            <a:pPr marL="0" indent="0">
              <a:buNone/>
            </a:pPr>
            <a:r>
              <a:rPr lang="en-US" sz="2800" dirty="0">
                <a:solidFill>
                  <a:srgbClr val="000000"/>
                </a:solidFill>
                <a:latin typeface="Consolas" panose="020B0609020204030204" pitchFamily="49" charset="0"/>
              </a:rPr>
              <a:t>{</a:t>
            </a:r>
          </a:p>
          <a:p>
            <a:pPr marL="0" indent="0">
              <a:buNone/>
            </a:pPr>
            <a:r>
              <a:rPr lang="en-US" sz="2800" dirty="0">
                <a:solidFill>
                  <a:srgbClr val="008000"/>
                </a:solidFill>
                <a:latin typeface="Consolas" panose="020B0609020204030204" pitchFamily="49" charset="0"/>
              </a:rPr>
              <a:t>	//...</a:t>
            </a:r>
            <a:endParaRPr lang="en-US" sz="2800" dirty="0">
              <a:solidFill>
                <a:srgbClr val="000000"/>
              </a:solidFill>
              <a:latin typeface="Consolas" panose="020B0609020204030204" pitchFamily="49" charset="0"/>
            </a:endParaRPr>
          </a:p>
          <a:p>
            <a:pPr marL="0" indent="0">
              <a:buNone/>
            </a:pPr>
            <a:r>
              <a:rPr lang="en-US" sz="2800" dirty="0">
                <a:solidFill>
                  <a:srgbClr val="000000"/>
                </a:solidFill>
                <a:latin typeface="Consolas" panose="020B0609020204030204" pitchFamily="49" charset="0"/>
              </a:rPr>
              <a:t>}</a:t>
            </a:r>
          </a:p>
          <a:p>
            <a:pPr marL="0" indent="0">
              <a:buNone/>
            </a:pPr>
            <a:endParaRPr lang="en-US" sz="2800" dirty="0">
              <a:solidFill>
                <a:srgbClr val="0000FF"/>
              </a:solidFill>
              <a:latin typeface="Consolas" panose="020B0609020204030204" pitchFamily="49" charset="0"/>
            </a:endParaRPr>
          </a:p>
          <a:p>
            <a:pPr marL="0" indent="0">
              <a:buNone/>
            </a:pPr>
            <a:r>
              <a:rPr lang="en-US" sz="2800" dirty="0">
                <a:solidFill>
                  <a:srgbClr val="0000FF"/>
                </a:solidFill>
                <a:latin typeface="Consolas" panose="020B0609020204030204" pitchFamily="49" charset="0"/>
              </a:rPr>
              <a:t>public</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int</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GetCurrentLoad</a:t>
            </a:r>
            <a:r>
              <a:rPr lang="en-US" sz="2800" dirty="0">
                <a:solidFill>
                  <a:srgbClr val="000000"/>
                </a:solidFill>
                <a:latin typeface="Consolas" panose="020B0609020204030204" pitchFamily="49" charset="0"/>
              </a:rPr>
              <a:t>()</a:t>
            </a:r>
          </a:p>
          <a:p>
            <a:pPr marL="0" indent="0">
              <a:buNone/>
            </a:pPr>
            <a:r>
              <a:rPr lang="en-US" sz="2800" dirty="0">
                <a:solidFill>
                  <a:srgbClr val="000000"/>
                </a:solidFill>
                <a:latin typeface="Consolas" panose="020B0609020204030204" pitchFamily="49" charset="0"/>
              </a:rPr>
              <a:t>{</a:t>
            </a:r>
          </a:p>
          <a:p>
            <a:pPr marL="0" indent="0">
              <a:buNone/>
            </a:pPr>
            <a:r>
              <a:rPr lang="en-US" sz="2800" dirty="0">
                <a:solidFill>
                  <a:srgbClr val="0000FF"/>
                </a:solidFill>
                <a:latin typeface="Consolas" panose="020B0609020204030204" pitchFamily="49" charset="0"/>
              </a:rPr>
              <a:t>	return</a:t>
            </a:r>
            <a:r>
              <a:rPr lang="en-US" sz="2800" dirty="0">
                <a:solidFill>
                  <a:srgbClr val="000000"/>
                </a:solidFill>
                <a:latin typeface="Consolas" panose="020B0609020204030204" pitchFamily="49" charset="0"/>
              </a:rPr>
              <a:t> 0;</a:t>
            </a:r>
          </a:p>
          <a:p>
            <a:pPr marL="0" indent="0">
              <a:buNone/>
            </a:pPr>
            <a:r>
              <a:rPr lang="en-US" sz="2800" dirty="0">
                <a:solidFill>
                  <a:srgbClr val="000000"/>
                </a:solidFill>
                <a:latin typeface="Consolas" panose="020B0609020204030204" pitchFamily="49" charset="0"/>
              </a:rPr>
              <a:t>}</a:t>
            </a:r>
            <a:endParaRPr lang="en-US" sz="2800" dirty="0"/>
          </a:p>
        </p:txBody>
      </p:sp>
    </p:spTree>
    <p:extLst>
      <p:ext uri="{BB962C8B-B14F-4D97-AF65-F5344CB8AC3E}">
        <p14:creationId xmlns:p14="http://schemas.microsoft.com/office/powerpoint/2010/main" val="1154325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450F9B-C91F-8251-DBB6-902A113A0099}"/>
              </a:ext>
            </a:extLst>
          </p:cNvPr>
          <p:cNvSpPr>
            <a:spLocks noGrp="1"/>
          </p:cNvSpPr>
          <p:nvPr>
            <p:ph type="ctrTitle"/>
          </p:nvPr>
        </p:nvSpPr>
        <p:spPr/>
        <p:txBody>
          <a:bodyPr/>
          <a:lstStyle/>
          <a:p>
            <a:r>
              <a:rPr lang="en-US" dirty="0"/>
              <a:t>The end</a:t>
            </a:r>
            <a:endParaRPr lang="ru-RU" dirty="0"/>
          </a:p>
        </p:txBody>
      </p:sp>
      <p:sp>
        <p:nvSpPr>
          <p:cNvPr id="6" name="Номер слайда 5">
            <a:extLst>
              <a:ext uri="{FF2B5EF4-FFF2-40B4-BE49-F238E27FC236}">
                <a16:creationId xmlns:a16="http://schemas.microsoft.com/office/drawing/2014/main" id="{1D585132-5E6B-6252-979D-81557B9743BC}"/>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17</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a:t>BSc Business Information Systems</a:t>
            </a:r>
            <a:endParaRPr lang="ru-RU" dirty="0"/>
          </a:p>
        </p:txBody>
      </p:sp>
    </p:spTree>
    <p:extLst>
      <p:ext uri="{BB962C8B-B14F-4D97-AF65-F5344CB8AC3E}">
        <p14:creationId xmlns:p14="http://schemas.microsoft.com/office/powerpoint/2010/main" val="3884791876"/>
      </p:ext>
    </p:extLst>
  </p:cSld>
  <p:clrMapOvr>
    <a:masterClrMapping/>
  </p:clrMapOvr>
</p:sld>
</file>

<file path=ppt/theme/theme1.xml><?xml version="1.0" encoding="utf-8"?>
<a:theme xmlns:a="http://schemas.openxmlformats.org/drawingml/2006/main" name="Тема Office">
  <a:themeElements>
    <a:clrScheme name="Custom 8">
      <a:dk1>
        <a:sysClr val="windowText" lastClr="000000"/>
      </a:dk1>
      <a:lt1>
        <a:sysClr val="window" lastClr="FFFFFF"/>
      </a:lt1>
      <a:dk2>
        <a:srgbClr val="07428C"/>
      </a:dk2>
      <a:lt2>
        <a:srgbClr val="EDEDED"/>
      </a:lt2>
      <a:accent1>
        <a:srgbClr val="083FA4"/>
      </a:accent1>
      <a:accent2>
        <a:srgbClr val="ED7D31"/>
      </a:accent2>
      <a:accent3>
        <a:srgbClr val="35A8E0"/>
      </a:accent3>
      <a:accent4>
        <a:srgbClr val="FFC000"/>
      </a:accent4>
      <a:accent5>
        <a:srgbClr val="4472C4"/>
      </a:accent5>
      <a:accent6>
        <a:srgbClr val="70AD47"/>
      </a:accent6>
      <a:hlink>
        <a:srgbClr val="358A7C"/>
      </a:hlink>
      <a:folHlink>
        <a:srgbClr val="B7283C"/>
      </a:folHlink>
    </a:clrScheme>
    <a:fontScheme name="Другая 1">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Другая 13">
      <a:dk1>
        <a:sysClr val="windowText" lastClr="000000"/>
      </a:dk1>
      <a:lt1>
        <a:sysClr val="window" lastClr="FFFFFF"/>
      </a:lt1>
      <a:dk2>
        <a:srgbClr val="264C94"/>
      </a:dk2>
      <a:lt2>
        <a:srgbClr val="35A8E0"/>
      </a:lt2>
      <a:accent1>
        <a:srgbClr val="7CB4E2"/>
      </a:accent1>
      <a:accent2>
        <a:srgbClr val="358A7C"/>
      </a:accent2>
      <a:accent3>
        <a:srgbClr val="A5A5A5"/>
      </a:accent3>
      <a:accent4>
        <a:srgbClr val="26693A"/>
      </a:accent4>
      <a:accent5>
        <a:srgbClr val="F6AC10"/>
      </a:accent5>
      <a:accent6>
        <a:srgbClr val="B7283C"/>
      </a:accent6>
      <a:hlink>
        <a:srgbClr val="358A7C"/>
      </a:hlink>
      <a:folHlink>
        <a:srgbClr val="B7283C"/>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1696</TotalTime>
  <Words>435</Words>
  <Application>Microsoft Office PowerPoint</Application>
  <PresentationFormat>Widescreen</PresentationFormat>
  <Paragraphs>122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Тема Office</vt:lpstr>
      <vt:lpstr>Fundamentals of Programming</vt:lpstr>
      <vt:lpstr>Agenda</vt:lpstr>
      <vt:lpstr>Data structure</vt:lpstr>
      <vt:lpstr>Algorithms</vt:lpstr>
      <vt:lpstr>Why study Algorithms?</vt:lpstr>
      <vt:lpstr>Algorithms</vt:lpstr>
      <vt:lpstr>Books</vt:lpstr>
      <vt:lpstr>Data type</vt:lpstr>
      <vt:lpstr>Data types</vt:lpstr>
      <vt:lpstr>What is a Class?</vt:lpstr>
      <vt:lpstr>What is an Object?</vt:lpstr>
      <vt:lpstr>Classes in C#.NET</vt:lpstr>
      <vt:lpstr>Constructors</vt:lpstr>
      <vt:lpstr>Properties</vt:lpstr>
      <vt:lpstr>Auto properties</vt:lpstr>
      <vt:lpstr>Methods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Vasiliy Kuznetsov</cp:lastModifiedBy>
  <cp:revision>147</cp:revision>
  <dcterms:created xsi:type="dcterms:W3CDTF">2022-06-28T05:50:22Z</dcterms:created>
  <dcterms:modified xsi:type="dcterms:W3CDTF">2025-01-10T15:46:13Z</dcterms:modified>
</cp:coreProperties>
</file>