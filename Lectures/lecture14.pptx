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6" r:id="rId4"/>
    <p:sldId id="278" r:id="rId5"/>
    <p:sldId id="281" r:id="rId6"/>
    <p:sldId id="282" r:id="rId7"/>
    <p:sldId id="292" r:id="rId8"/>
    <p:sldId id="293" r:id="rId9"/>
    <p:sldId id="294" r:id="rId10"/>
    <p:sldId id="296" r:id="rId11"/>
    <p:sldId id="295" r:id="rId12"/>
    <p:sldId id="297" r:id="rId13"/>
    <p:sldId id="298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10.01.2025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10.01.2025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14</a:t>
            </a:r>
            <a:endParaRPr lang="en-US" dirty="0"/>
          </a:p>
          <a:p>
            <a:r>
              <a:rPr lang="en-US" sz="2400" dirty="0"/>
              <a:t>DAL, Three-tier architecture</a:t>
            </a:r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Tiered application design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Components of three-tier architecture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DAL (DB Managers)</a:t>
            </a:r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Tiered application design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b="1" dirty="0"/>
              <a:t>multi-tier architecture </a:t>
            </a:r>
            <a:r>
              <a:rPr lang="en-US" altLang="en-US" sz="2800" dirty="0"/>
              <a:t>(often referred to as </a:t>
            </a:r>
            <a:r>
              <a:rPr lang="en-US" altLang="en-US" sz="2800" b="1" dirty="0"/>
              <a:t>n-tier architecture</a:t>
            </a:r>
            <a:r>
              <a:rPr lang="en-US" altLang="en-US" sz="2800" dirty="0"/>
              <a:t>) is a client–server architecture in which the presentation, the application processing, and the data management are logically separate processes </a:t>
            </a:r>
            <a:r>
              <a:rPr lang="en-US" altLang="en-US" sz="1800" dirty="0"/>
              <a:t>(Wikipedia.com)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6692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Tiered application design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Algorithm – method for solving a problem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Algorithm – a process or set of rules to be followed in calculations or other problem-solving operations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241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Three-tier architecture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650B7-2FD4-43AB-9C9D-860808026DF0}"/>
              </a:ext>
            </a:extLst>
          </p:cNvPr>
          <p:cNvSpPr/>
          <p:nvPr/>
        </p:nvSpPr>
        <p:spPr>
          <a:xfrm>
            <a:off x="1888834" y="1416557"/>
            <a:ext cx="2500313" cy="10788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GUI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16EDE2-7510-450D-B657-5049C17BBADD}"/>
              </a:ext>
            </a:extLst>
          </p:cNvPr>
          <p:cNvSpPr/>
          <p:nvPr/>
        </p:nvSpPr>
        <p:spPr>
          <a:xfrm>
            <a:off x="4845842" y="1410268"/>
            <a:ext cx="2500313" cy="10788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GUI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2C9831-EECB-4849-87EF-A738EBE52425}"/>
              </a:ext>
            </a:extLst>
          </p:cNvPr>
          <p:cNvSpPr/>
          <p:nvPr/>
        </p:nvSpPr>
        <p:spPr>
          <a:xfrm>
            <a:off x="7802850" y="1410268"/>
            <a:ext cx="2500312" cy="10788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GUI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C9C2A5-1CA0-464D-8FF8-F6B6146C289A}"/>
              </a:ext>
            </a:extLst>
          </p:cNvPr>
          <p:cNvSpPr/>
          <p:nvPr/>
        </p:nvSpPr>
        <p:spPr>
          <a:xfrm>
            <a:off x="4845841" y="3017670"/>
            <a:ext cx="2500313" cy="10788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Business Logic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634FBC-979B-4FCD-AA56-83C4A68A2FBC}"/>
              </a:ext>
            </a:extLst>
          </p:cNvPr>
          <p:cNvSpPr/>
          <p:nvPr/>
        </p:nvSpPr>
        <p:spPr>
          <a:xfrm>
            <a:off x="4845843" y="4629267"/>
            <a:ext cx="2500313" cy="10784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>
                <a:solidFill>
                  <a:schemeClr val="tx1"/>
                </a:solidFill>
              </a:rPr>
              <a:t>DAL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Can 8">
            <a:extLst>
              <a:ext uri="{FF2B5EF4-FFF2-40B4-BE49-F238E27FC236}">
                <a16:creationId xmlns:a16="http://schemas.microsoft.com/office/drawing/2014/main" id="{13E6D0C1-5215-4FAB-9F5B-5327726A1312}"/>
              </a:ext>
            </a:extLst>
          </p:cNvPr>
          <p:cNvSpPr/>
          <p:nvPr/>
        </p:nvSpPr>
        <p:spPr>
          <a:xfrm>
            <a:off x="8353929" y="4629267"/>
            <a:ext cx="785812" cy="107843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6" name="Can 9">
            <a:extLst>
              <a:ext uri="{FF2B5EF4-FFF2-40B4-BE49-F238E27FC236}">
                <a16:creationId xmlns:a16="http://schemas.microsoft.com/office/drawing/2014/main" id="{D9BEA27A-0DC2-4892-842F-46F6CBE8736A}"/>
              </a:ext>
            </a:extLst>
          </p:cNvPr>
          <p:cNvSpPr/>
          <p:nvPr/>
        </p:nvSpPr>
        <p:spPr>
          <a:xfrm>
            <a:off x="3064024" y="4629266"/>
            <a:ext cx="785812" cy="107843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D46214-3624-41CD-BA9C-CDCD2A0A35E5}"/>
              </a:ext>
            </a:extLst>
          </p:cNvPr>
          <p:cNvCxnSpPr>
            <a:cxnSpLocks/>
            <a:stCxn id="13" idx="1"/>
            <a:endCxn id="8" idx="2"/>
          </p:cNvCxnSpPr>
          <p:nvPr/>
        </p:nvCxnSpPr>
        <p:spPr>
          <a:xfrm flipH="1" flipV="1">
            <a:off x="3138991" y="2495403"/>
            <a:ext cx="1706850" cy="1061689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9EA2C9-EDDC-4FE5-B3F0-EC5842B2A654}"/>
              </a:ext>
            </a:extLst>
          </p:cNvPr>
          <p:cNvCxnSpPr>
            <a:cxnSpLocks/>
            <a:stCxn id="13" idx="0"/>
            <a:endCxn id="9" idx="2"/>
          </p:cNvCxnSpPr>
          <p:nvPr/>
        </p:nvCxnSpPr>
        <p:spPr>
          <a:xfrm flipV="1">
            <a:off x="6095998" y="2489112"/>
            <a:ext cx="1" cy="528558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3F5067-982D-432A-84D4-9D5D4543EF17}"/>
              </a:ext>
            </a:extLst>
          </p:cNvPr>
          <p:cNvCxnSpPr>
            <a:cxnSpLocks/>
            <a:stCxn id="13" idx="3"/>
            <a:endCxn id="10" idx="2"/>
          </p:cNvCxnSpPr>
          <p:nvPr/>
        </p:nvCxnSpPr>
        <p:spPr>
          <a:xfrm flipV="1">
            <a:off x="7346154" y="2489113"/>
            <a:ext cx="1706852" cy="1067979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301F3D-C58C-4463-9F08-A2923000F2CF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H="1" flipV="1">
            <a:off x="6095998" y="4096514"/>
            <a:ext cx="2" cy="532753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D74944-025A-44E9-AE5F-88891567F31B}"/>
              </a:ext>
            </a:extLst>
          </p:cNvPr>
          <p:cNvCxnSpPr>
            <a:cxnSpLocks/>
            <a:stCxn id="14" idx="3"/>
            <a:endCxn id="15" idx="2"/>
          </p:cNvCxnSpPr>
          <p:nvPr/>
        </p:nvCxnSpPr>
        <p:spPr>
          <a:xfrm>
            <a:off x="7346156" y="5168486"/>
            <a:ext cx="1007773" cy="0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2BED17-13AD-47C6-BB0D-AEF92960658E}"/>
              </a:ext>
            </a:extLst>
          </p:cNvPr>
          <p:cNvCxnSpPr>
            <a:cxnSpLocks/>
            <a:stCxn id="14" idx="1"/>
            <a:endCxn id="16" idx="4"/>
          </p:cNvCxnSpPr>
          <p:nvPr/>
        </p:nvCxnSpPr>
        <p:spPr>
          <a:xfrm flipH="1" flipV="1">
            <a:off x="3849836" y="5168485"/>
            <a:ext cx="996007" cy="1"/>
          </a:xfrm>
          <a:prstGeom prst="straightConnector1">
            <a:avLst/>
          </a:prstGeom>
          <a:ln w="1905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38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Graphical User Interface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Application can have several GUI types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windows forms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web application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smart devices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3200" dirty="0"/>
          </a:p>
        </p:txBody>
      </p:sp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22BC03FD-42CF-4D3D-89F2-997B61BC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</p:spPr>
        <p:txBody>
          <a:bodyPr/>
          <a:lstStyle/>
          <a:p>
            <a:r>
              <a:rPr lang="en-US" altLang="en-US" dirty="0"/>
              <a:t>GUI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84941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Technologies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Win32, WPF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ASP.Net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Blazor</a:t>
            </a:r>
            <a:endParaRPr lang="en-US" altLang="en-US" sz="28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Xamarin, MAUI</a:t>
            </a:r>
          </a:p>
        </p:txBody>
      </p:sp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63FCA3E6-0649-4E67-A341-EEBCAF86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</p:spPr>
        <p:txBody>
          <a:bodyPr/>
          <a:lstStyle/>
          <a:p>
            <a:r>
              <a:rPr lang="en-US" altLang="en-US" dirty="0"/>
              <a:t>GUI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8566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POJO – plain old java objects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Set of classes abstracting real business objects and scenarios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altLang="en-US" sz="3200" dirty="0"/>
          </a:p>
        </p:txBody>
      </p:sp>
      <p:sp>
        <p:nvSpPr>
          <p:cNvPr id="9" name="Заголовок 2">
            <a:extLst>
              <a:ext uri="{FF2B5EF4-FFF2-40B4-BE49-F238E27FC236}">
                <a16:creationId xmlns:a16="http://schemas.microsoft.com/office/drawing/2014/main" id="{E650FF8E-3D1E-49A2-B230-D8E7067A7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</p:spPr>
        <p:txBody>
          <a:bodyPr/>
          <a:lstStyle/>
          <a:p>
            <a:r>
              <a:rPr lang="en-US" sz="4400" dirty="0"/>
              <a:t>Business Logic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7108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DAL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Data Access Layer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Set of classes providing access to persistent storage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Relational and no-SQL DBMS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Flat files, JSON, XML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Object-relational mapping (ORM)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10521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Microsoft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Entity framework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LINQ to SQL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Third-party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Dapper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NHibernate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36570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DAL – Manager approach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Manager class per DB table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Methods: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Insert(</a:t>
            </a:r>
            <a:r>
              <a:rPr lang="en-US" altLang="en-US" sz="2800" dirty="0" err="1"/>
              <a:t>inst</a:t>
            </a:r>
            <a:r>
              <a:rPr lang="en-US" altLang="en-US" sz="2800" dirty="0"/>
              <a:t> as </a:t>
            </a:r>
            <a:r>
              <a:rPr lang="en-US" altLang="en-US" sz="2800" dirty="0" err="1"/>
              <a:t>BusinessObject</a:t>
            </a:r>
            <a:r>
              <a:rPr lang="en-US" altLang="en-US" sz="2800" dirty="0"/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Update(</a:t>
            </a:r>
            <a:r>
              <a:rPr lang="en-US" altLang="en-US" sz="2800" dirty="0" err="1"/>
              <a:t>inst</a:t>
            </a:r>
            <a:r>
              <a:rPr lang="en-US" altLang="en-US" sz="2800" dirty="0"/>
              <a:t> as </a:t>
            </a:r>
            <a:r>
              <a:rPr lang="en-US" altLang="en-US" sz="2800" dirty="0" err="1"/>
              <a:t>BusinessObject</a:t>
            </a:r>
            <a:r>
              <a:rPr lang="en-US" altLang="en-US" sz="2800" dirty="0"/>
              <a:t>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Delete(id as Integer)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GetById</a:t>
            </a:r>
            <a:r>
              <a:rPr lang="en-US" altLang="en-US" sz="2800" dirty="0"/>
              <a:t>(id as Integer)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GetAll</a:t>
            </a:r>
            <a:r>
              <a:rPr lang="en-US" altLang="en-US" sz="2800" dirty="0"/>
              <a:t>() as List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6513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access recap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OleDbConnection</a:t>
            </a: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OleDbCommand</a:t>
            </a: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OleDbDataReader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110082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semester we will use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SQLiteConnection</a:t>
            </a: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SQLiteCommand</a:t>
            </a:r>
            <a:endParaRPr lang="en-US" altLang="en-US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 err="1"/>
              <a:t>SQLiteDataReader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6360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305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Тема Office</vt:lpstr>
      <vt:lpstr>Fundamentals of Programming</vt:lpstr>
      <vt:lpstr>Agenda</vt:lpstr>
      <vt:lpstr>Tiered application design</vt:lpstr>
      <vt:lpstr>Tiered application design</vt:lpstr>
      <vt:lpstr>Three-tier architecture</vt:lpstr>
      <vt:lpstr>GUI</vt:lpstr>
      <vt:lpstr>GUI</vt:lpstr>
      <vt:lpstr>Business Logic</vt:lpstr>
      <vt:lpstr>DAL</vt:lpstr>
      <vt:lpstr>ORM</vt:lpstr>
      <vt:lpstr>DAL – Manager approach</vt:lpstr>
      <vt:lpstr>DB access recap</vt:lpstr>
      <vt:lpstr>This semester we will use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154</cp:revision>
  <dcterms:created xsi:type="dcterms:W3CDTF">2022-06-28T05:50:22Z</dcterms:created>
  <dcterms:modified xsi:type="dcterms:W3CDTF">2025-01-10T15:46:33Z</dcterms:modified>
</cp:coreProperties>
</file>