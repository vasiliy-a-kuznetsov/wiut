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1"/>
  </p:sldMasterIdLst>
  <p:notesMasterIdLst>
    <p:notesMasterId r:id="rId16"/>
  </p:notesMasterIdLst>
  <p:handoutMasterIdLst>
    <p:handoutMasterId r:id="rId17"/>
  </p:handoutMasterIdLst>
  <p:sldIdLst>
    <p:sldId id="256" r:id="rId2"/>
    <p:sldId id="281" r:id="rId3"/>
    <p:sldId id="258" r:id="rId4"/>
    <p:sldId id="282" r:id="rId5"/>
    <p:sldId id="283" r:id="rId6"/>
    <p:sldId id="284" r:id="rId7"/>
    <p:sldId id="285" r:id="rId8"/>
    <p:sldId id="286" r:id="rId9"/>
    <p:sldId id="287" r:id="rId10"/>
    <p:sldId id="290" r:id="rId11"/>
    <p:sldId id="288" r:id="rId12"/>
    <p:sldId id="289" r:id="rId13"/>
    <p:sldId id="291" r:id="rId14"/>
    <p:sldId id="292" r:id="rId15"/>
  </p:sldIdLst>
  <p:sldSz cx="9144000" cy="6858000" type="screen4x3"/>
  <p:notesSz cx="6858000" cy="9144000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3D0EEA"/>
    <a:srgbClr val="9376F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3" d="100"/>
          <a:sy n="63" d="100"/>
        </p:scale>
        <p:origin x="-199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75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75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75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0B083A21-BE7E-49F2-B4E2-72752B5C1C3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2173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6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16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noProof="0"/>
              <a:t>Click to edit Master text styles</a:t>
            </a:r>
          </a:p>
          <a:p>
            <a:pPr lvl="1"/>
            <a:r>
              <a:rPr lang="ru-RU" noProof="0"/>
              <a:t>Second level</a:t>
            </a:r>
          </a:p>
          <a:p>
            <a:pPr lvl="2"/>
            <a:r>
              <a:rPr lang="ru-RU" noProof="0"/>
              <a:t>Third level</a:t>
            </a:r>
          </a:p>
          <a:p>
            <a:pPr lvl="3"/>
            <a:r>
              <a:rPr lang="ru-RU" noProof="0"/>
              <a:t>Fourth level</a:t>
            </a:r>
          </a:p>
          <a:p>
            <a:pPr lvl="4"/>
            <a:r>
              <a:rPr lang="ru-RU" noProof="0"/>
              <a:t>Fifth level</a:t>
            </a:r>
          </a:p>
        </p:txBody>
      </p:sp>
      <p:sp>
        <p:nvSpPr>
          <p:cNvPr id="1116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6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7CBA86BE-8BA3-48F4-A70F-10CB7540109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891944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BDD9C68-2740-4619-A53D-D5E740BA552D}" type="slidenum">
              <a:rPr lang="ru-RU"/>
              <a:pPr/>
              <a:t>1</a:t>
            </a:fld>
            <a:endParaRPr lang="ru-RU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225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E7E4712-55CF-4F48-ACA5-F9FDFA98D027}" type="slidenum">
              <a:rPr lang="ru-RU"/>
              <a:pPr/>
              <a:t>2</a:t>
            </a:fld>
            <a:endParaRPr lang="ru-RU"/>
          </a:p>
        </p:txBody>
      </p:sp>
      <p:sp>
        <p:nvSpPr>
          <p:cNvPr id="81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67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959B8FF-DE29-4035-ABF4-0C8689A86F85}" type="slidenum">
              <a:rPr lang="ru-RU"/>
              <a:pPr/>
              <a:t>3</a:t>
            </a:fld>
            <a:endParaRPr lang="ru-RU"/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6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F28F4CF-F05D-4D82-A5FE-E719EA32A26F}" type="slidenum">
              <a:rPr lang="ru-RU"/>
              <a:pPr/>
              <a:t>4</a:t>
            </a:fld>
            <a:endParaRPr lang="ru-RU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007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21EF538-8198-4A7A-83EB-7A6EDC83662C}" type="slidenum">
              <a:rPr lang="ru-RU"/>
              <a:pPr/>
              <a:t>5</a:t>
            </a:fld>
            <a:endParaRPr lang="ru-RU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57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6E5036C-FC33-4017-8821-FD77266523A3}" type="slidenum">
              <a:rPr lang="ru-RU"/>
              <a:pPr/>
              <a:t>6</a:t>
            </a:fld>
            <a:endParaRPr lang="ru-RU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0065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344563A-C2C8-4392-8C19-05990342B75D}" type="slidenum">
              <a:rPr lang="ru-RU"/>
              <a:pPr/>
              <a:t>7</a:t>
            </a:fld>
            <a:endParaRPr lang="ru-RU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198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AE249A3-4FA4-4F2C-9A66-44284666BC8A}" type="slidenum">
              <a:rPr lang="ru-RU"/>
              <a:pPr/>
              <a:t>8</a:t>
            </a:fld>
            <a:endParaRPr lang="ru-RU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6373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EF0B89E-5B89-4D0D-A779-94479EE7902D}" type="slidenum">
              <a:rPr lang="ru-RU"/>
              <a:pPr/>
              <a:t>9</a:t>
            </a:fld>
            <a:endParaRPr lang="ru-RU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0555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5E27DE1-3C34-4895-933D-4207534A02C8}" type="slidenum">
              <a:rPr lang="ru-RU"/>
              <a:pPr/>
              <a:t>11</a:t>
            </a:fld>
            <a:endParaRPr lang="ru-RU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4236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4F47543-0DEE-420E-9106-B0DA37187D06}" type="slidenum">
              <a:rPr lang="ru-RU"/>
              <a:pPr/>
              <a:t>12</a:t>
            </a:fld>
            <a:endParaRPr lang="ru-RU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405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34E2C6A-6AFF-470B-908A-DA14F233B21E}" type="slidenum">
              <a:rPr lang="ru-RU"/>
              <a:pPr/>
              <a:t>13</a:t>
            </a:fld>
            <a:endParaRPr lang="ru-RU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624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2"/>
          <p:cNvGrpSpPr>
            <a:grpSpLocks/>
          </p:cNvGrpSpPr>
          <p:nvPr userDrawn="1"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</p:grpSp>
      </p:grpSp>
      <p:pic>
        <p:nvPicPr>
          <p:cNvPr id="18" name="Picture 21" descr="PP_WIUT_Attachment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5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5731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ru-RU"/>
              <a:t>Click to edit Master title style</a:t>
            </a:r>
          </a:p>
        </p:txBody>
      </p:sp>
      <p:sp>
        <p:nvSpPr>
          <p:cNvPr id="115732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ru-RU"/>
              <a:t>Click to edit Master subtitle style</a:t>
            </a:r>
          </a:p>
        </p:txBody>
      </p:sp>
      <p:sp>
        <p:nvSpPr>
          <p:cNvPr id="19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21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CAC4913-E785-43C3-BA73-79FCE15F352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52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2C04D0-2060-430B-A713-A6E1B171536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2873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FD0290-1557-477A-9915-03DB4C2FAE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0177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BD602B-670A-432C-B8DC-A8A41E704F6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8847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A6AD1D-8350-4BF2-B53B-1E75999C3E2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405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FBDB1E-D292-4BB5-AA11-0262891D22D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3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79B0E7D-D65E-4E27-8FD8-0AFACBA4485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44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3F2149-2EEA-4D73-A89F-EEDD4AE0089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6141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D35760-58A8-4B59-AF55-B4AF84868D4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4908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140922-993E-4267-A217-D6666D27CCD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470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B58A66-1163-4D68-8B48-66E0C7567104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0480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DAA4FB-04CD-40C6-91C6-75E041D7C4B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722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r>
              <a:rPr lang="ru-RU"/>
              <a:t>2UZC402 RAD, Prepared by Olimjon Bakirov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942E7C8E-52D5-41AA-A40B-6472D950610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grpSp>
        <p:nvGrpSpPr>
          <p:cNvPr id="1028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3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5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6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7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38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9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40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41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title style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</a:p>
        </p:txBody>
      </p:sp>
      <p:sp>
        <p:nvSpPr>
          <p:cNvPr id="114704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pic>
        <p:nvPicPr>
          <p:cNvPr id="1032" name="Picture 17" descr="PP_WIUT_Attachment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08" r:id="rId2"/>
    <p:sldLayoutId id="2147483809" r:id="rId3"/>
    <p:sldLayoutId id="2147483810" r:id="rId4"/>
    <p:sldLayoutId id="2147483811" r:id="rId5"/>
    <p:sldLayoutId id="2147483812" r:id="rId6"/>
    <p:sldLayoutId id="2147483813" r:id="rId7"/>
    <p:sldLayoutId id="2147483814" r:id="rId8"/>
    <p:sldLayoutId id="2147483815" r:id="rId9"/>
    <p:sldLayoutId id="2147483816" r:id="rId10"/>
    <p:sldLayoutId id="2147483817" r:id="rId11"/>
    <p:sldLayoutId id="2147483818" r:id="rId12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916238" y="1828800"/>
            <a:ext cx="6075362" cy="2209800"/>
          </a:xfrm>
        </p:spPr>
        <p:txBody>
          <a:bodyPr/>
          <a:lstStyle/>
          <a:p>
            <a:pPr eaLnBrk="1" hangingPunct="1"/>
            <a:r>
              <a:rPr lang="en-US" sz="4600"/>
              <a:t>DAL, </a:t>
            </a:r>
            <a:br>
              <a:rPr lang="en-US" sz="4600"/>
            </a:br>
            <a:r>
              <a:rPr lang="en-US" sz="4600"/>
              <a:t>Three-tier architecture</a:t>
            </a:r>
            <a:endParaRPr lang="ru-RU" sz="460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Lecture 14</a:t>
            </a:r>
            <a:endParaRPr lang="ru-RU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Objectives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</a:p>
          <a:p>
            <a:pPr eaLnBrk="1" hangingPunct="1"/>
            <a:r>
              <a:rPr lang="en-US"/>
              <a:t>Components of three-tier architecture</a:t>
            </a:r>
          </a:p>
          <a:p>
            <a:pPr eaLnBrk="1" hangingPunct="1"/>
            <a:r>
              <a:rPr lang="en-US"/>
              <a:t>DAL (DB Managers)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/>
          </a:p>
          <a:p>
            <a:pPr eaLnBrk="1" hangingPunct="1">
              <a:buFont typeface="Wingdings" panose="05000000000000000000" pitchFamily="2" charset="2"/>
              <a:buNone/>
            </a:pP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9219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multi-tier architecture</a:t>
            </a:r>
            <a:r>
              <a:rPr lang="en-US"/>
              <a:t> (often referred to as </a:t>
            </a:r>
            <a:r>
              <a:rPr lang="en-US" b="1"/>
              <a:t>n-tier architecture</a:t>
            </a:r>
            <a:r>
              <a:rPr lang="en-US"/>
              <a:t>) is a client–server architecture in which the presentation, the application processing, and the data management are logically separate processes. </a:t>
            </a:r>
            <a:r>
              <a:rPr lang="en-US" sz="2000"/>
              <a:t>(Wikipedia.com)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11267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Benefits:</a:t>
            </a:r>
          </a:p>
          <a:p>
            <a:r>
              <a:rPr lang="en-US"/>
              <a:t>Task separation</a:t>
            </a:r>
          </a:p>
          <a:p>
            <a:r>
              <a:rPr lang="en-US"/>
              <a:t>Code independence</a:t>
            </a:r>
          </a:p>
          <a:p>
            <a:r>
              <a:rPr lang="en-US"/>
              <a:t>Code reuse</a:t>
            </a:r>
          </a:p>
          <a:p>
            <a:r>
              <a:rPr lang="en-US"/>
              <a:t>Performance/scalability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Three-tier architecture</a:t>
            </a:r>
            <a:endParaRPr lang="ru-RU"/>
          </a:p>
        </p:txBody>
      </p:sp>
      <p:sp>
        <p:nvSpPr>
          <p:cNvPr id="4" name="Rectangle 3"/>
          <p:cNvSpPr/>
          <p:nvPr/>
        </p:nvSpPr>
        <p:spPr>
          <a:xfrm>
            <a:off x="714375" y="1643063"/>
            <a:ext cx="2500313" cy="13573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3200" dirty="0">
                <a:solidFill>
                  <a:schemeClr val="tx1"/>
                </a:solidFill>
              </a:rPr>
              <a:t>GUI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29000" y="1643063"/>
            <a:ext cx="2500313" cy="13573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3200" dirty="0">
                <a:solidFill>
                  <a:schemeClr val="tx1"/>
                </a:solidFill>
              </a:rPr>
              <a:t>GUI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5063" y="1643063"/>
            <a:ext cx="2500312" cy="13573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3200" dirty="0">
                <a:solidFill>
                  <a:schemeClr val="tx1"/>
                </a:solidFill>
              </a:rPr>
              <a:t>GUI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429000" y="3429000"/>
            <a:ext cx="2500313" cy="13573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3200" dirty="0">
                <a:solidFill>
                  <a:schemeClr val="tx1"/>
                </a:solidFill>
              </a:rPr>
              <a:t>Business Logic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29000" y="5214938"/>
            <a:ext cx="2500313" cy="13573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3200" dirty="0">
                <a:solidFill>
                  <a:schemeClr val="tx1"/>
                </a:solidFill>
              </a:rPr>
              <a:t>DAL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an 8"/>
          <p:cNvSpPr/>
          <p:nvPr/>
        </p:nvSpPr>
        <p:spPr>
          <a:xfrm>
            <a:off x="7072313" y="5286375"/>
            <a:ext cx="785812" cy="121443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" name="Can 9"/>
          <p:cNvSpPr/>
          <p:nvPr/>
        </p:nvSpPr>
        <p:spPr>
          <a:xfrm>
            <a:off x="1357313" y="5286375"/>
            <a:ext cx="785812" cy="121443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cxnSp>
        <p:nvCxnSpPr>
          <p:cNvPr id="12" name="Straight Arrow Connector 11"/>
          <p:cNvCxnSpPr>
            <a:stCxn id="7" idx="1"/>
            <a:endCxn id="4" idx="2"/>
          </p:cNvCxnSpPr>
          <p:nvPr/>
        </p:nvCxnSpPr>
        <p:spPr>
          <a:xfrm rot="10800000">
            <a:off x="1963738" y="3000375"/>
            <a:ext cx="1465262" cy="1108075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7" idx="0"/>
            <a:endCxn id="5" idx="2"/>
          </p:cNvCxnSpPr>
          <p:nvPr/>
        </p:nvCxnSpPr>
        <p:spPr>
          <a:xfrm rot="5400000" flipH="1" flipV="1">
            <a:off x="4464050" y="3214688"/>
            <a:ext cx="430213" cy="1587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7" idx="3"/>
            <a:endCxn id="6" idx="2"/>
          </p:cNvCxnSpPr>
          <p:nvPr/>
        </p:nvCxnSpPr>
        <p:spPr>
          <a:xfrm flipV="1">
            <a:off x="5929313" y="3000375"/>
            <a:ext cx="1536700" cy="1108075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0"/>
            <a:endCxn id="7" idx="2"/>
          </p:cNvCxnSpPr>
          <p:nvPr/>
        </p:nvCxnSpPr>
        <p:spPr>
          <a:xfrm rot="5400000" flipH="1" flipV="1">
            <a:off x="4464844" y="5001419"/>
            <a:ext cx="428625" cy="1587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8" idx="3"/>
            <a:endCxn id="9" idx="2"/>
          </p:cNvCxnSpPr>
          <p:nvPr/>
        </p:nvCxnSpPr>
        <p:spPr>
          <a:xfrm>
            <a:off x="5929313" y="5894388"/>
            <a:ext cx="1143000" cy="1587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8" idx="1"/>
            <a:endCxn id="10" idx="4"/>
          </p:cNvCxnSpPr>
          <p:nvPr/>
        </p:nvCxnSpPr>
        <p:spPr>
          <a:xfrm rot="10800000">
            <a:off x="2143125" y="5894388"/>
            <a:ext cx="1285875" cy="1587"/>
          </a:xfrm>
          <a:prstGeom prst="straightConnector1">
            <a:avLst/>
          </a:prstGeom>
          <a:ln w="1905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15363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GUI:</a:t>
            </a:r>
          </a:p>
          <a:p>
            <a:r>
              <a:rPr lang="en-US"/>
              <a:t>Graphical User Interface</a:t>
            </a:r>
          </a:p>
          <a:p>
            <a:r>
              <a:rPr lang="en-US"/>
              <a:t>Application can have several GUI types:</a:t>
            </a:r>
          </a:p>
          <a:p>
            <a:pPr lvl="1"/>
            <a:r>
              <a:rPr lang="en-US"/>
              <a:t>windows forms, </a:t>
            </a:r>
          </a:p>
          <a:p>
            <a:pPr lvl="1"/>
            <a:r>
              <a:rPr lang="en-US"/>
              <a:t>web application, </a:t>
            </a:r>
          </a:p>
          <a:p>
            <a:pPr lvl="1"/>
            <a:r>
              <a:rPr lang="en-US"/>
              <a:t>smart devices etc.</a:t>
            </a:r>
          </a:p>
          <a:p>
            <a:pPr>
              <a:buFont typeface="Wingdings" panose="05000000000000000000" pitchFamily="2" charset="2"/>
              <a:buNone/>
            </a:pP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17411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GUI:</a:t>
            </a:r>
          </a:p>
          <a:p>
            <a:r>
              <a:rPr lang="en-US"/>
              <a:t>Technologies:</a:t>
            </a:r>
          </a:p>
          <a:p>
            <a:pPr lvl="1"/>
            <a:r>
              <a:rPr lang="en-US"/>
              <a:t>Win32, WPF</a:t>
            </a:r>
          </a:p>
          <a:p>
            <a:pPr lvl="1"/>
            <a:r>
              <a:rPr lang="en-US"/>
              <a:t>Web: ASP.Net (Web Pages, MVC), Silverlight</a:t>
            </a:r>
          </a:p>
          <a:p>
            <a:pPr lvl="1"/>
            <a:r>
              <a:rPr lang="en-US"/>
              <a:t>Web-services, WCF</a:t>
            </a:r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19459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Business Logic:</a:t>
            </a:r>
          </a:p>
          <a:p>
            <a:r>
              <a:rPr lang="en-US"/>
              <a:t>POJO – plain old java objects.</a:t>
            </a:r>
          </a:p>
          <a:p>
            <a:r>
              <a:rPr lang="en-US"/>
              <a:t>Set of classes abstracting real business case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Tiered application design</a:t>
            </a:r>
            <a:endParaRPr lang="ru-RU"/>
          </a:p>
        </p:txBody>
      </p:sp>
      <p:sp>
        <p:nvSpPr>
          <p:cNvPr id="21507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DAL:</a:t>
            </a:r>
          </a:p>
          <a:p>
            <a:r>
              <a:rPr lang="en-US"/>
              <a:t>Data Access Layer</a:t>
            </a:r>
          </a:p>
          <a:p>
            <a:r>
              <a:rPr lang="en-US"/>
              <a:t>Set of classes providing access to persistent storage (RDBMS, flat files etc.)</a:t>
            </a:r>
          </a:p>
          <a:p>
            <a:r>
              <a:rPr lang="en-US"/>
              <a:t>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ORM</a:t>
            </a:r>
          </a:p>
        </p:txBody>
      </p:sp>
      <p:sp>
        <p:nvSpPr>
          <p:cNvPr id="23555" name="Content Placeholder 2"/>
          <p:cNvSpPr>
            <a:spLocks noGrp="1"/>
          </p:cNvSpPr>
          <p:nvPr>
            <p:ph idx="1"/>
          </p:nvPr>
        </p:nvSpPr>
        <p:spPr>
          <a:xfrm>
            <a:off x="457200" y="1557338"/>
            <a:ext cx="8229600" cy="4310062"/>
          </a:xfrm>
        </p:spPr>
        <p:txBody>
          <a:bodyPr/>
          <a:lstStyle/>
          <a:p>
            <a:r>
              <a:rPr lang="en-US"/>
              <a:t>Microsoft</a:t>
            </a:r>
          </a:p>
          <a:p>
            <a:pPr lvl="1"/>
            <a:r>
              <a:rPr lang="en-US"/>
              <a:t>LINQ to SQL</a:t>
            </a:r>
          </a:p>
          <a:p>
            <a:pPr lvl="1"/>
            <a:r>
              <a:rPr lang="en-US"/>
              <a:t>Entity framework</a:t>
            </a:r>
          </a:p>
          <a:p>
            <a:pPr lvl="1"/>
            <a:r>
              <a:rPr lang="en-US"/>
              <a:t>SQL Metal</a:t>
            </a:r>
          </a:p>
          <a:p>
            <a:r>
              <a:rPr lang="en-US"/>
              <a:t>Third-party</a:t>
            </a:r>
          </a:p>
          <a:p>
            <a:pPr lvl="1"/>
            <a:r>
              <a:rPr lang="en-US"/>
              <a:t>NHibernate</a:t>
            </a:r>
          </a:p>
          <a:p>
            <a:pPr lvl="1"/>
            <a:r>
              <a:rPr lang="en-US"/>
              <a:t>DataObjects.Net</a:t>
            </a:r>
          </a:p>
          <a:p>
            <a:pPr lvl="1"/>
            <a:r>
              <a:rPr lang="en-US"/>
              <a:t>and many more</a:t>
            </a:r>
          </a:p>
          <a:p>
            <a:pPr lvl="1"/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DAL – Manager approach</a:t>
            </a:r>
            <a:endParaRPr lang="ru-RU"/>
          </a:p>
        </p:txBody>
      </p:sp>
      <p:sp>
        <p:nvSpPr>
          <p:cNvPr id="13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Manager class per DB table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Insert(</a:t>
            </a:r>
            <a:r>
              <a:rPr lang="en-US" dirty="0" err="1"/>
              <a:t>inst</a:t>
            </a:r>
            <a:r>
              <a:rPr lang="en-US" dirty="0"/>
              <a:t> as </a:t>
            </a:r>
            <a:r>
              <a:rPr lang="en-US" dirty="0" err="1"/>
              <a:t>BusinessObject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Update(</a:t>
            </a:r>
            <a:r>
              <a:rPr lang="en-US" dirty="0" err="1"/>
              <a:t>inst</a:t>
            </a:r>
            <a:r>
              <a:rPr lang="en-US" dirty="0"/>
              <a:t> as </a:t>
            </a:r>
            <a:r>
              <a:rPr lang="en-US" dirty="0" err="1"/>
              <a:t>BusinessObject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Delete(id as Integer)</a:t>
            </a:r>
          </a:p>
          <a:p>
            <a:pPr lvl="1"/>
            <a:r>
              <a:rPr lang="en-US" dirty="0" err="1"/>
              <a:t>GetById</a:t>
            </a:r>
            <a:r>
              <a:rPr lang="en-US" dirty="0"/>
              <a:t>(id as Integer)</a:t>
            </a:r>
          </a:p>
          <a:p>
            <a:pPr lvl="1"/>
            <a:r>
              <a:rPr lang="en-US" dirty="0" err="1"/>
              <a:t>GetAll</a:t>
            </a:r>
            <a:r>
              <a:rPr lang="en-US" dirty="0"/>
              <a:t>() as </a:t>
            </a:r>
            <a:r>
              <a:rPr lang="en-US" dirty="0" err="1"/>
              <a:t>ArrayList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with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with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with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with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with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DB access recap</a:t>
            </a:r>
            <a:endParaRPr lang="ru-RU"/>
          </a:p>
        </p:txBody>
      </p:sp>
      <p:sp>
        <p:nvSpPr>
          <p:cNvPr id="26627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OleDbConnection</a:t>
            </a:r>
          </a:p>
          <a:p>
            <a:r>
              <a:rPr lang="en-US"/>
              <a:t>OleDbCommand</a:t>
            </a:r>
          </a:p>
          <a:p>
            <a:r>
              <a:rPr lang="en-US"/>
              <a:t>OleDbDataReader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This semester we will use</a:t>
            </a:r>
            <a:endParaRPr lang="ru-RU"/>
          </a:p>
        </p:txBody>
      </p:sp>
      <p:sp>
        <p:nvSpPr>
          <p:cNvPr id="28675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SQLiteConnection</a:t>
            </a:r>
            <a:endParaRPr lang="en-US" dirty="0"/>
          </a:p>
          <a:p>
            <a:r>
              <a:rPr lang="en-US" dirty="0" err="1"/>
              <a:t>SQLiteCommand</a:t>
            </a:r>
            <a:endParaRPr lang="en-US" dirty="0"/>
          </a:p>
          <a:p>
            <a:r>
              <a:rPr lang="en-US" dirty="0" err="1"/>
              <a:t>SQLiteDataReader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sz="11700"/>
              <a:t>	The End</a:t>
            </a:r>
            <a:endParaRPr lang="ru-RU" sz="1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Pixel</Template>
  <TotalTime>811</TotalTime>
  <Words>263</Words>
  <Application>Microsoft Office PowerPoint</Application>
  <PresentationFormat>On-screen Show (4:3)</PresentationFormat>
  <Paragraphs>80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Times New Roman</vt:lpstr>
      <vt:lpstr>Wingdings</vt:lpstr>
      <vt:lpstr>Pixel</vt:lpstr>
      <vt:lpstr>DAL,  Three-tier architecture</vt:lpstr>
      <vt:lpstr>Objectives</vt:lpstr>
      <vt:lpstr>Tiered application design</vt:lpstr>
      <vt:lpstr>Tiered application design</vt:lpstr>
      <vt:lpstr>Three-tier architecture</vt:lpstr>
      <vt:lpstr>Tiered application design</vt:lpstr>
      <vt:lpstr>Tiered application design</vt:lpstr>
      <vt:lpstr>Tiered application design</vt:lpstr>
      <vt:lpstr>Tiered application design</vt:lpstr>
      <vt:lpstr>ORM</vt:lpstr>
      <vt:lpstr>DAL – Manager approach</vt:lpstr>
      <vt:lpstr>DB access recap</vt:lpstr>
      <vt:lpstr>This semester we will use</vt:lpstr>
      <vt:lpstr>PowerPoint Presentation</vt:lpstr>
    </vt:vector>
  </TitlesOfParts>
  <Company>WIUT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Program</dc:title>
  <dc:creator>olimjon bakirov</dc:creator>
  <cp:lastModifiedBy>Vasiliy Kuznetsov</cp:lastModifiedBy>
  <cp:revision>78</cp:revision>
  <dcterms:created xsi:type="dcterms:W3CDTF">2005-09-20T08:08:25Z</dcterms:created>
  <dcterms:modified xsi:type="dcterms:W3CDTF">2024-01-12T12:56:55Z</dcterms:modified>
</cp:coreProperties>
</file>