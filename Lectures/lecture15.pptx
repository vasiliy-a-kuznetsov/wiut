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  <p:sldMasterId id="2147483650" r:id="rId2"/>
  </p:sldMasterIdLst>
  <p:notesMasterIdLst>
    <p:notesMasterId r:id="rId24"/>
  </p:notesMasterIdLst>
  <p:sldIdLst>
    <p:sldId id="256" r:id="rId3"/>
    <p:sldId id="257" r:id="rId4"/>
    <p:sldId id="284" r:id="rId5"/>
    <p:sldId id="263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85" r:id="rId14"/>
    <p:sldId id="272" r:id="rId15"/>
    <p:sldId id="286" r:id="rId16"/>
    <p:sldId id="279" r:id="rId17"/>
    <p:sldId id="280" r:id="rId18"/>
    <p:sldId id="281" r:id="rId19"/>
    <p:sldId id="273" r:id="rId20"/>
    <p:sldId id="287" r:id="rId21"/>
    <p:sldId id="288" r:id="rId22"/>
    <p:sldId id="290" r:id="rId2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BA7-91A3-4142-835C-18E2C56628D7}" type="datetimeFigureOut">
              <a:rPr lang="en-US" smtClean="0"/>
              <a:t>2024-01-19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078BD-ECC1-47F6-BCFD-DCAA677E8E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833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545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463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827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69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5659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041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8434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1428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412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971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335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3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073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4710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01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597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8725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67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1669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9678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078BD-ECC1-47F6-BCFD-DCAA677E8E5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89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567339-1CF5-42D3-A5F3-4AC663F3CA5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874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8C6114C-BC8E-4B64-8004-5B3693C24D7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079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BF8CBF-A53A-4345-8AA2-25FDC38BD50C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72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4B3466-23BC-48A0-B0AF-DA7402051D4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371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3FF772D-C1F3-40DA-AA54-E32A4E955A1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2380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FE8FCE-3717-48BC-9646-723A8F47381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35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0CB3EEB-46D4-4C53-B42D-4A1473932C4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293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71A1E3-4A3C-4A5B-9430-4A59E8D7CF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202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4DBF77-6BED-4F14-B623-4546955AC0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078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9D10D1-C794-43CB-84B4-07E14598334C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576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5641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5641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890E4F-E4A0-430E-9FFD-661ACDECAC1C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3631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0FB7DE-1894-4894-96C8-E0824FE09A9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5298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3B6B87-D7A4-489E-BA89-C0CC8E6C1984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1892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B7EFEF-AD86-40FC-A4B0-BB6C785200B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3226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B14E78-872A-4F0E-9E01-6F837DAEB50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3176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B8CA64-4A57-4757-8A57-B8B79A455A0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57941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2EBF04-C288-4337-B761-29732F0DE7B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1263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8F86A9-ADB6-42E6-9C85-A4F944C3287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522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2894A48-49AD-4FD3-B100-EB4A4A8B431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06450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A4D7D0-34EC-4025-B0D8-EA063B033F4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447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8C3108-1AA5-46BC-B991-5EAF4539C2CC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2679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5641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5641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1FE16B-8DA8-4F72-A01B-49C6C71037E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652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1033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5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1036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7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8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9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0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1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2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3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4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5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sz="2400">
                  <a:latin typeface="Times New Roman" panose="02020603050405020304" pitchFamily="18" charset="0"/>
                </a:endParaRPr>
              </a:p>
            </p:txBody>
          </p:sp>
        </p:grpSp>
      </p:grpSp>
      <p:pic>
        <p:nvPicPr>
          <p:cNvPr id="1027" name="Picture 21" descr="PP_WIUT_Attachment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5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102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404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33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4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5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29264AFF-7C8A-4C7E-88C2-1460023A8DE9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A808D9F9-76A6-49AD-B382-A6B8045674F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grpSp>
        <p:nvGrpSpPr>
          <p:cNvPr id="205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7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58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59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0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1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2062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3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64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2065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2053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2054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404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5976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pic>
        <p:nvPicPr>
          <p:cNvPr id="2056" name="Picture 17" descr="PP_WIUT_Attachment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33800" y="2133600"/>
            <a:ext cx="4572000" cy="1470025"/>
          </a:xfrm>
        </p:spPr>
        <p:txBody>
          <a:bodyPr/>
          <a:lstStyle/>
          <a:p>
            <a:r>
              <a:rPr lang="en-US" sz="4600">
                <a:solidFill>
                  <a:srgbClr val="FFFFFF"/>
                </a:solidFill>
              </a:rPr>
              <a:t>Lecture 15</a:t>
            </a:r>
            <a:endParaRPr lang="en-US" sz="4600" dirty="0">
              <a:solidFill>
                <a:srgbClr val="FFFFFF"/>
              </a:solidFill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419600"/>
            <a:ext cx="6400800" cy="1752600"/>
          </a:xfrm>
        </p:spPr>
        <p:txBody>
          <a:bodyPr/>
          <a:lstStyle/>
          <a:p>
            <a:r>
              <a:rPr lang="en-US" sz="3400"/>
              <a:t>Arrays, Array Lists, Generics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Outcomes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458200" cy="4040188"/>
          </a:xfrm>
        </p:spPr>
        <p:txBody>
          <a:bodyPr/>
          <a:lstStyle/>
          <a:p>
            <a:r>
              <a:rPr lang="en-US" dirty="0"/>
              <a:t>Understand arrays and array lists</a:t>
            </a:r>
          </a:p>
          <a:p>
            <a:r>
              <a:rPr lang="en-US" dirty="0"/>
              <a:t>To be able to implement arrays and Array lists in C#.NET</a:t>
            </a:r>
          </a:p>
          <a:p>
            <a:r>
              <a:rPr lang="en-US" dirty="0"/>
              <a:t>To understand </a:t>
            </a:r>
            <a:r>
              <a:rPr lang="en-US" noProof="1"/>
              <a:t>System.Collections.Generic</a:t>
            </a:r>
            <a:r>
              <a:rPr lang="en-US" dirty="0"/>
              <a:t> namespace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Structures</a:t>
            </a:r>
            <a:endParaRPr lang="ru-RU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5000"/>
              <a:t>A </a:t>
            </a:r>
            <a:r>
              <a:rPr lang="ru-RU" sz="5000" b="1"/>
              <a:t>data structure</a:t>
            </a:r>
            <a:r>
              <a:rPr lang="ru-RU" sz="5000"/>
              <a:t> in computer science is a way of storing data in a computer so that it can be used efficiently.</a:t>
            </a:r>
            <a:r>
              <a:rPr lang="ru-RU"/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Arrays and Array Lists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is a set of sequentially indexed elements having the same type of data. Each element of an array has a unique identifying index number. Changes made to one element of an array do not affect the other elements.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Arrays and Array Lists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 err="1"/>
              <a:t>ArrayList</a:t>
            </a:r>
            <a:r>
              <a:rPr lang="en-US" dirty="0"/>
              <a:t> is an array that grows dynamically as more space is needed.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dirty="0"/>
              <a:t>	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Declaration: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grades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[4];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[] numbers = { 1, 2, 3, 4, 5 };</a:t>
            </a:r>
          </a:p>
          <a:p>
            <a:pPr marL="0" indent="0">
              <a:buNone/>
            </a:pPr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 names = </a:t>
            </a:r>
            <a:r>
              <a:rPr lang="nn-NO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[] {</a:t>
            </a:r>
            <a:r>
              <a:rPr lang="nn-NO" dirty="0">
                <a:solidFill>
                  <a:srgbClr val="A31515"/>
                </a:solidFill>
                <a:latin typeface="Consolas" panose="020B0609020204030204" pitchFamily="49" charset="0"/>
              </a:rPr>
              <a:t>"Anna"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nn-NO" dirty="0">
                <a:solidFill>
                  <a:srgbClr val="A31515"/>
                </a:solidFill>
                <a:latin typeface="Consolas" panose="020B0609020204030204" pitchFamily="49" charset="0"/>
              </a:rPr>
              <a:t>"Eva"</a:t>
            </a:r>
            <a:r>
              <a:rPr lang="nn-NO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Setting Array Elements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Clr>
                <a:schemeClr val="tx1"/>
              </a:buCl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names[2] =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"Raymond"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</a:p>
          <a:p>
            <a:pPr>
              <a:buClr>
                <a:schemeClr val="tx1"/>
              </a:buClr>
              <a:buNone/>
            </a:pPr>
            <a:r>
              <a:rPr lang="en-US" dirty="0"/>
              <a:t>Note: names[2] refers to 3</a:t>
            </a:r>
            <a:r>
              <a:rPr lang="en-US" baseline="30000" dirty="0"/>
              <a:t>rd</a:t>
            </a:r>
            <a:r>
              <a:rPr lang="en-US" dirty="0"/>
              <a:t> element – indexes are 0-based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Accessing Array Elements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458200" cy="404018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myName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names[2];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monthSales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sales.GetValue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(19);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 methods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b="1"/>
              <a:t>Length: </a:t>
            </a:r>
            <a:r>
              <a:rPr lang="en-US"/>
              <a:t>Returns the total number of elements in all dimensions of an array.</a:t>
            </a:r>
          </a:p>
          <a:p>
            <a:pPr>
              <a:lnSpc>
                <a:spcPct val="90000"/>
              </a:lnSpc>
            </a:pPr>
            <a:r>
              <a:rPr lang="en-US" b="1"/>
              <a:t>Rank: </a:t>
            </a:r>
            <a:r>
              <a:rPr lang="en-US"/>
              <a:t>Returns the number of dimensions of an array.</a:t>
            </a:r>
          </a:p>
          <a:p>
            <a:pPr>
              <a:lnSpc>
                <a:spcPct val="90000"/>
              </a:lnSpc>
            </a:pPr>
            <a:r>
              <a:rPr lang="en-US" b="1"/>
              <a:t>GetLength: </a:t>
            </a:r>
            <a:r>
              <a:rPr lang="en-US"/>
              <a:t>Returns the number of elements in specified dimension of an array.</a:t>
            </a:r>
          </a:p>
          <a:p>
            <a:pPr>
              <a:lnSpc>
                <a:spcPct val="90000"/>
              </a:lnSpc>
            </a:pPr>
            <a:r>
              <a:rPr lang="en-US" b="1"/>
              <a:t>GetType: </a:t>
            </a:r>
            <a:r>
              <a:rPr lang="en-US"/>
              <a:t>Returns the Type of the current array instance.</a:t>
            </a:r>
          </a:p>
          <a:p>
            <a:pPr>
              <a:lnSpc>
                <a:spcPct val="90000"/>
              </a:lnSpc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ArrayList class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 err="1"/>
              <a:t>ArrayList</a:t>
            </a:r>
            <a:r>
              <a:rPr lang="en-US" dirty="0"/>
              <a:t> object has a Capacity property that stores its size.</a:t>
            </a:r>
          </a:p>
          <a:p>
            <a:r>
              <a:rPr lang="en-US" dirty="0"/>
              <a:t>However the capacity is increased dynamically when the number of elements is growing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Members of the ArrayList Class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981200"/>
            <a:ext cx="8534400" cy="404018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en-US" b="1"/>
              <a:t>Add(): </a:t>
            </a:r>
            <a:r>
              <a:rPr lang="en-US"/>
              <a:t>Adds an element to the ArrayList.</a:t>
            </a:r>
          </a:p>
          <a:p>
            <a:pPr>
              <a:buClr>
                <a:schemeClr val="tx1"/>
              </a:buClr>
            </a:pPr>
            <a:r>
              <a:rPr lang="en-US" b="1"/>
              <a:t>AddRange(): </a:t>
            </a:r>
            <a:r>
              <a:rPr lang="en-US"/>
              <a:t>Adds set of element to the ArrayList.</a:t>
            </a:r>
          </a:p>
          <a:p>
            <a:pPr>
              <a:buClr>
                <a:schemeClr val="tx1"/>
              </a:buClr>
            </a:pPr>
            <a:r>
              <a:rPr lang="en-US" b="1"/>
              <a:t>Capacity: </a:t>
            </a:r>
            <a:r>
              <a:rPr lang="en-US"/>
              <a:t>Stores the number of elements the ArrayList can hold.</a:t>
            </a:r>
          </a:p>
          <a:p>
            <a:pPr>
              <a:buClr>
                <a:schemeClr val="tx1"/>
              </a:buClr>
            </a:pPr>
            <a:r>
              <a:rPr lang="en-US" b="1"/>
              <a:t>Clear(): </a:t>
            </a:r>
            <a:r>
              <a:rPr lang="en-US"/>
              <a:t>Removes all elements from the ArrayList.</a:t>
            </a:r>
          </a:p>
          <a:p>
            <a:pPr>
              <a:buClr>
                <a:schemeClr val="tx1"/>
              </a:buClr>
            </a:pPr>
            <a:r>
              <a:rPr lang="en-US" b="1"/>
              <a:t>Contains(): </a:t>
            </a:r>
            <a:r>
              <a:rPr lang="en-US"/>
              <a:t>Determines whether a specified item is in the ArrayList.</a:t>
            </a:r>
          </a:p>
          <a:p>
            <a:pPr>
              <a:buClr>
                <a:schemeClr val="tx1"/>
              </a:buClr>
              <a:buFont typeface="Wingdings" panose="05000000000000000000" pitchFamily="2" charset="2"/>
              <a:buNone/>
            </a:pPr>
            <a:endParaRPr lang="en-US"/>
          </a:p>
          <a:p>
            <a:pPr>
              <a:buClr>
                <a:schemeClr val="tx1"/>
              </a:buClr>
              <a:buFont typeface="Wingdings" panose="05000000000000000000" pitchFamily="2" charset="2"/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Members of the ArrayList Class</a:t>
            </a:r>
          </a:p>
        </p:txBody>
      </p:sp>
      <p:sp>
        <p:nvSpPr>
          <p:cNvPr id="14339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304800" y="1981200"/>
            <a:ext cx="8610600" cy="404018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en-US" b="1"/>
              <a:t>CopyTo(): </a:t>
            </a:r>
            <a:r>
              <a:rPr lang="en-US"/>
              <a:t>Copies the ArrayList or a segment of it to an array.</a:t>
            </a:r>
          </a:p>
          <a:p>
            <a:pPr>
              <a:buClr>
                <a:schemeClr val="tx1"/>
              </a:buClr>
            </a:pPr>
            <a:r>
              <a:rPr lang="en-US" b="1"/>
              <a:t>Count: </a:t>
            </a:r>
            <a:r>
              <a:rPr lang="en-US"/>
              <a:t>Returns the number of elements currently in the ArrayList.</a:t>
            </a:r>
          </a:p>
          <a:p>
            <a:pPr>
              <a:buClr>
                <a:schemeClr val="tx1"/>
              </a:buClr>
            </a:pPr>
            <a:r>
              <a:rPr lang="en-US" b="1"/>
              <a:t>GetRange(): </a:t>
            </a:r>
            <a:r>
              <a:rPr lang="en-US"/>
              <a:t>Returns a subset of the ArrayList as an ArrayList.</a:t>
            </a:r>
          </a:p>
          <a:p>
            <a:pPr>
              <a:buClr>
                <a:schemeClr val="tx1"/>
              </a:buClr>
            </a:pPr>
            <a:r>
              <a:rPr lang="en-US" b="1"/>
              <a:t>IndexOf(): </a:t>
            </a:r>
            <a:r>
              <a:rPr lang="en-US"/>
              <a:t>Returns the index of the first occurrence of the specified item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Members of the ArrayList Class</a:t>
            </a:r>
          </a:p>
        </p:txBody>
      </p:sp>
      <p:sp>
        <p:nvSpPr>
          <p:cNvPr id="15363" name="Rectangle 4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981200"/>
            <a:ext cx="8458200" cy="4040188"/>
          </a:xfrm>
        </p:spPr>
        <p:txBody>
          <a:bodyPr/>
          <a:lstStyle/>
          <a:p>
            <a:pPr>
              <a:lnSpc>
                <a:spcPct val="90000"/>
              </a:lnSpc>
              <a:buClr>
                <a:schemeClr val="tx1"/>
              </a:buClr>
            </a:pPr>
            <a:r>
              <a:rPr lang="en-US" b="1"/>
              <a:t>Insert(): </a:t>
            </a:r>
            <a:r>
              <a:rPr lang="en-US"/>
              <a:t>Inserts an element into the ArrayList at a specified index.</a:t>
            </a:r>
          </a:p>
          <a:p>
            <a:pPr>
              <a:lnSpc>
                <a:spcPct val="90000"/>
              </a:lnSpc>
              <a:buClr>
                <a:schemeClr val="tx1"/>
              </a:buClr>
            </a:pPr>
            <a:r>
              <a:rPr lang="en-US" b="1"/>
              <a:t>InsertRange(): </a:t>
            </a:r>
            <a:r>
              <a:rPr lang="en-US"/>
              <a:t>Inserts the elements of a collection into the ArrayList starting at the specified index.</a:t>
            </a:r>
          </a:p>
          <a:p>
            <a:pPr>
              <a:lnSpc>
                <a:spcPct val="90000"/>
              </a:lnSpc>
              <a:buClr>
                <a:schemeClr val="tx1"/>
              </a:buClr>
            </a:pPr>
            <a:r>
              <a:rPr lang="en-US" b="1"/>
              <a:t>Item(): </a:t>
            </a:r>
            <a:r>
              <a:rPr lang="en-US"/>
              <a:t>Gets or sets an element at the specified index.</a:t>
            </a:r>
          </a:p>
          <a:p>
            <a:pPr>
              <a:lnSpc>
                <a:spcPct val="90000"/>
              </a:lnSpc>
              <a:buClr>
                <a:schemeClr val="tx1"/>
              </a:buClr>
            </a:pPr>
            <a:r>
              <a:rPr lang="en-US" b="1"/>
              <a:t>Remove(): </a:t>
            </a:r>
            <a:r>
              <a:rPr lang="en-US"/>
              <a:t>Removes the first occurrence of the specified item.</a:t>
            </a:r>
          </a:p>
          <a:p>
            <a:pPr>
              <a:lnSpc>
                <a:spcPct val="90000"/>
              </a:lnSpc>
              <a:buClr>
                <a:schemeClr val="tx1"/>
              </a:buClr>
            </a:pPr>
            <a:r>
              <a:rPr lang="en-US" b="1"/>
              <a:t>RemoveAt(): </a:t>
            </a:r>
            <a:r>
              <a:rPr lang="en-US"/>
              <a:t>Removes an element at the specified 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Members of the ArrayList Class</a:t>
            </a:r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304800" y="1981200"/>
            <a:ext cx="8534400" cy="404018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en-US" b="1" dirty="0"/>
              <a:t>Reverse(): </a:t>
            </a:r>
            <a:r>
              <a:rPr lang="en-US" dirty="0"/>
              <a:t>Reverses the order of the elements in the </a:t>
            </a:r>
            <a:r>
              <a:rPr lang="en-US" dirty="0" err="1"/>
              <a:t>ArrayList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r>
              <a:rPr lang="en-US" b="1" dirty="0"/>
              <a:t>Sort(): </a:t>
            </a:r>
            <a:r>
              <a:rPr lang="en-US" dirty="0"/>
              <a:t>Alphabetically sorts the elements in the </a:t>
            </a:r>
            <a:r>
              <a:rPr lang="en-US" dirty="0" err="1"/>
              <a:t>ArrayList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r>
              <a:rPr lang="en-US" b="1" dirty="0" err="1"/>
              <a:t>ToArray</a:t>
            </a:r>
            <a:r>
              <a:rPr lang="en-US" b="1" dirty="0"/>
              <a:t>(): </a:t>
            </a:r>
            <a:r>
              <a:rPr lang="en-US" dirty="0"/>
              <a:t>Copies the elements of the </a:t>
            </a:r>
            <a:r>
              <a:rPr lang="en-US" dirty="0" err="1"/>
              <a:t>ArrayList</a:t>
            </a:r>
            <a:r>
              <a:rPr lang="en-US" dirty="0"/>
              <a:t> to an array.</a:t>
            </a:r>
          </a:p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Declaration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grades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ArrayList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Adding an element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grades.Add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(100);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grades.Add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(84);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ArrayList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dirty="0"/>
              <a:t>Insert element</a:t>
            </a:r>
          </a:p>
          <a:p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grades.Insert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(1, 99);</a:t>
            </a:r>
          </a:p>
          <a:p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grades.Insert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(3, 80);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Note: indexes are 0-based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dirty="0"/>
              <a:t>Remove element</a:t>
            </a:r>
          </a:p>
          <a:p>
            <a:pPr>
              <a:lnSpc>
                <a:spcPct val="90000"/>
              </a:lnSpc>
            </a:pP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grades.RemoveAt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(2);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Arrays vs. ArrayLists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Arrays are faster when access by index is required</a:t>
            </a:r>
          </a:p>
          <a:p>
            <a:r>
              <a:rPr lang="en-US" dirty="0" err="1"/>
              <a:t>ArrayLists</a:t>
            </a:r>
            <a:r>
              <a:rPr lang="en-US" dirty="0"/>
              <a:t> work faster when new elements are inserted</a:t>
            </a:r>
          </a:p>
          <a:p>
            <a:pPr lvl="1"/>
            <a:r>
              <a:rPr lang="en-US" dirty="0"/>
              <a:t>comparing to {create bigger + copy over + kill}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System.Collections.Generic</a:t>
            </a:r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229600" cy="1676400"/>
          </a:xfrm>
        </p:spPr>
        <p:txBody>
          <a:bodyPr/>
          <a:lstStyle/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sz="2800"/>
              <a:t>	The problem with ArrayList is that it stores all elements as Objects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sz="2800"/>
              <a:t>	That allows unpredictable behavior: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sz="2800"/>
              <a:t>	</a:t>
            </a:r>
          </a:p>
        </p:txBody>
      </p:sp>
      <p:sp>
        <p:nvSpPr>
          <p:cNvPr id="21508" name="Rectangle 8"/>
          <p:cNvSpPr>
            <a:spLocks noChangeArrowheads="1"/>
          </p:cNvSpPr>
          <p:nvPr/>
        </p:nvSpPr>
        <p:spPr bwMode="auto">
          <a:xfrm>
            <a:off x="685800" y="3235968"/>
            <a:ext cx="8077200" cy="16989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students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ArrayList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students.Add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Student(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"Anna"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students.Add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"Mike"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aStudent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(Student)students[1];</a:t>
            </a:r>
            <a:endParaRPr lang="en-US" sz="1800" dirty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System.Collections.Generic</a:t>
            </a:r>
            <a:endParaRPr lang="en-US"/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dirty="0"/>
              <a:t>	Since </a:t>
            </a:r>
            <a:r>
              <a:rPr lang="en-US" dirty="0" err="1"/>
              <a:t>.Net</a:t>
            </a:r>
            <a:r>
              <a:rPr lang="en-US" dirty="0"/>
              <a:t> 2.0 </a:t>
            </a:r>
            <a:r>
              <a:rPr lang="en-US" noProof="1"/>
              <a:t>System.Collections.Generic</a:t>
            </a:r>
            <a:r>
              <a:rPr lang="en-US" dirty="0"/>
              <a:t> namespace allows creation of typed </a:t>
            </a:r>
            <a:r>
              <a:rPr lang="en-US" dirty="0" err="1"/>
              <a:t>ArrayLists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students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List&lt;Student&gt;();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names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List&lt;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&gt;();</a:t>
            </a:r>
            <a:endParaRPr lang="en-US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sz="11700"/>
              <a:t>	The End</a:t>
            </a:r>
            <a:endParaRPr lang="ru-RU" sz="1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Pixel">
  <a:themeElements>
    <a:clrScheme name="1_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1_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lecture1</Template>
  <TotalTime>3098</TotalTime>
  <Words>710</Words>
  <Application>Microsoft Office PowerPoint</Application>
  <PresentationFormat>On-screen Show (4:3)</PresentationFormat>
  <Paragraphs>105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Arial Black</vt:lpstr>
      <vt:lpstr>Calibri</vt:lpstr>
      <vt:lpstr>Consolas</vt:lpstr>
      <vt:lpstr>Courier New</vt:lpstr>
      <vt:lpstr>Times New Roman</vt:lpstr>
      <vt:lpstr>Wingdings</vt:lpstr>
      <vt:lpstr>1_Pixel</vt:lpstr>
      <vt:lpstr>Pixel</vt:lpstr>
      <vt:lpstr>Lecture 15</vt:lpstr>
      <vt:lpstr>Outcomes</vt:lpstr>
      <vt:lpstr>Data Structures</vt:lpstr>
      <vt:lpstr>Arrays and Array Lists</vt:lpstr>
      <vt:lpstr>Arrays and Array Lists</vt:lpstr>
      <vt:lpstr>Arrays</vt:lpstr>
      <vt:lpstr>Setting Array Elements</vt:lpstr>
      <vt:lpstr>Accessing Array Elements</vt:lpstr>
      <vt:lpstr>Array methods</vt:lpstr>
      <vt:lpstr>ArrayList class</vt:lpstr>
      <vt:lpstr>Members of the ArrayList Class</vt:lpstr>
      <vt:lpstr>Members of the ArrayList Class</vt:lpstr>
      <vt:lpstr>Members of the ArrayList Class</vt:lpstr>
      <vt:lpstr>Members of the ArrayList Class</vt:lpstr>
      <vt:lpstr>Declaration</vt:lpstr>
      <vt:lpstr>Adding an element</vt:lpstr>
      <vt:lpstr>ArrayList</vt:lpstr>
      <vt:lpstr>Arrays vs. ArrayLists</vt:lpstr>
      <vt:lpstr>System.Collections.Generic</vt:lpstr>
      <vt:lpstr>System.Collections.Generic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Basil</dc:creator>
  <cp:lastModifiedBy>Vasiliy Kuznetsov</cp:lastModifiedBy>
  <cp:revision>27</cp:revision>
  <cp:lastPrinted>1601-01-01T00:00:00Z</cp:lastPrinted>
  <dcterms:created xsi:type="dcterms:W3CDTF">1601-01-01T00:00:00Z</dcterms:created>
  <dcterms:modified xsi:type="dcterms:W3CDTF">2024-01-19T11:33:31Z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