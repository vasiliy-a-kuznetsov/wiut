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71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90" r:id="rId20"/>
    <p:sldId id="291" r:id="rId21"/>
    <p:sldId id="292" r:id="rId22"/>
    <p:sldId id="270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EEE"/>
    <a:srgbClr val="F2F2F2"/>
    <a:srgbClr val="358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>
        <p:guide orient="horz" pos="95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7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D7DEE-5312-4C23-BF9D-CEE6AA43FDA7}" type="datetimeFigureOut">
              <a:rPr lang="ru-RU" smtClean="0"/>
              <a:t>10.01.2025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33E4F-C868-4D44-AC30-8AEA639D4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5264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A2733B-51EE-F674-C628-1F90FFB250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671545"/>
            <a:ext cx="105156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" dirty="0"/>
              <a:t>PRESENTATION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4151220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E07DD49-C310-E4D0-AD52-96E34968CD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4560" y="867420"/>
            <a:ext cx="2402881" cy="1392830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08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F199F8-BC65-3557-878B-6D38F25C56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682560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4162235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60" y="429394"/>
            <a:ext cx="2402881" cy="1953883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1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9061EA6-9975-07F8-8A83-81823CDEE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99630"/>
            <a:ext cx="12192000" cy="557670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5008049"/>
            <a:ext cx="10515599" cy="10682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sp>
        <p:nvSpPr>
          <p:cNvPr id="12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01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9061EA6-9975-07F8-8A83-81823CDEE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99630"/>
            <a:ext cx="12192000" cy="5576705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5008049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</p:spTree>
    <p:extLst>
      <p:ext uri="{BB962C8B-B14F-4D97-AF65-F5344CB8AC3E}">
        <p14:creationId xmlns:p14="http://schemas.microsoft.com/office/powerpoint/2010/main" val="428725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F199F8-BC65-3557-878B-6D38F25C56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319003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3798678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60" y="429394"/>
            <a:ext cx="2402881" cy="1953882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36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714500"/>
            <a:ext cx="5074557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8578173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also split your content</a:t>
            </a:r>
            <a:endParaRPr dirty="0"/>
          </a:p>
        </p:txBody>
      </p:sp>
      <p:sp>
        <p:nvSpPr>
          <p:cNvPr id="9" name="Google Shape;146;p19">
            <a:extLst>
              <a:ext uri="{FF2B5EF4-FFF2-40B4-BE49-F238E27FC236}">
                <a16:creationId xmlns:a16="http://schemas.microsoft.com/office/drawing/2014/main" id="{1A3271C3-5EB1-33E0-AD0F-C686F31E636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Black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ebony and of outer space. It has been the symbolic color of elegance, solemnity and authority.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14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280644-DFCA-A39E-6662-615C37F73B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0" r="3233"/>
          <a:stretch/>
        </p:blipFill>
        <p:spPr>
          <a:xfrm>
            <a:off x="6806594" y="0"/>
            <a:ext cx="5385406" cy="584444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F9CA98-FE23-6C0C-C5CC-498BF27477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5" r="83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2" y="2056024"/>
            <a:ext cx="5129980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4857519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</a:t>
            </a:r>
            <a:endParaRPr dirty="0"/>
          </a:p>
        </p:txBody>
      </p:sp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88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2056020"/>
            <a:ext cx="5129981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4725317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</a:t>
            </a:r>
            <a:endParaRPr dirty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60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58718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44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головок и объект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67545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1" y="700391"/>
            <a:ext cx="1634857" cy="400373"/>
          </a:xfrm>
          <a:prstGeom prst="rect">
            <a:avLst/>
          </a:prstGeom>
        </p:spPr>
      </p:pic>
      <p:sp>
        <p:nvSpPr>
          <p:cNvPr id="11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131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646267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E65376-C484-7E39-4F18-93A9C81E25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3186"/>
            <a:ext cx="12192000" cy="23159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58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bg>
      <p:bgPr>
        <a:solidFill>
          <a:srgbClr val="EC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8790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82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bg>
      <p:bgPr>
        <a:solidFill>
          <a:srgbClr val="EC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624" y="1714500"/>
            <a:ext cx="5074557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699" y="474531"/>
            <a:ext cx="8561586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also split your content</a:t>
            </a:r>
            <a:endParaRPr dirty="0"/>
          </a:p>
        </p:txBody>
      </p:sp>
      <p:sp>
        <p:nvSpPr>
          <p:cNvPr id="9" name="Google Shape;146;p19">
            <a:extLst>
              <a:ext uri="{FF2B5EF4-FFF2-40B4-BE49-F238E27FC236}">
                <a16:creationId xmlns:a16="http://schemas.microsoft.com/office/drawing/2014/main" id="{1A3271C3-5EB1-33E0-AD0F-C686F31E636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Black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ebony and of outer space. It has been the symbolic color of elegance, solemnity and authority.</a:t>
            </a:r>
            <a:endParaRPr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198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4899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 two or three columns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10" name="Google Shape;153;p20">
            <a:extLst>
              <a:ext uri="{FF2B5EF4-FFF2-40B4-BE49-F238E27FC236}">
                <a16:creationId xmlns:a16="http://schemas.microsoft.com/office/drawing/2014/main" id="{42D3C5AD-203C-06E8-B308-7570F0188A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Yellow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gold, butter and ripe lemons. In the spectrum of visible light, yellow is found between green and orange.</a:t>
            </a:r>
            <a:endParaRPr dirty="0"/>
          </a:p>
        </p:txBody>
      </p:sp>
      <p:sp>
        <p:nvSpPr>
          <p:cNvPr id="15" name="Google Shape;154;p20">
            <a:extLst>
              <a:ext uri="{FF2B5EF4-FFF2-40B4-BE49-F238E27FC236}">
                <a16:creationId xmlns:a16="http://schemas.microsoft.com/office/drawing/2014/main" id="{93774569-09A6-3D2C-E96E-EB2A8880292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450326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Blue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colour of the clear sky and the deep sea. It is located between violet and green on the optical spectrum.</a:t>
            </a:r>
            <a:endParaRPr dirty="0"/>
          </a:p>
        </p:txBody>
      </p:sp>
      <p:sp>
        <p:nvSpPr>
          <p:cNvPr id="16" name="Google Shape;155;p20">
            <a:extLst>
              <a:ext uri="{FF2B5EF4-FFF2-40B4-BE49-F238E27FC236}">
                <a16:creationId xmlns:a16="http://schemas.microsoft.com/office/drawing/2014/main" id="{12B6BEED-76B3-42F1-1655-75B4633AFEF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8062452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Red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blood, and because of this it has historically been associated with sacrifice, danger and courage. 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17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1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3">
            <a:extLst>
              <a:ext uri="{FF2B5EF4-FFF2-40B4-BE49-F238E27FC236}">
                <a16:creationId xmlns:a16="http://schemas.microsoft.com/office/drawing/2014/main" id="{86C3C5BA-7D7F-4C3F-2640-8F638B45F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1F200A8-E1A7-4435-83E2-162A61D52FA6}" type="datetime1">
              <a:rPr lang="ru-RU" smtClean="0"/>
              <a:t>10.01.2025</a:t>
            </a:fld>
            <a:endParaRPr lang="ru-RU" dirty="0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1FF6D44D-D6D0-493E-4D28-4910FD037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4BCEA065-B04F-95C1-710E-80D4D07F3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925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4" r:id="rId3"/>
    <p:sldLayoutId id="2147483665" r:id="rId4"/>
    <p:sldLayoutId id="2147483663" r:id="rId5"/>
    <p:sldLayoutId id="2147483650" r:id="rId6"/>
    <p:sldLayoutId id="2147483666" r:id="rId7"/>
    <p:sldLayoutId id="2147483671" r:id="rId8"/>
    <p:sldLayoutId id="2147483662" r:id="rId9"/>
    <p:sldLayoutId id="2147483670" r:id="rId10"/>
    <p:sldLayoutId id="2147483669" r:id="rId11"/>
    <p:sldLayoutId id="2147483668" r:id="rId12"/>
    <p:sldLayoutId id="2147483667" r:id="rId13"/>
    <p:sldLayoutId id="2147483661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CDC59-877C-90A9-C652-0BE567D7F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341" y="1671545"/>
            <a:ext cx="10972799" cy="2387600"/>
          </a:xfrm>
        </p:spPr>
        <p:txBody>
          <a:bodyPr/>
          <a:lstStyle/>
          <a:p>
            <a:r>
              <a:rPr lang="en" dirty="0"/>
              <a:t>Fundamentals of Programming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886D810-431C-E147-2D52-2B768F306D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15</a:t>
            </a:r>
          </a:p>
          <a:p>
            <a:r>
              <a:rPr lang="en-US" sz="2400" dirty="0"/>
              <a:t>Arrays, Array Lists, Generics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504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Understand arrays and array lists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To be able to implement arrays and Array lists in C#.NET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To understand </a:t>
            </a:r>
            <a:r>
              <a:rPr lang="en-US" altLang="en-US" sz="3200" dirty="0" err="1"/>
              <a:t>System.Collections.Generic</a:t>
            </a:r>
            <a:r>
              <a:rPr lang="en-US" altLang="en-US" sz="3200" dirty="0"/>
              <a:t> namespace</a:t>
            </a:r>
          </a:p>
        </p:txBody>
      </p:sp>
    </p:spTree>
    <p:extLst>
      <p:ext uri="{BB962C8B-B14F-4D97-AF65-F5344CB8AC3E}">
        <p14:creationId xmlns:p14="http://schemas.microsoft.com/office/powerpoint/2010/main" val="663812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/>
            <a:r>
              <a:rPr lang="en-GB" sz="2800" dirty="0"/>
              <a:t>A </a:t>
            </a:r>
            <a:r>
              <a:rPr lang="en-GB" sz="2800" b="1" dirty="0"/>
              <a:t>data structure</a:t>
            </a:r>
            <a:r>
              <a:rPr lang="en-GB" sz="2800" dirty="0"/>
              <a:t> in computer science is a way of storing data in a computer so that it can be used efficiently.</a:t>
            </a:r>
            <a:r>
              <a:rPr lang="en-GB" sz="4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4155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and Array Lists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/>
            <a:r>
              <a:rPr lang="en-US" sz="2800" b="1" dirty="0"/>
              <a:t>Array</a:t>
            </a:r>
            <a:r>
              <a:rPr lang="en-US" sz="2800" dirty="0"/>
              <a:t> is a set of sequentially indexed elements having the same type of data</a:t>
            </a:r>
          </a:p>
          <a:p>
            <a:pPr algn="just"/>
            <a:r>
              <a:rPr lang="en-US" sz="2800" dirty="0"/>
              <a:t>Each element of an array has a unique identifying index number</a:t>
            </a:r>
          </a:p>
          <a:p>
            <a:pPr algn="just"/>
            <a:r>
              <a:rPr lang="en-US" sz="2800" dirty="0"/>
              <a:t>Changes made to one element of an array do not affect the other elements</a:t>
            </a:r>
          </a:p>
        </p:txBody>
      </p:sp>
    </p:spTree>
    <p:extLst>
      <p:ext uri="{BB962C8B-B14F-4D97-AF65-F5344CB8AC3E}">
        <p14:creationId xmlns:p14="http://schemas.microsoft.com/office/powerpoint/2010/main" val="1541154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and Array Lists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/>
            <a:r>
              <a:rPr lang="en-US" sz="2800" dirty="0"/>
              <a:t>An </a:t>
            </a:r>
            <a:r>
              <a:rPr lang="en-US" sz="2800" b="1" dirty="0" err="1"/>
              <a:t>ArrayList</a:t>
            </a:r>
            <a:r>
              <a:rPr lang="en-US" sz="2800" dirty="0"/>
              <a:t> is an array that grows dynamically as more space is needed</a:t>
            </a:r>
          </a:p>
        </p:txBody>
      </p:sp>
    </p:spTree>
    <p:extLst>
      <p:ext uri="{BB962C8B-B14F-4D97-AF65-F5344CB8AC3E}">
        <p14:creationId xmlns:p14="http://schemas.microsoft.com/office/powerpoint/2010/main" val="478089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Declaration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grades =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[4];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[] numbers = { 1, 2, 3, 4, 5 };</a:t>
            </a:r>
          </a:p>
          <a:p>
            <a:pPr marL="0" indent="0">
              <a:buNone/>
            </a:pPr>
            <a:r>
              <a:rPr lang="nn-NO" sz="32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nn-NO" sz="3200" dirty="0">
                <a:solidFill>
                  <a:srgbClr val="000000"/>
                </a:solidFill>
                <a:latin typeface="Consolas" panose="020B0609020204030204" pitchFamily="49" charset="0"/>
              </a:rPr>
              <a:t> names = </a:t>
            </a:r>
            <a:r>
              <a:rPr lang="nn-NO" sz="3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n-NO" sz="3200" dirty="0">
                <a:solidFill>
                  <a:srgbClr val="000000"/>
                </a:solidFill>
                <a:latin typeface="Consolas" panose="020B0609020204030204" pitchFamily="49" charset="0"/>
              </a:rPr>
              <a:t>[] {</a:t>
            </a:r>
            <a:r>
              <a:rPr lang="nn-NO" sz="3200" dirty="0">
                <a:solidFill>
                  <a:srgbClr val="A31515"/>
                </a:solidFill>
                <a:latin typeface="Consolas" panose="020B0609020204030204" pitchFamily="49" charset="0"/>
              </a:rPr>
              <a:t>"Anna"</a:t>
            </a:r>
            <a:r>
              <a:rPr lang="nn-NO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n-NO" sz="3200" dirty="0">
                <a:solidFill>
                  <a:srgbClr val="A31515"/>
                </a:solidFill>
                <a:latin typeface="Consolas" panose="020B0609020204030204" pitchFamily="49" charset="0"/>
              </a:rPr>
              <a:t>"Eva"</a:t>
            </a:r>
            <a:r>
              <a:rPr lang="nn-NO" sz="3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1790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Setting Array Elements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buClr>
                <a:schemeClr val="tx1"/>
              </a:buClr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names[2] = </a:t>
            </a:r>
            <a:r>
              <a:rPr lang="en-US" sz="3200" dirty="0">
                <a:solidFill>
                  <a:srgbClr val="A31515"/>
                </a:solidFill>
                <a:latin typeface="Consolas" panose="020B0609020204030204" pitchFamily="49" charset="0"/>
              </a:rPr>
              <a:t>"Raymond"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>
              <a:buClr>
                <a:schemeClr val="tx1"/>
              </a:buClr>
              <a:buNone/>
            </a:pP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Clr>
                <a:schemeClr val="tx1"/>
              </a:buClr>
              <a:buNone/>
            </a:pP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Clr>
                <a:schemeClr val="tx1"/>
              </a:buClr>
              <a:buNone/>
            </a:pP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Clr>
                <a:schemeClr val="tx1"/>
              </a:buClr>
              <a:buNone/>
            </a:pP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Clr>
                <a:schemeClr val="tx1"/>
              </a:buClr>
              <a:buNone/>
            </a:pP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Clr>
                <a:schemeClr val="tx1"/>
              </a:buClr>
              <a:buNone/>
            </a:pPr>
            <a:r>
              <a:rPr lang="en-US" sz="2800" dirty="0"/>
              <a:t>Note: names[2] refers to 3</a:t>
            </a:r>
            <a:r>
              <a:rPr lang="en-US" sz="2800" baseline="30000" dirty="0"/>
              <a:t>rd</a:t>
            </a:r>
            <a:r>
              <a:rPr lang="en-US" sz="2800" dirty="0"/>
              <a:t> element – indexes are 0-based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93455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Accessing Array Elements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myName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names[2];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monthSales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sales.GetValue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(19);</a:t>
            </a:r>
            <a:endParaRPr lang="en-US" sz="32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504917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methods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Length 		</a:t>
            </a:r>
            <a:r>
              <a:rPr lang="en-US" sz="2800" dirty="0"/>
              <a:t>Total number of elements in all dimensions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Rank		</a:t>
            </a:r>
            <a:r>
              <a:rPr lang="en-US" sz="2800" dirty="0"/>
              <a:t>Number of dimensions of an array</a:t>
            </a:r>
          </a:p>
          <a:p>
            <a:pPr>
              <a:lnSpc>
                <a:spcPct val="150000"/>
              </a:lnSpc>
            </a:pPr>
            <a:r>
              <a:rPr lang="en-US" sz="2800" b="1" dirty="0" err="1"/>
              <a:t>GetLength</a:t>
            </a:r>
            <a:r>
              <a:rPr lang="en-US" sz="2800" b="1" dirty="0"/>
              <a:t> 	</a:t>
            </a:r>
            <a:r>
              <a:rPr lang="en-US" sz="2800" dirty="0"/>
              <a:t>Number of elements in specified dimension</a:t>
            </a:r>
          </a:p>
          <a:p>
            <a:pPr>
              <a:lnSpc>
                <a:spcPct val="150000"/>
              </a:lnSpc>
            </a:pPr>
            <a:r>
              <a:rPr lang="en-US" sz="2800" b="1" dirty="0" err="1"/>
              <a:t>GetType</a:t>
            </a:r>
            <a:r>
              <a:rPr lang="en-US" sz="2800" b="1" dirty="0"/>
              <a:t>		</a:t>
            </a:r>
            <a:r>
              <a:rPr lang="en-US" sz="2800" dirty="0"/>
              <a:t>Type of the current array instance</a:t>
            </a:r>
          </a:p>
        </p:txBody>
      </p:sp>
    </p:spTree>
    <p:extLst>
      <p:ext uri="{BB962C8B-B14F-4D97-AF65-F5344CB8AC3E}">
        <p14:creationId xmlns:p14="http://schemas.microsoft.com/office/powerpoint/2010/main" val="1002716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 class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/>
            <a:r>
              <a:rPr lang="en-US" sz="2800" b="1" dirty="0" err="1"/>
              <a:t>ArrayList</a:t>
            </a:r>
            <a:r>
              <a:rPr lang="en-US" sz="2800" b="1" dirty="0"/>
              <a:t> </a:t>
            </a:r>
            <a:r>
              <a:rPr lang="en-US" sz="2800" dirty="0"/>
              <a:t>object has a Capacity property that stores its size</a:t>
            </a:r>
          </a:p>
          <a:p>
            <a:pPr algn="just"/>
            <a:r>
              <a:rPr lang="en-US" sz="2800" dirty="0"/>
              <a:t>However the capacity is increased dynamically when the number of elements is growing</a:t>
            </a:r>
          </a:p>
        </p:txBody>
      </p:sp>
    </p:spTree>
    <p:extLst>
      <p:ext uri="{BB962C8B-B14F-4D97-AF65-F5344CB8AC3E}">
        <p14:creationId xmlns:p14="http://schemas.microsoft.com/office/powerpoint/2010/main" val="3165403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Members of the </a:t>
            </a:r>
            <a:r>
              <a:rPr lang="en-US" sz="4400" dirty="0" err="1"/>
              <a:t>ArrayList</a:t>
            </a:r>
            <a:r>
              <a:rPr lang="en-US" sz="4400" dirty="0"/>
              <a:t> Class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800" b="1" dirty="0"/>
              <a:t>Add() 		</a:t>
            </a:r>
            <a:r>
              <a:rPr lang="en-US" sz="2800" dirty="0"/>
              <a:t>Adds an element to the </a:t>
            </a:r>
            <a:r>
              <a:rPr lang="en-US" sz="2800" dirty="0" err="1"/>
              <a:t>ArrayList</a:t>
            </a:r>
            <a:endParaRPr lang="en-US" sz="2800" dirty="0"/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800" b="1" dirty="0" err="1"/>
              <a:t>AddRange</a:t>
            </a:r>
            <a:r>
              <a:rPr lang="en-US" sz="2800" b="1" dirty="0"/>
              <a:t>()	</a:t>
            </a:r>
            <a:r>
              <a:rPr lang="en-US" sz="2800" dirty="0"/>
              <a:t>Adds set of element to the </a:t>
            </a:r>
            <a:r>
              <a:rPr lang="en-US" sz="2800" dirty="0" err="1"/>
              <a:t>ArrayList</a:t>
            </a:r>
            <a:endParaRPr lang="en-US" sz="2800" dirty="0"/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800" b="1" dirty="0"/>
              <a:t>Capacity		</a:t>
            </a:r>
            <a:r>
              <a:rPr lang="en-US" sz="2800" dirty="0"/>
              <a:t>Number of elements the </a:t>
            </a:r>
            <a:r>
              <a:rPr lang="en-US" sz="2800" dirty="0" err="1"/>
              <a:t>ArrayList</a:t>
            </a:r>
            <a:r>
              <a:rPr lang="en-US" sz="2800" dirty="0"/>
              <a:t> can hold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800" b="1" dirty="0"/>
              <a:t>Clear()		</a:t>
            </a:r>
            <a:r>
              <a:rPr lang="en-US" sz="2800" dirty="0"/>
              <a:t>Removes all elements from the </a:t>
            </a:r>
            <a:r>
              <a:rPr lang="en-US" sz="2800" dirty="0" err="1"/>
              <a:t>ArrayList</a:t>
            </a:r>
            <a:endParaRPr lang="en-US" sz="2800" dirty="0"/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800" b="1" dirty="0"/>
              <a:t>Contains()	</a:t>
            </a:r>
            <a:r>
              <a:rPr lang="en-US" sz="2800" dirty="0"/>
              <a:t>Checks whether a specified item is in the </a:t>
            </a:r>
            <a:r>
              <a:rPr lang="en-US" sz="2800" dirty="0" err="1"/>
              <a:t>ArrayList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08998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Members of the </a:t>
            </a:r>
            <a:r>
              <a:rPr lang="en-US" sz="4400" dirty="0" err="1"/>
              <a:t>ArrayList</a:t>
            </a:r>
            <a:r>
              <a:rPr lang="en-US" sz="4400" dirty="0"/>
              <a:t> Class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800" b="1" dirty="0" err="1"/>
              <a:t>CopyTo</a:t>
            </a:r>
            <a:r>
              <a:rPr lang="en-US" sz="2800" b="1" dirty="0"/>
              <a:t>()		</a:t>
            </a:r>
            <a:r>
              <a:rPr lang="en-US" sz="2800" dirty="0"/>
              <a:t>Copies the </a:t>
            </a:r>
            <a:r>
              <a:rPr lang="en-US" sz="2800" dirty="0" err="1"/>
              <a:t>ArrayList</a:t>
            </a:r>
            <a:r>
              <a:rPr lang="en-US" sz="2800" dirty="0"/>
              <a:t> or a segment of it to an array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800" b="1" dirty="0"/>
              <a:t>Count		</a:t>
            </a:r>
            <a:r>
              <a:rPr lang="en-US" sz="2800" dirty="0"/>
              <a:t>Number of elements currently set to the </a:t>
            </a:r>
            <a:r>
              <a:rPr lang="en-US" sz="2800" dirty="0" err="1"/>
              <a:t>ArrayList</a:t>
            </a:r>
            <a:endParaRPr lang="en-US" sz="2800" dirty="0"/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800" b="1" dirty="0" err="1"/>
              <a:t>GetRange</a:t>
            </a:r>
            <a:r>
              <a:rPr lang="en-US" sz="2800" b="1" dirty="0"/>
              <a:t>() 	</a:t>
            </a:r>
            <a:r>
              <a:rPr lang="en-US" sz="2800" dirty="0"/>
              <a:t>Returns a subset of the </a:t>
            </a:r>
            <a:r>
              <a:rPr lang="en-US" sz="2800" dirty="0" err="1"/>
              <a:t>ArrayList</a:t>
            </a:r>
            <a:r>
              <a:rPr lang="en-US" sz="2800" dirty="0"/>
              <a:t> as an </a:t>
            </a:r>
            <a:r>
              <a:rPr lang="en-US" sz="2800" dirty="0" err="1"/>
              <a:t>ArrayList</a:t>
            </a:r>
            <a:endParaRPr lang="en-US" sz="2800" dirty="0"/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800" b="1" dirty="0" err="1"/>
              <a:t>IndexOf</a:t>
            </a:r>
            <a:r>
              <a:rPr lang="en-US" sz="2800" b="1" dirty="0"/>
              <a:t>()		</a:t>
            </a:r>
            <a:r>
              <a:rPr lang="en-US" sz="2800" dirty="0"/>
              <a:t>Index of the first occurrence of the specified item</a:t>
            </a:r>
          </a:p>
        </p:txBody>
      </p:sp>
    </p:spTree>
    <p:extLst>
      <p:ext uri="{BB962C8B-B14F-4D97-AF65-F5344CB8AC3E}">
        <p14:creationId xmlns:p14="http://schemas.microsoft.com/office/powerpoint/2010/main" val="675559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Members of the </a:t>
            </a:r>
            <a:r>
              <a:rPr lang="en-US" sz="4400" dirty="0" err="1"/>
              <a:t>ArrayList</a:t>
            </a:r>
            <a:r>
              <a:rPr lang="en-US" sz="4400" dirty="0"/>
              <a:t> Class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14500"/>
            <a:ext cx="11353799" cy="4174572"/>
          </a:xfrm>
        </p:spPr>
        <p:txBody>
          <a:bodyPr/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800" b="1" dirty="0"/>
              <a:t>Insert() 		</a:t>
            </a:r>
            <a:r>
              <a:rPr lang="en-US" sz="2800" dirty="0"/>
              <a:t>Inserts an element at a specified index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2800" b="1" dirty="0" err="1"/>
              <a:t>InsertRange</a:t>
            </a:r>
            <a:r>
              <a:rPr lang="en-US" sz="2800" b="1" dirty="0"/>
              <a:t>() 	</a:t>
            </a:r>
            <a:r>
              <a:rPr lang="en-US" sz="2800" dirty="0"/>
              <a:t>Inserts all elements of another collection at the 				specified index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800" b="1" dirty="0"/>
              <a:t>Item()		</a:t>
            </a:r>
            <a:r>
              <a:rPr lang="en-US" sz="2800" dirty="0"/>
              <a:t>Gets or sets an element at the specified index.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800" b="1" dirty="0"/>
              <a:t>Remove() 	</a:t>
            </a:r>
            <a:r>
              <a:rPr lang="en-US" sz="2800" dirty="0"/>
              <a:t>Removes the first occurrence of the specified item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800" b="1" dirty="0" err="1"/>
              <a:t>RemoveAt</a:t>
            </a:r>
            <a:r>
              <a:rPr lang="en-US" sz="2800" b="1" dirty="0"/>
              <a:t>(): 	</a:t>
            </a:r>
            <a:r>
              <a:rPr lang="en-US" sz="2800" dirty="0"/>
              <a:t>Removes an element at the specified index</a:t>
            </a:r>
          </a:p>
        </p:txBody>
      </p:sp>
    </p:spTree>
    <p:extLst>
      <p:ext uri="{BB962C8B-B14F-4D97-AF65-F5344CB8AC3E}">
        <p14:creationId xmlns:p14="http://schemas.microsoft.com/office/powerpoint/2010/main" val="3818075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Members of the </a:t>
            </a:r>
            <a:r>
              <a:rPr lang="en-US" sz="4400" dirty="0" err="1"/>
              <a:t>ArrayList</a:t>
            </a:r>
            <a:r>
              <a:rPr lang="en-US" sz="4400" dirty="0"/>
              <a:t> Class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14500"/>
            <a:ext cx="11353799" cy="4174572"/>
          </a:xfrm>
        </p:spPr>
        <p:txBody>
          <a:bodyPr/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800" b="1" dirty="0"/>
              <a:t>Reverse()	</a:t>
            </a:r>
            <a:r>
              <a:rPr lang="en-US" sz="2800" dirty="0"/>
              <a:t>Reverses the order of the elements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800" b="1" dirty="0"/>
              <a:t>Sort()		</a:t>
            </a:r>
            <a:r>
              <a:rPr lang="en-US" sz="2800" dirty="0"/>
              <a:t>Alphabetically sorts the elements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800" b="1" dirty="0" err="1"/>
              <a:t>ToArray</a:t>
            </a:r>
            <a:r>
              <a:rPr lang="en-US" sz="2800" b="1" dirty="0"/>
              <a:t>()		</a:t>
            </a:r>
            <a:r>
              <a:rPr lang="en-US" sz="2800" dirty="0"/>
              <a:t>Copies all elements of the </a:t>
            </a:r>
            <a:r>
              <a:rPr lang="en-US" sz="2800" dirty="0" err="1"/>
              <a:t>ArrayList</a:t>
            </a:r>
            <a:r>
              <a:rPr lang="en-US" sz="2800" dirty="0"/>
              <a:t> to an array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13438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Declaration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grades =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ArrayList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28792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an element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grades.Add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(100);</a:t>
            </a:r>
          </a:p>
          <a:p>
            <a:pPr marL="0" indent="0">
              <a:buNone/>
            </a:pP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grades.Add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(84);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85376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Inserting element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grades.Insert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(1, 99);</a:t>
            </a:r>
          </a:p>
          <a:p>
            <a:pPr marL="0" indent="0">
              <a:buNone/>
            </a:pP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grades.Insert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(3, 80);</a:t>
            </a: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/>
              <a:t>Note: indexes are 0-based</a:t>
            </a:r>
          </a:p>
        </p:txBody>
      </p:sp>
    </p:spTree>
    <p:extLst>
      <p:ext uri="{BB962C8B-B14F-4D97-AF65-F5344CB8AC3E}">
        <p14:creationId xmlns:p14="http://schemas.microsoft.com/office/powerpoint/2010/main" val="3452948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Removing an element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grades.RemoveAt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(2);</a:t>
            </a:r>
          </a:p>
        </p:txBody>
      </p:sp>
    </p:spTree>
    <p:extLst>
      <p:ext uri="{BB962C8B-B14F-4D97-AF65-F5344CB8AC3E}">
        <p14:creationId xmlns:p14="http://schemas.microsoft.com/office/powerpoint/2010/main" val="3936829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vs. </a:t>
            </a:r>
            <a:r>
              <a:rPr lang="en-US" dirty="0" err="1"/>
              <a:t>ArrayLists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Arrays are faster when access by index is required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ArrayLists</a:t>
            </a:r>
            <a:r>
              <a:rPr lang="en-US" sz="2800" dirty="0"/>
              <a:t> work faster when new elements are inserted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compared to {create a bigger array + copy over all elements + kill old array}</a:t>
            </a:r>
          </a:p>
        </p:txBody>
      </p:sp>
    </p:spTree>
    <p:extLst>
      <p:ext uri="{BB962C8B-B14F-4D97-AF65-F5344CB8AC3E}">
        <p14:creationId xmlns:p14="http://schemas.microsoft.com/office/powerpoint/2010/main" val="2545719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System.Collections.Generic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800" dirty="0"/>
              <a:t>The problem with </a:t>
            </a:r>
            <a:r>
              <a:rPr lang="en-US" sz="2800" dirty="0" err="1"/>
              <a:t>ArrayList</a:t>
            </a:r>
            <a:r>
              <a:rPr lang="en-US" sz="2800" dirty="0"/>
              <a:t> is that it stores all elements as Objects</a:t>
            </a: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800" dirty="0"/>
              <a:t>That allows unpredictable behavior:</a:t>
            </a:r>
          </a:p>
          <a:p>
            <a:pPr>
              <a:buNone/>
            </a:pPr>
            <a:endParaRPr lang="en-US" sz="9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students =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ArrayList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students.Add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Student(</a:t>
            </a:r>
            <a:r>
              <a:rPr lang="en-US" sz="3200" dirty="0">
                <a:solidFill>
                  <a:srgbClr val="A31515"/>
                </a:solidFill>
                <a:latin typeface="Consolas" panose="020B0609020204030204" pitchFamily="49" charset="0"/>
              </a:rPr>
              <a:t>"Anna"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students.Add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3200" dirty="0">
                <a:solidFill>
                  <a:srgbClr val="A31515"/>
                </a:solidFill>
                <a:latin typeface="Consolas" panose="020B0609020204030204" pitchFamily="49" charset="0"/>
              </a:rPr>
              <a:t>"Mike"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aStudent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(Student)students[1];</a:t>
            </a:r>
            <a:endParaRPr lang="en-US" sz="32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86805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System.Collections.Generic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14500"/>
            <a:ext cx="11353799" cy="417457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sz="2800" noProof="1"/>
              <a:t>List&lt;T&gt;</a:t>
            </a:r>
            <a:r>
              <a:rPr lang="en-US" sz="2800" dirty="0"/>
              <a:t> is a strongly-typed counterpart of </a:t>
            </a:r>
            <a:r>
              <a:rPr lang="en-US" sz="2800" dirty="0" err="1"/>
              <a:t>ArrayList</a:t>
            </a:r>
            <a:endParaRPr lang="en-US" sz="2800" dirty="0"/>
          </a:p>
          <a:p>
            <a:pPr>
              <a:buFont typeface="Wingdings" panose="05000000000000000000" pitchFamily="2" charset="2"/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students =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List&lt;Student&gt;();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names =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List&lt;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  <a:endParaRPr lang="en-US" sz="3200" dirty="0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189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450F9B-C91F-8251-DBB6-902A113A00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end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585132-5E6B-6252-979D-81557B974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</p:spPr>
        <p:txBody>
          <a:bodyPr/>
          <a:lstStyle/>
          <a:p>
            <a:fld id="{24CFBF5F-D9F7-437E-8CF8-688EAF21A1C0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47918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8">
      <a:dk1>
        <a:sysClr val="windowText" lastClr="000000"/>
      </a:dk1>
      <a:lt1>
        <a:sysClr val="window" lastClr="FFFFFF"/>
      </a:lt1>
      <a:dk2>
        <a:srgbClr val="07428C"/>
      </a:dk2>
      <a:lt2>
        <a:srgbClr val="EDEDED"/>
      </a:lt2>
      <a:accent1>
        <a:srgbClr val="083FA4"/>
      </a:accent1>
      <a:accent2>
        <a:srgbClr val="ED7D31"/>
      </a:accent2>
      <a:accent3>
        <a:srgbClr val="35A8E0"/>
      </a:accent3>
      <a:accent4>
        <a:srgbClr val="FFC000"/>
      </a:accent4>
      <a:accent5>
        <a:srgbClr val="4472C4"/>
      </a:accent5>
      <a:accent6>
        <a:srgbClr val="70AD47"/>
      </a:accent6>
      <a:hlink>
        <a:srgbClr val="358A7C"/>
      </a:hlink>
      <a:folHlink>
        <a:srgbClr val="B7283C"/>
      </a:folHlink>
    </a:clrScheme>
    <a:fontScheme name="Другая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Другая 13">
      <a:dk1>
        <a:sysClr val="windowText" lastClr="000000"/>
      </a:dk1>
      <a:lt1>
        <a:sysClr val="window" lastClr="FFFFFF"/>
      </a:lt1>
      <a:dk2>
        <a:srgbClr val="264C94"/>
      </a:dk2>
      <a:lt2>
        <a:srgbClr val="35A8E0"/>
      </a:lt2>
      <a:accent1>
        <a:srgbClr val="7CB4E2"/>
      </a:accent1>
      <a:accent2>
        <a:srgbClr val="358A7C"/>
      </a:accent2>
      <a:accent3>
        <a:srgbClr val="A5A5A5"/>
      </a:accent3>
      <a:accent4>
        <a:srgbClr val="26693A"/>
      </a:accent4>
      <a:accent5>
        <a:srgbClr val="F6AC10"/>
      </a:accent5>
      <a:accent6>
        <a:srgbClr val="B7283C"/>
      </a:accent6>
      <a:hlink>
        <a:srgbClr val="358A7C"/>
      </a:hlink>
      <a:folHlink>
        <a:srgbClr val="B7283C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1606</TotalTime>
  <Words>768</Words>
  <Application>Microsoft Office PowerPoint</Application>
  <PresentationFormat>Widescreen</PresentationFormat>
  <Paragraphs>136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Consolas</vt:lpstr>
      <vt:lpstr>Courier New</vt:lpstr>
      <vt:lpstr>Wingdings</vt:lpstr>
      <vt:lpstr>Тема Office</vt:lpstr>
      <vt:lpstr>Fundamentals of Programming</vt:lpstr>
      <vt:lpstr>Agenda</vt:lpstr>
      <vt:lpstr>Data Structures</vt:lpstr>
      <vt:lpstr>Arrays and Array Lists</vt:lpstr>
      <vt:lpstr>Arrays and Array Lists</vt:lpstr>
      <vt:lpstr>Declaration</vt:lpstr>
      <vt:lpstr>Setting Array Elements</vt:lpstr>
      <vt:lpstr>Accessing Array Elements</vt:lpstr>
      <vt:lpstr>Array methods</vt:lpstr>
      <vt:lpstr>ArrayList class</vt:lpstr>
      <vt:lpstr>Members of the ArrayList Class</vt:lpstr>
      <vt:lpstr>Members of the ArrayList Class</vt:lpstr>
      <vt:lpstr>Members of the ArrayList Class</vt:lpstr>
      <vt:lpstr>Members of the ArrayList Class</vt:lpstr>
      <vt:lpstr>Declaration</vt:lpstr>
      <vt:lpstr>Adding an element</vt:lpstr>
      <vt:lpstr>Inserting element</vt:lpstr>
      <vt:lpstr>Removing an element</vt:lpstr>
      <vt:lpstr>Arrays vs. ArrayLists</vt:lpstr>
      <vt:lpstr>System.Collections.Generic</vt:lpstr>
      <vt:lpstr>System.Collections.Generic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Vasiliy Kuznetsov</cp:lastModifiedBy>
  <cp:revision>155</cp:revision>
  <dcterms:created xsi:type="dcterms:W3CDTF">2022-06-28T05:50:22Z</dcterms:created>
  <dcterms:modified xsi:type="dcterms:W3CDTF">2025-01-10T15:47:45Z</dcterms:modified>
</cp:coreProperties>
</file>