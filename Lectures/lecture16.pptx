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71" r:id="rId4"/>
    <p:sldId id="274" r:id="rId5"/>
    <p:sldId id="293" r:id="rId6"/>
    <p:sldId id="295" r:id="rId7"/>
    <p:sldId id="296" r:id="rId8"/>
    <p:sldId id="297" r:id="rId9"/>
    <p:sldId id="257" r:id="rId10"/>
    <p:sldId id="298" r:id="rId11"/>
    <p:sldId id="299" r:id="rId12"/>
    <p:sldId id="300" r:id="rId13"/>
    <p:sldId id="301" r:id="rId14"/>
    <p:sldId id="305" r:id="rId15"/>
    <p:sldId id="302" r:id="rId16"/>
    <p:sldId id="303" r:id="rId17"/>
    <p:sldId id="304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27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10.01.2025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10.01.2025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16</a:t>
            </a:r>
            <a:endParaRPr lang="en-US" dirty="0"/>
          </a:p>
          <a:p>
            <a:r>
              <a:rPr lang="en-US" sz="2400" dirty="0"/>
              <a:t>Inheritance</a:t>
            </a:r>
          </a:p>
          <a:p>
            <a:r>
              <a:rPr lang="en-US" sz="2400" dirty="0"/>
              <a:t>Sorting and searching List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Understand inheritance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Understand how sorting is implemented in C#.NET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Understand how searching is implemented in C#.NET</a:t>
            </a:r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Vs. Specialization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CA66D02-78B8-41D4-B8F7-A7C4AB23F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882" y="3911761"/>
            <a:ext cx="1657350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Apple</a:t>
            </a:r>
            <a:endParaRPr lang="ru-RU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7C8B3BB-CB7C-4A9A-A9A4-3E78E05EE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007" y="3911761"/>
            <a:ext cx="1655762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Pear</a:t>
            </a:r>
            <a:endParaRPr lang="ru-RU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CFE308A6-5B5C-411E-A4EB-FDCCCF4AF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107" y="3911761"/>
            <a:ext cx="1873250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Persimmon</a:t>
            </a:r>
            <a:endParaRPr lang="ru-RU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24AF4BDB-001B-47E3-8FB4-7071C01B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234" y="2399667"/>
            <a:ext cx="1511300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Fruit</a:t>
            </a:r>
            <a:endParaRPr lang="ru-RU" sz="1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11AC6406-53AB-4228-98F4-EFF41291A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457" y="3552986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E81BD232-3355-4854-91C4-36AFC5833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169" y="3337086"/>
            <a:ext cx="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Line 10">
            <a:extLst>
              <a:ext uri="{FF2B5EF4-FFF2-40B4-BE49-F238E27FC236}">
                <a16:creationId xmlns:a16="http://schemas.microsoft.com/office/drawing/2014/main" id="{409885D9-666C-4435-B22B-63CA4E9F3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3169" y="3552986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F4A2A1C1-62CE-4AD2-84B3-E685AE613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457" y="3552986"/>
            <a:ext cx="417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D8BDC5A7-3617-4AAB-8F29-9AB0DEFD7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1652" y="3119598"/>
            <a:ext cx="215900" cy="288925"/>
          </a:xfrm>
          <a:prstGeom prst="flowChartExtra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BADFCCCA-BD42-42F7-A9C2-337CF6E6F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32" y="2400461"/>
            <a:ext cx="1512887" cy="719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Vegetable</a:t>
            </a:r>
            <a:endParaRPr lang="ru-RU" sz="1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Line 14">
            <a:extLst>
              <a:ext uri="{FF2B5EF4-FFF2-40B4-BE49-F238E27FC236}">
                <a16:creationId xmlns:a16="http://schemas.microsoft.com/office/drawing/2014/main" id="{A25DAD6D-3120-4578-9739-0ED1F6F1C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6884" y="2208934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Line 15">
            <a:extLst>
              <a:ext uri="{FF2B5EF4-FFF2-40B4-BE49-F238E27FC236}">
                <a16:creationId xmlns:a16="http://schemas.microsoft.com/office/drawing/2014/main" id="{EB01F140-A08D-4DF8-9661-7AE8D2EEF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09294" y="2184561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0203DAD4-52C5-4024-A7A3-1EBDA14AF5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6885" y="2184560"/>
            <a:ext cx="4162410" cy="182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Line 17">
            <a:extLst>
              <a:ext uri="{FF2B5EF4-FFF2-40B4-BE49-F238E27FC236}">
                <a16:creationId xmlns:a16="http://schemas.microsoft.com/office/drawing/2014/main" id="{9A7D6144-605B-4243-9ED8-0AF57082D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1732" y="1824198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AutoShape 18">
            <a:extLst>
              <a:ext uri="{FF2B5EF4-FFF2-40B4-BE49-F238E27FC236}">
                <a16:creationId xmlns:a16="http://schemas.microsoft.com/office/drawing/2014/main" id="{F62A38B8-8056-4ECF-8760-D3439BA89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214" y="1536861"/>
            <a:ext cx="215900" cy="288925"/>
          </a:xfrm>
          <a:prstGeom prst="flowChartExtra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1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Vs. Specialization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dirty="0"/>
              <a:t>The process of finding common general attributes and operations of subclasses is called </a:t>
            </a:r>
            <a:r>
              <a:rPr lang="en-US" sz="2800" b="1" dirty="0"/>
              <a:t>generalization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Specialization</a:t>
            </a:r>
            <a:r>
              <a:rPr lang="en-US" sz="2800" dirty="0"/>
              <a:t> is a process of finding a set of subclasses reflecting special classes of a class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4115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Represents specialization in Object-Oriented world</a:t>
            </a:r>
          </a:p>
          <a:p>
            <a:r>
              <a:rPr lang="en-US" sz="2800" dirty="0"/>
              <a:t>Is used to reuse the functionality of an existing class</a:t>
            </a:r>
          </a:p>
          <a:p>
            <a:r>
              <a:rPr lang="en-US" sz="2800" dirty="0">
                <a:sym typeface="Wingdings" panose="05000000000000000000" pitchFamily="2" charset="2"/>
              </a:rPr>
              <a:t>.NET supports: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single inheritance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multi-level inheritance</a:t>
            </a:r>
          </a:p>
        </p:txBody>
      </p:sp>
    </p:spTree>
    <p:extLst>
      <p:ext uri="{BB962C8B-B14F-4D97-AF65-F5344CB8AC3E}">
        <p14:creationId xmlns:p14="http://schemas.microsoft.com/office/powerpoint/2010/main" val="20264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2B91AF"/>
                </a:solidFill>
                <a:latin typeface="Consolas" panose="020B0609020204030204" pitchFamily="49" charset="0"/>
              </a:rPr>
              <a:t>ChildClass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3200" dirty="0" err="1">
                <a:solidFill>
                  <a:srgbClr val="2B91AF"/>
                </a:solidFill>
                <a:latin typeface="Consolas" panose="020B0609020204030204" pitchFamily="49" charset="0"/>
              </a:rPr>
              <a:t>BaseClass</a:t>
            </a:r>
            <a:endParaRPr lang="en-US" sz="32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3200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29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800" dirty="0"/>
              <a:t>			visible only within current class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en-US" sz="2800" dirty="0"/>
              <a:t>		visible only to class and its child classes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internal</a:t>
            </a:r>
            <a:r>
              <a:rPr lang="en-US" sz="2800" dirty="0"/>
              <a:t>			visible within current project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protected internal	</a:t>
            </a:r>
            <a:r>
              <a:rPr lang="en-US" sz="2800" dirty="0"/>
              <a:t>visible only to class and its child classes 					defined in current project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/>
              <a:t>			visible to everyone </a:t>
            </a:r>
          </a:p>
        </p:txBody>
      </p:sp>
    </p:spTree>
    <p:extLst>
      <p:ext uri="{BB962C8B-B14F-4D97-AF65-F5344CB8AC3E}">
        <p14:creationId xmlns:p14="http://schemas.microsoft.com/office/powerpoint/2010/main" val="337311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dirty="0">
                <a:sym typeface="Wingdings" panose="05000000000000000000" pitchFamily="2" charset="2"/>
              </a:rPr>
              <a:t>If a class inherits other class then the members of the class which are defined using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public</a:t>
            </a:r>
            <a:r>
              <a:rPr lang="en-US" sz="2800" dirty="0">
                <a:sym typeface="Wingdings" panose="05000000000000000000" pitchFamily="2" charset="2"/>
              </a:rPr>
              <a:t> and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protected</a:t>
            </a:r>
            <a:r>
              <a:rPr lang="en-US" sz="2800" dirty="0">
                <a:sym typeface="Wingdings" panose="05000000000000000000" pitchFamily="2" charset="2"/>
              </a:rPr>
              <a:t> (as well as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protected internal</a:t>
            </a:r>
            <a:r>
              <a:rPr lang="en-US" sz="2800" dirty="0">
                <a:sym typeface="Wingdings" panose="05000000000000000000" pitchFamily="2" charset="2"/>
              </a:rPr>
              <a:t>, if defined in the same project) modifiers can be accessed directly from the derived class</a:t>
            </a:r>
          </a:p>
        </p:txBody>
      </p:sp>
    </p:spTree>
    <p:extLst>
      <p:ext uri="{BB962C8B-B14F-4D97-AF65-F5344CB8AC3E}">
        <p14:creationId xmlns:p14="http://schemas.microsoft.com/office/powerpoint/2010/main" val="100314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Sorting List&lt;T&gt;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188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List&lt;T&gt;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800" dirty="0"/>
              <a:t>List class defines several functions to sort: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mylist.Sort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/>
              <a:t> – sorts using default comparer</a:t>
            </a:r>
          </a:p>
          <a:p>
            <a:pPr lvl="1"/>
            <a:r>
              <a:rPr lang="en-US" sz="2800" dirty="0"/>
              <a:t>Good for simple types (string, integer, date)</a:t>
            </a:r>
          </a:p>
          <a:p>
            <a:pPr lvl="1"/>
            <a:r>
              <a:rPr lang="en-US" sz="2800" dirty="0"/>
              <a:t>Does not work for complex types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mylist.Sort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ru-RU" sz="2800" dirty="0">
                <a:solidFill>
                  <a:srgbClr val="2B91AF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C</a:t>
            </a:r>
            <a:r>
              <a:rPr lang="ru-RU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omparer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</a:rPr>
              <a:t>comparer)</a:t>
            </a:r>
            <a:r>
              <a:rPr lang="en-US" sz="2800" dirty="0"/>
              <a:t> – uses specific class that knows how to compare instances of a complex class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50093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List&lt;T&gt;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ByNameComparer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IComparer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Applicant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2800" dirty="0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Compare(</a:t>
            </a:r>
            <a:r>
              <a:rPr lang="fr-FR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Applicant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fr-FR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Applicant</a:t>
            </a:r>
            <a:r>
              <a:rPr lang="fr-FR" sz="28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.Compare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x.Name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y.Name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FF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ru-RU" sz="2800" dirty="0">
              <a:solidFill>
                <a:srgbClr val="0000FF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393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Searching in List&lt;T&gt;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798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in List&lt;T&gt;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List class contains a function for searching</a:t>
            </a:r>
          </a:p>
          <a:p>
            <a:r>
              <a:rPr lang="en-US" sz="2800" dirty="0"/>
              <a:t>Note</a:t>
            </a:r>
          </a:p>
          <a:p>
            <a:pPr lvl="1"/>
            <a:r>
              <a:rPr lang="en-US" sz="2800" dirty="0"/>
              <a:t>The List must be sorted before the call</a:t>
            </a:r>
          </a:p>
          <a:p>
            <a:pPr lvl="1"/>
            <a:r>
              <a:rPr lang="en-US" sz="2800" dirty="0"/>
              <a:t>Returns the index of first match (if found) or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800" dirty="0"/>
              <a:t> (if not found)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toSearch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Applicant();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applicants.BinarySearch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toSearch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ByNameComparer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result &gt; -1 ? applicants[result] :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800" dirty="0">
              <a:solidFill>
                <a:srgbClr val="0000FF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73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LINQ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4697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LINQ – Language Integrated Query</a:t>
            </a:r>
          </a:p>
          <a:p>
            <a:r>
              <a:rPr lang="en-US" sz="2800" dirty="0"/>
              <a:t>SQL-like syntax for working with </a:t>
            </a:r>
          </a:p>
          <a:p>
            <a:pPr lvl="1"/>
            <a:r>
              <a:rPr lang="en-US" sz="2800" dirty="0"/>
              <a:t>Databases</a:t>
            </a:r>
          </a:p>
          <a:p>
            <a:pPr lvl="1"/>
            <a:r>
              <a:rPr lang="en-US" sz="2800" dirty="0"/>
              <a:t>Objects</a:t>
            </a:r>
          </a:p>
          <a:p>
            <a:pPr lvl="1"/>
            <a:r>
              <a:rPr lang="en-US" sz="2800" dirty="0"/>
              <a:t>XML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23169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– LINQ to objects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applicants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List&lt;Applicant&gt;();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sorted =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applicants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orderby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37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– LINQ to objects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In most of the cases lambda expressions are used</a:t>
            </a: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sorted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applicants.OrderBy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(a =&gt;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01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– LINQ to objects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applicants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List&lt;Applicant&gt;();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filtered =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applicants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== value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</p:txBody>
      </p:sp>
    </p:spTree>
    <p:extLst>
      <p:ext uri="{BB962C8B-B14F-4D97-AF65-F5344CB8AC3E}">
        <p14:creationId xmlns:p14="http://schemas.microsoft.com/office/powerpoint/2010/main" val="788844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1032221" cy="857400"/>
          </a:xfrm>
        </p:spPr>
        <p:txBody>
          <a:bodyPr/>
          <a:lstStyle/>
          <a:p>
            <a:r>
              <a:rPr lang="en-US" dirty="0"/>
              <a:t>Searching – LINQ to objects (lambda)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applicants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List&lt;Applicant&gt;();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filtered = applicants.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Where(a =&gt;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== value);</a:t>
            </a:r>
          </a:p>
        </p:txBody>
      </p:sp>
    </p:spTree>
    <p:extLst>
      <p:ext uri="{BB962C8B-B14F-4D97-AF65-F5344CB8AC3E}">
        <p14:creationId xmlns:p14="http://schemas.microsoft.com/office/powerpoint/2010/main" val="4149659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1032221" cy="857400"/>
          </a:xfrm>
        </p:spPr>
        <p:txBody>
          <a:bodyPr/>
          <a:lstStyle/>
          <a:p>
            <a:r>
              <a:rPr lang="en-US" dirty="0"/>
              <a:t>More complex examples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from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applicants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where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a.Name.Contains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&amp;&amp; 					  		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a.Surname.StartsWith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"b"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	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orderby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a.Address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select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a.Surname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800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697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1032221" cy="857400"/>
          </a:xfrm>
        </p:spPr>
        <p:txBody>
          <a:bodyPr/>
          <a:lstStyle/>
          <a:p>
            <a:r>
              <a:rPr lang="en-US" dirty="0"/>
              <a:t>More complex examples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result = applicants.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Where(a =&gt;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a.Name.Contains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&amp;&amp;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a.Surname.StartsWith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"b"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)).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OrderBy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(a =&gt;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a.Address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Select(a =&gt;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a.Surname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800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057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IEnumerable</a:t>
            </a:r>
            <a:r>
              <a:rPr lang="en-US" dirty="0"/>
              <a:t>&lt;T&gt;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LINQ queries return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IEnumerable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</a:p>
          <a:p>
            <a:r>
              <a:rPr lang="en-US" sz="2800" dirty="0"/>
              <a:t>Use the following functions to work with the output: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Any()	</a:t>
            </a:r>
            <a:r>
              <a:rPr lang="en-US" sz="2800" dirty="0"/>
              <a:t>		true if the result contains at least one element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Contains(a)</a:t>
            </a:r>
            <a:r>
              <a:rPr lang="en-US" sz="2800" dirty="0"/>
              <a:t> 	true if the result contains a specific instance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Count()</a:t>
            </a:r>
            <a:r>
              <a:rPr lang="en-US" sz="2800" dirty="0"/>
              <a:t> 		number of elements in the result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01836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IEnumerable</a:t>
            </a:r>
            <a:r>
              <a:rPr lang="en-US" dirty="0"/>
              <a:t>&lt;T&gt;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b="1" dirty="0" err="1"/>
              <a:t>ElementAt</a:t>
            </a:r>
            <a:r>
              <a:rPr lang="en-US" sz="2800" b="1" dirty="0"/>
              <a:t>(</a:t>
            </a:r>
            <a:r>
              <a:rPr lang="en-US" sz="2800" b="1" dirty="0" err="1"/>
              <a:t>i</a:t>
            </a:r>
            <a:r>
              <a:rPr lang="en-US" sz="2800" b="1" dirty="0"/>
              <a:t>)</a:t>
            </a:r>
            <a:r>
              <a:rPr lang="en-US" sz="2800" dirty="0"/>
              <a:t>			element at the specified index 							throws if the index is out of bounds</a:t>
            </a:r>
          </a:p>
          <a:p>
            <a:pPr algn="just"/>
            <a:r>
              <a:rPr lang="en-US" sz="2800" b="1" dirty="0" err="1"/>
              <a:t>ElementAtOrDefault</a:t>
            </a:r>
            <a:r>
              <a:rPr lang="en-US" sz="2800" b="1" dirty="0"/>
              <a:t>(</a:t>
            </a:r>
            <a:r>
              <a:rPr lang="en-US" sz="2800" b="1" dirty="0" err="1"/>
              <a:t>i</a:t>
            </a:r>
            <a:r>
              <a:rPr lang="en-US" sz="2800" b="1" dirty="0"/>
              <a:t>)</a:t>
            </a:r>
            <a:r>
              <a:rPr lang="en-US" sz="2800" dirty="0"/>
              <a:t>	same as above, but will return null 							instead of exception</a:t>
            </a:r>
          </a:p>
          <a:p>
            <a:pPr algn="just"/>
            <a:r>
              <a:rPr lang="en-US" sz="2800" b="1" dirty="0"/>
              <a:t>First() </a:t>
            </a:r>
            <a:r>
              <a:rPr lang="en-US" sz="2800" dirty="0"/>
              <a:t>				returns first element of the collection						throws if collection is empty</a:t>
            </a:r>
          </a:p>
          <a:p>
            <a:pPr algn="just"/>
            <a:r>
              <a:rPr lang="en-US" sz="2800" b="1" dirty="0" err="1"/>
              <a:t>FirstOrDefault</a:t>
            </a:r>
            <a:r>
              <a:rPr lang="en-US" sz="2800" b="1" dirty="0"/>
              <a:t>()	</a:t>
            </a:r>
            <a:r>
              <a:rPr lang="en-US" sz="2800" dirty="0"/>
              <a:t>	same as above, but will return null 							instead of exception</a:t>
            </a:r>
          </a:p>
          <a:p>
            <a:pPr algn="just"/>
            <a:r>
              <a:rPr lang="en-US" sz="2800" b="1" dirty="0"/>
              <a:t>Last(),</a:t>
            </a:r>
            <a:r>
              <a:rPr lang="en-US" sz="2800" dirty="0"/>
              <a:t> </a:t>
            </a:r>
            <a:r>
              <a:rPr lang="en-US" sz="2800" b="1" dirty="0" err="1"/>
              <a:t>LastOrDefault</a:t>
            </a:r>
            <a:r>
              <a:rPr lang="en-US" sz="2800" b="1" dirty="0"/>
              <a:t>()	</a:t>
            </a:r>
            <a:r>
              <a:rPr lang="en-US" sz="2800" dirty="0"/>
              <a:t>returns last element of the collection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71698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IEnumerable</a:t>
            </a:r>
            <a:r>
              <a:rPr lang="en-US" dirty="0"/>
              <a:t>&lt;T&gt;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 err="1"/>
              <a:t>ToArray</a:t>
            </a:r>
            <a:r>
              <a:rPr lang="en-US" sz="2800" b="1" dirty="0"/>
              <a:t>()</a:t>
            </a:r>
            <a:r>
              <a:rPr lang="en-US" sz="2800" dirty="0"/>
              <a:t>			converts result to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Array</a:t>
            </a:r>
          </a:p>
          <a:p>
            <a:pPr>
              <a:lnSpc>
                <a:spcPct val="150000"/>
              </a:lnSpc>
            </a:pPr>
            <a:r>
              <a:rPr lang="en-US" sz="2800" b="1" dirty="0" err="1"/>
              <a:t>ToList</a:t>
            </a:r>
            <a:r>
              <a:rPr lang="en-US" sz="2800" b="1" dirty="0"/>
              <a:t>()</a:t>
            </a:r>
            <a:r>
              <a:rPr lang="en-US" sz="2800" dirty="0"/>
              <a:t>			converts result to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List&lt;T&gt;</a:t>
            </a:r>
          </a:p>
        </p:txBody>
      </p:sp>
    </p:spTree>
    <p:extLst>
      <p:ext uri="{BB962C8B-B14F-4D97-AF65-F5344CB8AC3E}">
        <p14:creationId xmlns:p14="http://schemas.microsoft.com/office/powerpoint/2010/main" val="2146350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1645</TotalTime>
  <Words>966</Words>
  <Application>Microsoft Office PowerPoint</Application>
  <PresentationFormat>Widescreen</PresentationFormat>
  <Paragraphs>165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Times New Roman</vt:lpstr>
      <vt:lpstr>Wingdings</vt:lpstr>
      <vt:lpstr>Тема Office</vt:lpstr>
      <vt:lpstr>Fundamentals of Programming</vt:lpstr>
      <vt:lpstr>Agenda</vt:lpstr>
      <vt:lpstr>Generalization Vs. Specialization</vt:lpstr>
      <vt:lpstr>Generalization Vs. Specialization</vt:lpstr>
      <vt:lpstr>Inheritance</vt:lpstr>
      <vt:lpstr>Inheritance</vt:lpstr>
      <vt:lpstr>Access modifiers</vt:lpstr>
      <vt:lpstr>Inheritance</vt:lpstr>
      <vt:lpstr>Sorting List&lt;T&gt;</vt:lpstr>
      <vt:lpstr>Sorting List&lt;T&gt;</vt:lpstr>
      <vt:lpstr>Sorting List&lt;T&gt;</vt:lpstr>
      <vt:lpstr>Searching in List&lt;T&gt;</vt:lpstr>
      <vt:lpstr>Searching in List&lt;T&gt;</vt:lpstr>
      <vt:lpstr>LINQ</vt:lpstr>
      <vt:lpstr>LINQ</vt:lpstr>
      <vt:lpstr>Sorting – LINQ to objects</vt:lpstr>
      <vt:lpstr>Sorting – LINQ to objects</vt:lpstr>
      <vt:lpstr>Searching – LINQ to objects</vt:lpstr>
      <vt:lpstr>Searching – LINQ to objects (lambda)</vt:lpstr>
      <vt:lpstr>More complex examples</vt:lpstr>
      <vt:lpstr>More complex examples</vt:lpstr>
      <vt:lpstr>IEnumerable&lt;T&gt;</vt:lpstr>
      <vt:lpstr>IEnumerable&lt;T&gt;</vt:lpstr>
      <vt:lpstr>IEnumerable&lt;T&gt;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170</cp:revision>
  <dcterms:created xsi:type="dcterms:W3CDTF">2022-06-28T05:50:22Z</dcterms:created>
  <dcterms:modified xsi:type="dcterms:W3CDTF">2025-01-10T15:48:23Z</dcterms:modified>
</cp:coreProperties>
</file>