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  <p:sldMasterId id="2147483650" r:id="rId2"/>
  </p:sldMasterIdLst>
  <p:notesMasterIdLst>
    <p:notesMasterId r:id="rId24"/>
  </p:notesMasterIdLst>
  <p:sldIdLst>
    <p:sldId id="256" r:id="rId3"/>
    <p:sldId id="257" r:id="rId4"/>
    <p:sldId id="262" r:id="rId5"/>
    <p:sldId id="291" r:id="rId6"/>
    <p:sldId id="290" r:id="rId7"/>
    <p:sldId id="293" r:id="rId8"/>
    <p:sldId id="300" r:id="rId9"/>
    <p:sldId id="292" r:id="rId10"/>
    <p:sldId id="294" r:id="rId11"/>
    <p:sldId id="295" r:id="rId12"/>
    <p:sldId id="297" r:id="rId13"/>
    <p:sldId id="298" r:id="rId14"/>
    <p:sldId id="296" r:id="rId15"/>
    <p:sldId id="306" r:id="rId16"/>
    <p:sldId id="299" r:id="rId17"/>
    <p:sldId id="307" r:id="rId18"/>
    <p:sldId id="301" r:id="rId19"/>
    <p:sldId id="302" r:id="rId20"/>
    <p:sldId id="303" r:id="rId21"/>
    <p:sldId id="304" r:id="rId22"/>
    <p:sldId id="305" r:id="rId23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8" d="100"/>
          <a:sy n="108" d="100"/>
        </p:scale>
        <p:origin x="1704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F25F57-0322-4BFB-B9ED-6746F070C778}" type="datetimeFigureOut">
              <a:rPr lang="en-US" smtClean="0"/>
              <a:t>2024-01-26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8DE8D-B692-4A3B-8DB8-CB2A090F70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465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060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151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580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4994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8733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3712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398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8582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987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576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5791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085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3535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4790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2044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650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33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603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0424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9490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98DE8D-B692-4A3B-8DB8-CB2A090F70F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0399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EAAA7F9-8392-4AB8-AD77-308C11BF1D91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4749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6A887A5-667C-4749-823D-AA5EB1F4CDF1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8964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33537C-B408-49E2-928E-F1918BD0CD12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7071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4040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4040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2CA1B8E-3DD1-4FDD-A3F7-F5B6A68E324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1760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D191B58-674D-4242-922C-9A78D45A55F4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9154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9913228-9F9C-42A8-B530-10C55AC4E3E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4647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06A54B7-792F-41AE-B62A-EDE2EFDA1B8E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0212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1B028DE-608B-4157-9E1F-2B17AE37A3B8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0315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6F6E687-F8EB-415D-B57C-60CDC6F3986A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93811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061999-3378-4C99-9894-8341281B4703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71586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5641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5641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1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1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6D0BC9F-2F73-4315-BA30-1AE4D88491DE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98698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9057423-8974-40DB-A91F-176F823C715E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50307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A64223-6DA1-4CEF-BF9E-215EC7890E1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43417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ACC169-0868-4BE7-81CC-5DB873E53781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20729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4040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4040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A622D10-CEF4-4097-B529-9F20E28514BF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59290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709D5D-0361-4F99-A728-377894EAC674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27700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207162-2F03-46CF-9B34-F2A5F00A9928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8472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CFECB1-7078-4A1D-AB48-09A35930CA3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90492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9EBE53C-529F-43A0-A270-A9383C3AE77D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409852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E886088-0D3D-4C71-8600-1B79DAA03988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04721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2CFCAB9-0A1D-4045-83D3-EDD15F3C4D7E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736948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5641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5641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E268304-DDA4-4102-87AC-CC8F299E8232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6087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1033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defRPr/>
              </a:pPr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034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defRPr/>
              </a:pPr>
              <a:endParaRPr lang="en-US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1035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1036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defRPr/>
                </a:pPr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37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defRPr/>
                </a:pPr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38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defRPr/>
                </a:pPr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39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defRPr/>
                </a:pPr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40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defRPr/>
                </a:pPr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41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defRPr/>
                </a:pPr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42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defRPr/>
                </a:pPr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43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defRPr/>
                </a:pPr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44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defRPr/>
                </a:pPr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45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defRPr/>
                </a:pPr>
                <a:endParaRPr lang="en-US" sz="2400">
                  <a:latin typeface="Times New Roman" panose="02020603050405020304" pitchFamily="18" charset="0"/>
                </a:endParaRPr>
              </a:p>
            </p:txBody>
          </p:sp>
        </p:grpSp>
      </p:grpSp>
      <p:pic>
        <p:nvPicPr>
          <p:cNvPr id="1027" name="Picture 21" descr="PP_WIUT_Attachment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24750" cy="658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1029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4040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33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8400"/>
            <a:ext cx="21336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4" name="Rectangle 1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5" name="Rectangle 1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 Black" panose="020B0A04020102020204" pitchFamily="34" charset="0"/>
              </a:defRPr>
            </a:lvl1pPr>
          </a:lstStyle>
          <a:p>
            <a:pPr>
              <a:defRPr/>
            </a:pPr>
            <a:fld id="{72AF1DFE-895F-4B05-A902-7F3C17A26C30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9747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 Black" panose="020B0A04020102020204" pitchFamily="34" charset="0"/>
              </a:defRPr>
            </a:lvl1pPr>
          </a:lstStyle>
          <a:p>
            <a:pPr>
              <a:defRPr/>
            </a:pPr>
            <a:fld id="{FE502379-7D87-4DF9-A8E1-3C3541674A68}" type="slidenum">
              <a:rPr lang="ru-RU"/>
              <a:pPr>
                <a:defRPr/>
              </a:pPr>
              <a:t>‹#›</a:t>
            </a:fld>
            <a:endParaRPr lang="ru-RU"/>
          </a:p>
        </p:txBody>
      </p:sp>
      <p:grpSp>
        <p:nvGrpSpPr>
          <p:cNvPr id="2052" name="Group 4"/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2057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defRPr/>
              </a:pPr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2058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defRPr/>
              </a:pPr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2059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defRPr/>
              </a:pPr>
              <a:endParaRPr lang="en-US">
                <a:solidFill>
                  <a:schemeClr val="hlink"/>
                </a:solidFill>
              </a:endParaRPr>
            </a:p>
          </p:txBody>
        </p:sp>
        <p:sp>
          <p:nvSpPr>
            <p:cNvPr id="2060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defRPr/>
              </a:pPr>
              <a:endParaRPr lang="en-US">
                <a:solidFill>
                  <a:schemeClr val="hlink"/>
                </a:solidFill>
              </a:endParaRPr>
            </a:p>
          </p:txBody>
        </p:sp>
        <p:sp>
          <p:nvSpPr>
            <p:cNvPr id="2061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defRPr/>
              </a:pPr>
              <a:endParaRPr lang="en-US">
                <a:solidFill>
                  <a:schemeClr val="accent2"/>
                </a:solidFill>
              </a:endParaRPr>
            </a:p>
          </p:txBody>
        </p:sp>
        <p:sp>
          <p:nvSpPr>
            <p:cNvPr id="2062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defRPr/>
              </a:pPr>
              <a:endParaRPr lang="en-US">
                <a:solidFill>
                  <a:schemeClr val="hlink"/>
                </a:solidFill>
              </a:endParaRPr>
            </a:p>
          </p:txBody>
        </p:sp>
        <p:sp>
          <p:nvSpPr>
            <p:cNvPr id="2063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defRPr/>
              </a:pPr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2064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defRPr/>
              </a:pPr>
              <a:endParaRPr lang="en-US">
                <a:solidFill>
                  <a:schemeClr val="accent2"/>
                </a:solidFill>
              </a:endParaRPr>
            </a:p>
          </p:txBody>
        </p:sp>
        <p:sp>
          <p:nvSpPr>
            <p:cNvPr id="2065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defRPr/>
              </a:pPr>
              <a:endParaRPr lang="en-US">
                <a:solidFill>
                  <a:schemeClr val="accent2"/>
                </a:solidFill>
              </a:endParaRPr>
            </a:p>
          </p:txBody>
        </p:sp>
      </p:grpSp>
      <p:sp>
        <p:nvSpPr>
          <p:cNvPr id="2053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Образец заголовка</a:t>
            </a:r>
          </a:p>
        </p:txBody>
      </p:sp>
      <p:sp>
        <p:nvSpPr>
          <p:cNvPr id="2054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4040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59760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ru-RU"/>
          </a:p>
        </p:txBody>
      </p:sp>
      <p:pic>
        <p:nvPicPr>
          <p:cNvPr id="2056" name="Picture 17" descr="PP_WIUT_Attachment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24750" cy="63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886200" y="2130425"/>
            <a:ext cx="4572000" cy="1470025"/>
          </a:xfrm>
        </p:spPr>
        <p:txBody>
          <a:bodyPr/>
          <a:lstStyle/>
          <a:p>
            <a:r>
              <a:rPr lang="en-US" sz="4600">
                <a:solidFill>
                  <a:srgbClr val="FFFFFF"/>
                </a:solidFill>
              </a:rPr>
              <a:t>Lecture 16</a:t>
            </a:r>
            <a:endParaRPr lang="en-US" sz="4600" dirty="0">
              <a:solidFill>
                <a:srgbClr val="FFFFFF"/>
              </a:solidFill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419600"/>
            <a:ext cx="6400800" cy="1752600"/>
          </a:xfrm>
        </p:spPr>
        <p:txBody>
          <a:bodyPr/>
          <a:lstStyle/>
          <a:p>
            <a:r>
              <a:rPr lang="en-US" sz="3400" dirty="0"/>
              <a:t>Inheritance</a:t>
            </a:r>
          </a:p>
          <a:p>
            <a:r>
              <a:rPr lang="en-US" sz="3400" dirty="0"/>
              <a:t>Sorting and searching 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Outcomes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981200"/>
            <a:ext cx="8458200" cy="4040188"/>
          </a:xfrm>
        </p:spPr>
        <p:txBody>
          <a:bodyPr/>
          <a:lstStyle/>
          <a:p>
            <a:r>
              <a:rPr lang="en-US" dirty="0"/>
              <a:t>Understand inheritance</a:t>
            </a:r>
          </a:p>
          <a:p>
            <a:r>
              <a:rPr lang="en-US" dirty="0"/>
              <a:t>Understand how sorting is implemented in C#.NET</a:t>
            </a:r>
          </a:p>
          <a:p>
            <a:r>
              <a:rPr lang="en-US" dirty="0"/>
              <a:t>Understand how searching is implemented in C#.NET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Generalization Vs. Specialization</a:t>
            </a:r>
          </a:p>
        </p:txBody>
      </p:sp>
      <p:sp>
        <p:nvSpPr>
          <p:cNvPr id="5124" name="Rectangle 4"/>
          <p:cNvSpPr>
            <a:spLocks noChangeArrowheads="1"/>
          </p:cNvSpPr>
          <p:nvPr/>
        </p:nvSpPr>
        <p:spPr bwMode="auto">
          <a:xfrm>
            <a:off x="830263" y="5472113"/>
            <a:ext cx="1657350" cy="7207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800">
                <a:latin typeface="Times New Roman" panose="02020603050405020304" pitchFamily="18" charset="0"/>
              </a:rPr>
              <a:t>Apple</a:t>
            </a:r>
            <a:endParaRPr lang="ru-RU" sz="1800">
              <a:latin typeface="Times New Roman" panose="02020603050405020304" pitchFamily="18" charset="0"/>
            </a:endParaRPr>
          </a:p>
        </p:txBody>
      </p:sp>
      <p:sp>
        <p:nvSpPr>
          <p:cNvPr id="5125" name="Rectangle 5"/>
          <p:cNvSpPr>
            <a:spLocks noChangeArrowheads="1"/>
          </p:cNvSpPr>
          <p:nvPr/>
        </p:nvSpPr>
        <p:spPr bwMode="auto">
          <a:xfrm>
            <a:off x="2846388" y="5472113"/>
            <a:ext cx="1655762" cy="7207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800">
                <a:latin typeface="Times New Roman" panose="02020603050405020304" pitchFamily="18" charset="0"/>
              </a:rPr>
              <a:t>Pear</a:t>
            </a:r>
            <a:endParaRPr lang="ru-RU" sz="1800">
              <a:latin typeface="Times New Roman" panose="02020603050405020304" pitchFamily="18" charset="0"/>
            </a:endParaRPr>
          </a:p>
        </p:txBody>
      </p:sp>
      <p:sp>
        <p:nvSpPr>
          <p:cNvPr id="5126" name="Rectangle 6"/>
          <p:cNvSpPr>
            <a:spLocks noChangeArrowheads="1"/>
          </p:cNvSpPr>
          <p:nvPr/>
        </p:nvSpPr>
        <p:spPr bwMode="auto">
          <a:xfrm>
            <a:off x="4789488" y="5472113"/>
            <a:ext cx="1873250" cy="7207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800">
                <a:latin typeface="Times New Roman" panose="02020603050405020304" pitchFamily="18" charset="0"/>
              </a:rPr>
              <a:t>Persimmon</a:t>
            </a:r>
            <a:endParaRPr lang="ru-RU" sz="1800">
              <a:latin typeface="Times New Roman" panose="02020603050405020304" pitchFamily="18" charset="0"/>
            </a:endParaRPr>
          </a:p>
        </p:txBody>
      </p:sp>
      <p:sp>
        <p:nvSpPr>
          <p:cNvPr id="5127" name="Rectangle 7"/>
          <p:cNvSpPr>
            <a:spLocks noChangeArrowheads="1"/>
          </p:cNvSpPr>
          <p:nvPr/>
        </p:nvSpPr>
        <p:spPr bwMode="auto">
          <a:xfrm>
            <a:off x="2989263" y="3960813"/>
            <a:ext cx="1511300" cy="7207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800">
                <a:latin typeface="Times New Roman" panose="02020603050405020304" pitchFamily="18" charset="0"/>
              </a:rPr>
              <a:t>Fruit</a:t>
            </a:r>
            <a:endParaRPr lang="ru-RU" sz="1800">
              <a:latin typeface="Times New Roman" panose="02020603050405020304" pitchFamily="18" charset="0"/>
            </a:endParaRPr>
          </a:p>
        </p:txBody>
      </p:sp>
      <p:sp>
        <p:nvSpPr>
          <p:cNvPr id="5128" name="Line 8"/>
          <p:cNvSpPr>
            <a:spLocks noChangeShapeType="1"/>
          </p:cNvSpPr>
          <p:nvPr/>
        </p:nvSpPr>
        <p:spPr bwMode="auto">
          <a:xfrm>
            <a:off x="1620838" y="5113338"/>
            <a:ext cx="0" cy="358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9" name="Line 9"/>
          <p:cNvSpPr>
            <a:spLocks noChangeShapeType="1"/>
          </p:cNvSpPr>
          <p:nvPr/>
        </p:nvSpPr>
        <p:spPr bwMode="auto">
          <a:xfrm>
            <a:off x="3638550" y="4897438"/>
            <a:ext cx="0" cy="5746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0" name="Line 10"/>
          <p:cNvSpPr>
            <a:spLocks noChangeShapeType="1"/>
          </p:cNvSpPr>
          <p:nvPr/>
        </p:nvSpPr>
        <p:spPr bwMode="auto">
          <a:xfrm>
            <a:off x="5797550" y="5113338"/>
            <a:ext cx="0" cy="358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1" name="Line 11"/>
          <p:cNvSpPr>
            <a:spLocks noChangeShapeType="1"/>
          </p:cNvSpPr>
          <p:nvPr/>
        </p:nvSpPr>
        <p:spPr bwMode="auto">
          <a:xfrm>
            <a:off x="1620838" y="5113338"/>
            <a:ext cx="41767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2" name="AutoShape 12"/>
          <p:cNvSpPr>
            <a:spLocks noChangeArrowheads="1"/>
          </p:cNvSpPr>
          <p:nvPr/>
        </p:nvSpPr>
        <p:spPr bwMode="auto">
          <a:xfrm>
            <a:off x="3494088" y="4679950"/>
            <a:ext cx="215900" cy="288925"/>
          </a:xfrm>
          <a:prstGeom prst="flowChartExtra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800"/>
          </a:p>
        </p:txBody>
      </p:sp>
      <p:sp>
        <p:nvSpPr>
          <p:cNvPr id="5133" name="Rectangle 13"/>
          <p:cNvSpPr>
            <a:spLocks noChangeArrowheads="1"/>
          </p:cNvSpPr>
          <p:nvPr/>
        </p:nvSpPr>
        <p:spPr bwMode="auto">
          <a:xfrm>
            <a:off x="7021513" y="3960813"/>
            <a:ext cx="1512887" cy="71913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800">
                <a:latin typeface="Times New Roman" panose="02020603050405020304" pitchFamily="18" charset="0"/>
              </a:rPr>
              <a:t>Vegetables</a:t>
            </a:r>
            <a:endParaRPr lang="ru-RU" sz="1800">
              <a:latin typeface="Times New Roman" panose="02020603050405020304" pitchFamily="18" charset="0"/>
            </a:endParaRPr>
          </a:p>
        </p:txBody>
      </p:sp>
      <p:sp>
        <p:nvSpPr>
          <p:cNvPr id="5134" name="Line 14"/>
          <p:cNvSpPr>
            <a:spLocks noChangeShapeType="1"/>
          </p:cNvSpPr>
          <p:nvPr/>
        </p:nvSpPr>
        <p:spPr bwMode="auto">
          <a:xfrm>
            <a:off x="3709988" y="3744913"/>
            <a:ext cx="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5" name="Line 15"/>
          <p:cNvSpPr>
            <a:spLocks noChangeShapeType="1"/>
          </p:cNvSpPr>
          <p:nvPr/>
        </p:nvSpPr>
        <p:spPr bwMode="auto">
          <a:xfrm>
            <a:off x="7813675" y="3744913"/>
            <a:ext cx="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6" name="Line 16"/>
          <p:cNvSpPr>
            <a:spLocks noChangeShapeType="1"/>
          </p:cNvSpPr>
          <p:nvPr/>
        </p:nvSpPr>
        <p:spPr bwMode="auto">
          <a:xfrm>
            <a:off x="3709988" y="3744913"/>
            <a:ext cx="41036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7" name="Line 17"/>
          <p:cNvSpPr>
            <a:spLocks noChangeShapeType="1"/>
          </p:cNvSpPr>
          <p:nvPr/>
        </p:nvSpPr>
        <p:spPr bwMode="auto">
          <a:xfrm>
            <a:off x="5726113" y="3384550"/>
            <a:ext cx="0" cy="360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8" name="AutoShape 18"/>
          <p:cNvSpPr>
            <a:spLocks noChangeArrowheads="1"/>
          </p:cNvSpPr>
          <p:nvPr/>
        </p:nvSpPr>
        <p:spPr bwMode="auto">
          <a:xfrm>
            <a:off x="5581650" y="3097213"/>
            <a:ext cx="215900" cy="288925"/>
          </a:xfrm>
          <a:prstGeom prst="flowChartExtra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800"/>
          </a:p>
        </p:txBody>
      </p:sp>
      <p:sp>
        <p:nvSpPr>
          <p:cNvPr id="5139" name="Rectangle 19"/>
          <p:cNvSpPr>
            <a:spLocks noChangeArrowheads="1"/>
          </p:cNvSpPr>
          <p:nvPr/>
        </p:nvSpPr>
        <p:spPr bwMode="auto">
          <a:xfrm>
            <a:off x="4718050" y="2590800"/>
            <a:ext cx="2016125" cy="506413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sz="1800">
                <a:latin typeface="Times New Roman" panose="02020603050405020304" pitchFamily="18" charset="0"/>
              </a:rPr>
              <a:t>Plants</a:t>
            </a:r>
            <a:endParaRPr lang="ru-RU" sz="180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Generalization/Specialization</a:t>
            </a:r>
            <a:endParaRPr lang="ru-RU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process of finding common general attributes and operations of subclasses is called generalization</a:t>
            </a:r>
          </a:p>
          <a:p>
            <a:r>
              <a:rPr lang="en-US"/>
              <a:t>Specialization is a process of finding a set of subclasses reflecting special classes of a class.</a:t>
            </a:r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Represents specialization in Object-Oriented world</a:t>
            </a:r>
          </a:p>
          <a:p>
            <a:r>
              <a:rPr lang="en-US" dirty="0"/>
              <a:t>Is used to reuse the functionality of an existing class.</a:t>
            </a:r>
          </a:p>
          <a:p>
            <a:r>
              <a:rPr lang="en-US" dirty="0" err="1">
                <a:sym typeface="Wingdings" panose="05000000000000000000" pitchFamily="2" charset="2"/>
              </a:rPr>
              <a:t>.net</a:t>
            </a:r>
            <a:r>
              <a:rPr lang="en-US" dirty="0">
                <a:sym typeface="Wingdings" panose="05000000000000000000" pitchFamily="2" charset="2"/>
              </a:rPr>
              <a:t> supports: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single inheritance</a:t>
            </a:r>
          </a:p>
          <a:p>
            <a:pPr lvl="1"/>
            <a:r>
              <a:rPr lang="en-US">
                <a:sym typeface="Wingdings" panose="05000000000000000000" pitchFamily="2" charset="2"/>
              </a:rPr>
              <a:t>multi-level inheritance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</a:t>
            </a:r>
            <a:endParaRPr lang="ru-RU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ChildClass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BaseClass</a:t>
            </a:r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>
              <a:solidFill>
                <a:srgbClr val="000000"/>
              </a:solidFill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Access modifiers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Private – visible only within current class</a:t>
            </a:r>
          </a:p>
          <a:p>
            <a:r>
              <a:rPr lang="en-US" dirty="0"/>
              <a:t>Protected – visible only to class and it’s child classes (inheriting from it)</a:t>
            </a:r>
          </a:p>
          <a:p>
            <a:r>
              <a:rPr lang="en-US" dirty="0"/>
              <a:t>Internal – visible within current project</a:t>
            </a:r>
          </a:p>
          <a:p>
            <a:r>
              <a:rPr lang="en-US" dirty="0"/>
              <a:t>Protected Internal– visible only to class and it’s child classes defined in current project</a:t>
            </a:r>
          </a:p>
          <a:p>
            <a:r>
              <a:rPr lang="en-US" dirty="0"/>
              <a:t>Public – visible to everyone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</a:t>
            </a:r>
            <a:endParaRPr lang="ru-RU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If a class inherits other class then the members of the class which are defined using Public and Protected (and possibly Internal) modifiers can be accessed directly from the derived class.</a:t>
            </a:r>
          </a:p>
          <a:p>
            <a:pPr>
              <a:buFont typeface="Wingdings" panose="05000000000000000000" pitchFamily="2" charset="2"/>
              <a:buNone/>
            </a:pPr>
            <a:endParaRPr lang="ru-R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List&lt;&gt;</a:t>
            </a:r>
            <a:endParaRPr lang="ru-RU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981200"/>
            <a:ext cx="8458200" cy="4040188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/>
              <a:t>List class defines several functions to sort:</a:t>
            </a:r>
          </a:p>
          <a:p>
            <a:r>
              <a:rPr lang="en-US"/>
              <a:t>mylist.Sort() – sorts using default comparer</a:t>
            </a:r>
          </a:p>
          <a:p>
            <a:pPr lvl="1"/>
            <a:r>
              <a:rPr lang="en-US"/>
              <a:t>Good for simple types (string, integer, date)</a:t>
            </a:r>
          </a:p>
          <a:p>
            <a:pPr lvl="1"/>
            <a:r>
              <a:rPr lang="en-US"/>
              <a:t>Does not work for complex types</a:t>
            </a:r>
          </a:p>
          <a:p>
            <a:r>
              <a:rPr lang="en-US"/>
              <a:t>mylist.Sort(comparer as </a:t>
            </a:r>
            <a:r>
              <a:rPr lang="ru-RU"/>
              <a:t>IComparer</a:t>
            </a:r>
            <a:r>
              <a:rPr lang="en-US"/>
              <a:t>) – uses specific class that knows how to compare complex class</a:t>
            </a:r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List&lt;T&gt;</a:t>
            </a:r>
            <a:endParaRPr lang="ru-RU" dirty="0"/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" y="1981200"/>
            <a:ext cx="8763000" cy="4040188"/>
          </a:xfrm>
        </p:spPr>
        <p:txBody>
          <a:bodyPr/>
          <a:lstStyle/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ByNameComparer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IComparer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&lt;Applicant&gt;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fr-FR" sz="1800" dirty="0">
                <a:solidFill>
                  <a:srgbClr val="0000FF"/>
                </a:solidFill>
                <a:latin typeface="Consolas" panose="020B0609020204030204" pitchFamily="49" charset="0"/>
              </a:rPr>
              <a:t>	public</a:t>
            </a:r>
            <a:r>
              <a:rPr lang="fr-FR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fr-FR" sz="1800" dirty="0">
                <a:solidFill>
                  <a:srgbClr val="000000"/>
                </a:solidFill>
                <a:latin typeface="Consolas" panose="020B0609020204030204" pitchFamily="49" charset="0"/>
              </a:rPr>
              <a:t> Compare(</a:t>
            </a:r>
            <a:r>
              <a:rPr lang="fr-FR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Applicant</a:t>
            </a:r>
            <a:r>
              <a:rPr lang="fr-FR" sz="1800" dirty="0">
                <a:solidFill>
                  <a:srgbClr val="000000"/>
                </a:solidFill>
                <a:latin typeface="Consolas" panose="020B0609020204030204" pitchFamily="49" charset="0"/>
              </a:rPr>
              <a:t> x, </a:t>
            </a:r>
            <a:r>
              <a:rPr lang="fr-FR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Applicant</a:t>
            </a:r>
            <a:r>
              <a:rPr lang="fr-FR" sz="1800" dirty="0">
                <a:solidFill>
                  <a:srgbClr val="000000"/>
                </a:solidFill>
                <a:latin typeface="Consolas" panose="020B0609020204030204" pitchFamily="49" charset="0"/>
              </a:rPr>
              <a:t> y)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	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		return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.Compare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x.Name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y.Name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	}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800" dirty="0">
              <a:solidFill>
                <a:srgbClr val="0000FF"/>
              </a:solidFill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sz="1800" dirty="0">
              <a:solidFill>
                <a:srgbClr val="0000FF"/>
              </a:solidFill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in List&lt;T&gt;</a:t>
            </a:r>
            <a:endParaRPr lang="ru-RU" dirty="0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" y="1981200"/>
            <a:ext cx="8915400" cy="4040188"/>
          </a:xfrm>
        </p:spPr>
        <p:txBody>
          <a:bodyPr/>
          <a:lstStyle/>
          <a:p>
            <a:r>
              <a:rPr lang="en-US" sz="2800" dirty="0"/>
              <a:t>List class contains a function for searching</a:t>
            </a:r>
          </a:p>
          <a:p>
            <a:r>
              <a:rPr lang="en-US" sz="2800" dirty="0"/>
              <a:t>Note – list must be sorted before call to search</a:t>
            </a:r>
          </a:p>
          <a:p>
            <a:pPr marL="0" indent="0">
              <a:buNone/>
            </a:pPr>
            <a:endParaRPr lang="en-US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toSearch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Applicant();</a:t>
            </a:r>
          </a:p>
          <a:p>
            <a:pPr marL="0" indent="0">
              <a:buNone/>
            </a:pP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result =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applicants.BinarySearch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toSearch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ByNameComparer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result &gt; -1 ? applicants[result] 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800" dirty="0">
              <a:solidFill>
                <a:srgbClr val="0000FF"/>
              </a:solidFill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Alternative approach</a:t>
            </a:r>
            <a:endParaRPr lang="ru-RU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LINQ – Language Integrated Query</a:t>
            </a:r>
          </a:p>
          <a:p>
            <a:r>
              <a:rPr lang="en-US" dirty="0"/>
              <a:t>SQL-like syntax for working with </a:t>
            </a:r>
          </a:p>
          <a:p>
            <a:pPr lvl="1"/>
            <a:r>
              <a:rPr lang="en-US" dirty="0"/>
              <a:t>Databases</a:t>
            </a:r>
          </a:p>
          <a:p>
            <a:pPr lvl="1"/>
            <a:r>
              <a:rPr lang="en-US" dirty="0"/>
              <a:t>Objects</a:t>
            </a:r>
          </a:p>
          <a:p>
            <a:pPr lvl="1"/>
            <a:r>
              <a:rPr lang="en-US" dirty="0"/>
              <a:t>XML</a:t>
            </a:r>
            <a:endParaRPr lang="ru-RU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Sorting – LINQ to objects</a:t>
            </a:r>
            <a:endParaRPr lang="ru-RU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" y="1981200"/>
            <a:ext cx="8686800" cy="404018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applicants =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List&lt;Applicant&gt;();</a:t>
            </a:r>
          </a:p>
          <a:p>
            <a:pPr marL="0" indent="0">
              <a:buNone/>
            </a:pPr>
            <a:r>
              <a:rPr lang="en-US" sz="28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sorted = 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	from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a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in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applicants</a:t>
            </a:r>
          </a:p>
          <a:p>
            <a:pPr marL="0" indent="0">
              <a:buNone/>
            </a:pP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	</a:t>
            </a:r>
            <a:r>
              <a:rPr lang="en-US" sz="2800" dirty="0" err="1">
                <a:solidFill>
                  <a:srgbClr val="0000FF"/>
                </a:solidFill>
                <a:latin typeface="Consolas" panose="020B0609020204030204" pitchFamily="49" charset="0"/>
              </a:rPr>
              <a:t>orderby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a.Name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	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a;</a:t>
            </a:r>
            <a:endParaRPr lang="en-US" sz="2800" dirty="0">
              <a:solidFill>
                <a:srgbClr val="000000"/>
              </a:solidFill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Sorting – LINQ to objects</a:t>
            </a:r>
            <a:endParaRPr lang="ru-RU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" y="1981200"/>
            <a:ext cx="8686800" cy="404018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/>
              <a:t>In most of the cases lambda expressions are used:</a:t>
            </a:r>
          </a:p>
          <a:p>
            <a:pPr marL="0" indent="0">
              <a:buNone/>
            </a:pPr>
            <a:endParaRPr lang="en-US" sz="2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sorted =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applicants.OrderBy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(a =&gt;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a.Name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8705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Searching – LINQ to objects</a:t>
            </a:r>
            <a:endParaRPr lang="ru-RU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524000"/>
            <a:ext cx="8229600" cy="51816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applicants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List&lt;Applicant&gt;();</a:t>
            </a:r>
          </a:p>
          <a:p>
            <a:pPr marL="0" indent="0">
              <a:buNone/>
            </a:pP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filtered =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	from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a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applicants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	where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a.Name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== value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	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a;</a:t>
            </a:r>
          </a:p>
          <a:p>
            <a:pPr marL="0" indent="0">
              <a:buNone/>
            </a:pPr>
            <a:r>
              <a:rPr lang="en-US" sz="2800" dirty="0">
                <a:ea typeface="Times New Roman" panose="02020603050405020304" pitchFamily="18" charset="0"/>
                <a:cs typeface="Courier New" panose="02070309020205020404" pitchFamily="49" charset="0"/>
              </a:rPr>
              <a:t>Or more complex:</a:t>
            </a:r>
            <a:endParaRPr lang="en-US" sz="2000" dirty="0"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result =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	from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a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applicants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	where	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a.Name.Contains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"a"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&amp;&amp; 				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a.Surname.StartsWith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"b"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	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	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orderby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a.Address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	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a.Name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a.Surname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3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3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3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3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3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with lambda syntax</a:t>
            </a:r>
            <a:endParaRPr lang="ru-RU" dirty="0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828800"/>
            <a:ext cx="8229600" cy="48768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applicants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List&lt;Applicant&gt;();</a:t>
            </a:r>
          </a:p>
          <a:p>
            <a:pPr marL="0" indent="0">
              <a:buNone/>
            </a:pP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filtered = applicants.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Where(a =&gt;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a.Name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== value);</a:t>
            </a:r>
          </a:p>
          <a:p>
            <a:pPr marL="0" indent="0">
              <a:buNone/>
            </a:pPr>
            <a:endParaRPr lang="en-US" sz="2000" dirty="0"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sz="2000" dirty="0"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result = applicants.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Where(a =&gt;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a.Name.Contains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"a"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&amp;&amp;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	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a.Surname.StartsWith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"b"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)).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OrderBy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(a =&gt;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a.Address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).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Select(a =&gt;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a.Name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a.Surname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1779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3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3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3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3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LINQ </a:t>
            </a:r>
            <a:r>
              <a:rPr lang="en-US" dirty="0" err="1"/>
              <a:t>IEnumerable</a:t>
            </a:r>
            <a:r>
              <a:rPr lang="en-US" dirty="0"/>
              <a:t>&lt;T&gt;</a:t>
            </a:r>
            <a:endParaRPr lang="ru-RU" dirty="0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result returned from the LINQ query is of special type – </a:t>
            </a:r>
            <a:r>
              <a:rPr lang="en-US" dirty="0" err="1"/>
              <a:t>IEnumerable</a:t>
            </a:r>
            <a:r>
              <a:rPr lang="en-US" dirty="0"/>
              <a:t>&lt;T&gt;</a:t>
            </a:r>
          </a:p>
          <a:p>
            <a:r>
              <a:rPr lang="en-US" dirty="0"/>
              <a:t>Use any of the following functions available to </a:t>
            </a:r>
            <a:r>
              <a:rPr lang="en-US" dirty="0" err="1"/>
              <a:t>IEnumerable</a:t>
            </a:r>
            <a:r>
              <a:rPr lang="en-US" dirty="0"/>
              <a:t>&lt;T&gt;:</a:t>
            </a:r>
          </a:p>
          <a:p>
            <a:pPr lvl="1"/>
            <a:r>
              <a:rPr lang="en-US" dirty="0"/>
              <a:t>Any() – returns true if the result contains at least one element</a:t>
            </a:r>
          </a:p>
          <a:p>
            <a:pPr lvl="1"/>
            <a:r>
              <a:rPr lang="en-US" dirty="0"/>
              <a:t>Contains(a) – returns true if the result contains a specific instance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3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LINQ </a:t>
            </a:r>
            <a:r>
              <a:rPr lang="en-US" dirty="0" err="1"/>
              <a:t>IEnumerable</a:t>
            </a:r>
            <a:r>
              <a:rPr lang="en-US" dirty="0"/>
              <a:t>&lt;T&gt;</a:t>
            </a:r>
            <a:endParaRPr lang="ru-RU" dirty="0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Count() – returns number of elements in the result</a:t>
            </a:r>
          </a:p>
          <a:p>
            <a:r>
              <a:rPr lang="en-US" dirty="0" err="1"/>
              <a:t>ElementAt</a:t>
            </a: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– returns an element at the specified index; throws exception if the index is out of bounds</a:t>
            </a:r>
          </a:p>
          <a:p>
            <a:r>
              <a:rPr lang="en-US" dirty="0" err="1"/>
              <a:t>ElementAtOrDefault</a:t>
            </a: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– same as above, but will return </a:t>
            </a:r>
            <a:r>
              <a:rPr lang="en-US" i="1" dirty="0"/>
              <a:t>null</a:t>
            </a:r>
            <a:r>
              <a:rPr lang="en-US" dirty="0"/>
              <a:t> instead of exception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LINQ </a:t>
            </a:r>
            <a:r>
              <a:rPr lang="en-US" dirty="0" err="1"/>
              <a:t>IEnumerable</a:t>
            </a:r>
            <a:r>
              <a:rPr lang="en-US" dirty="0"/>
              <a:t>&lt;T&gt;</a:t>
            </a:r>
            <a:endParaRPr lang="ru-RU" dirty="0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First() – returns first element in the collection; throws exception if collection is empty</a:t>
            </a:r>
          </a:p>
          <a:p>
            <a:r>
              <a:rPr lang="en-US" dirty="0" err="1"/>
              <a:t>FirstOrDefault</a:t>
            </a:r>
            <a:r>
              <a:rPr lang="en-US" dirty="0"/>
              <a:t>() – same as above, but will return </a:t>
            </a:r>
            <a:r>
              <a:rPr lang="en-US" i="1" dirty="0"/>
              <a:t>null</a:t>
            </a:r>
            <a:r>
              <a:rPr lang="en-US" dirty="0"/>
              <a:t> instead of exception</a:t>
            </a:r>
          </a:p>
          <a:p>
            <a:r>
              <a:rPr lang="en-US" dirty="0"/>
              <a:t>Last() and </a:t>
            </a:r>
            <a:r>
              <a:rPr lang="en-US" dirty="0" err="1"/>
              <a:t>LastOrDefault</a:t>
            </a:r>
            <a:r>
              <a:rPr lang="en-US" dirty="0"/>
              <a:t>() – return last element of the collection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LINQ </a:t>
            </a:r>
            <a:r>
              <a:rPr lang="en-US" dirty="0" err="1"/>
              <a:t>IEnumerable</a:t>
            </a:r>
            <a:r>
              <a:rPr lang="en-US" dirty="0"/>
              <a:t>&lt;T&gt;</a:t>
            </a:r>
            <a:endParaRPr lang="ru-RU" dirty="0"/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ToArray</a:t>
            </a:r>
            <a:r>
              <a:rPr lang="en-US" dirty="0"/>
              <a:t>() – converts result to array</a:t>
            </a:r>
          </a:p>
          <a:p>
            <a:r>
              <a:rPr lang="en-US" dirty="0" err="1"/>
              <a:t>ToList</a:t>
            </a:r>
            <a:r>
              <a:rPr lang="en-US" dirty="0"/>
              <a:t>() – converts result to List&lt;&gt;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algn="ctr" eaLnBrk="1" hangingPunct="1">
              <a:buFont typeface="Wingdings" panose="05000000000000000000" pitchFamily="2" charset="2"/>
              <a:buNone/>
            </a:pPr>
            <a:r>
              <a:rPr lang="en-US" sz="11700"/>
              <a:t>	The End</a:t>
            </a:r>
            <a:endParaRPr lang="ru-RU" sz="1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Pixel">
  <a:themeElements>
    <a:clrScheme name="1_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1_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1_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Pixel">
  <a:themeElements>
    <a:clrScheme name="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lecture1</Template>
  <TotalTime>3184</TotalTime>
  <Words>790</Words>
  <Application>Microsoft Office PowerPoint</Application>
  <PresentationFormat>On-screen Show (4:3)</PresentationFormat>
  <Paragraphs>134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Arial Black</vt:lpstr>
      <vt:lpstr>Calibri</vt:lpstr>
      <vt:lpstr>Consolas</vt:lpstr>
      <vt:lpstr>Courier New</vt:lpstr>
      <vt:lpstr>Times New Roman</vt:lpstr>
      <vt:lpstr>Wingdings</vt:lpstr>
      <vt:lpstr>1_Pixel</vt:lpstr>
      <vt:lpstr>Pixel</vt:lpstr>
      <vt:lpstr>Lecture 16</vt:lpstr>
      <vt:lpstr>Outcomes</vt:lpstr>
      <vt:lpstr>Inheritance</vt:lpstr>
      <vt:lpstr>Generalization/Specialization</vt:lpstr>
      <vt:lpstr>Inheritance</vt:lpstr>
      <vt:lpstr>Inheritance</vt:lpstr>
      <vt:lpstr>Access modifiers</vt:lpstr>
      <vt:lpstr>Inheritance</vt:lpstr>
      <vt:lpstr>Sorting List&lt;&gt;</vt:lpstr>
      <vt:lpstr>Sorting List&lt;T&gt;</vt:lpstr>
      <vt:lpstr>Searching in List&lt;T&gt;</vt:lpstr>
      <vt:lpstr>Alternative approach</vt:lpstr>
      <vt:lpstr>Sorting – LINQ to objects</vt:lpstr>
      <vt:lpstr>Sorting – LINQ to objects</vt:lpstr>
      <vt:lpstr>Searching – LINQ to objects</vt:lpstr>
      <vt:lpstr>Same with lambda syntax</vt:lpstr>
      <vt:lpstr>LINQ IEnumerable&lt;T&gt;</vt:lpstr>
      <vt:lpstr>LINQ IEnumerable&lt;T&gt;</vt:lpstr>
      <vt:lpstr>LINQ IEnumerable&lt;T&gt;</vt:lpstr>
      <vt:lpstr>LINQ IEnumerable&lt;T&gt;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Basil</dc:creator>
  <cp:lastModifiedBy>Vasiliy Kuznetsov</cp:lastModifiedBy>
  <cp:revision>34</cp:revision>
  <cp:lastPrinted>1601-01-01T00:00:00Z</cp:lastPrinted>
  <dcterms:created xsi:type="dcterms:W3CDTF">1601-01-01T00:00:00Z</dcterms:created>
  <dcterms:modified xsi:type="dcterms:W3CDTF">2024-01-26T13:22:08Z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