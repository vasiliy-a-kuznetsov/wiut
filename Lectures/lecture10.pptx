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1" r:id="rId4"/>
    <p:sldId id="272" r:id="rId5"/>
    <p:sldId id="273" r:id="rId6"/>
    <p:sldId id="274" r:id="rId7"/>
    <p:sldId id="275" r:id="rId8"/>
    <p:sldId id="278" r:id="rId9"/>
    <p:sldId id="279" r:id="rId10"/>
    <p:sldId id="276" r:id="rId11"/>
    <p:sldId id="280" r:id="rId12"/>
    <p:sldId id="277" r:id="rId13"/>
    <p:sldId id="281" r:id="rId14"/>
    <p:sldId id="282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15.09.2024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15.09.2024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10</a:t>
            </a:r>
          </a:p>
          <a:p>
            <a:r>
              <a:rPr lang="en-US" sz="2400" dirty="0"/>
              <a:t>SQL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SELECT statement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WHERE clause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 err="1"/>
              <a:t>BindingSource</a:t>
            </a:r>
            <a:r>
              <a:rPr lang="en-US" altLang="en-US" sz="3200" dirty="0"/>
              <a:t> filtering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Writing SQL commands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SQL statement consists of reserved words and user-defined words.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b="1" dirty="0"/>
              <a:t>Reserved words </a:t>
            </a:r>
            <a:r>
              <a:rPr lang="en-US" altLang="en-US" sz="2800" dirty="0"/>
              <a:t>are a fixed part of SQL and must be spelt exactly as required and cannot be split across lines.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b="1" dirty="0"/>
              <a:t>User-defined words </a:t>
            </a:r>
            <a:r>
              <a:rPr lang="en-US" altLang="en-US" sz="2800" dirty="0"/>
              <a:t>are made up by user and represent names of various database objects such as relations, columns, views.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Most components of an SQL statement are </a:t>
            </a:r>
            <a:r>
              <a:rPr lang="en-US" altLang="en-US" sz="2800" b="1" dirty="0"/>
              <a:t>case insensitive</a:t>
            </a:r>
            <a:r>
              <a:rPr lang="en-US" altLang="en-US" sz="2800" dirty="0"/>
              <a:t>, except for literal character data.</a:t>
            </a:r>
          </a:p>
        </p:txBody>
      </p:sp>
    </p:spTree>
    <p:extLst>
      <p:ext uri="{BB962C8B-B14F-4D97-AF65-F5344CB8AC3E}">
        <p14:creationId xmlns:p14="http://schemas.microsoft.com/office/powerpoint/2010/main" val="9141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SELECT statement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SELECT [DISTINCT | ALL]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			{* | [</a:t>
            </a:r>
            <a:r>
              <a:rPr lang="en-US" altLang="en-US" sz="2800" dirty="0" err="1"/>
              <a:t>columnExpression</a:t>
            </a:r>
            <a:r>
              <a:rPr lang="en-US" altLang="en-US" sz="2800" dirty="0"/>
              <a:t> [AS </a:t>
            </a:r>
            <a:r>
              <a:rPr lang="en-US" altLang="en-US" sz="2800" dirty="0" err="1"/>
              <a:t>newName</a:t>
            </a:r>
            <a:r>
              <a:rPr lang="en-US" altLang="en-US" sz="2800" dirty="0"/>
              <a:t>]] [,...]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FROM		</a:t>
            </a:r>
            <a:r>
              <a:rPr lang="en-US" altLang="en-US" sz="2800" dirty="0" err="1"/>
              <a:t>TableName</a:t>
            </a:r>
            <a:r>
              <a:rPr lang="en-US" altLang="en-US" sz="2800" dirty="0"/>
              <a:t> [alias] [, ...]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[WHERE		condition]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[GROUP BY	</a:t>
            </a:r>
            <a:r>
              <a:rPr lang="en-US" altLang="en-US" sz="2800" dirty="0" err="1"/>
              <a:t>columnList</a:t>
            </a:r>
            <a:r>
              <a:rPr lang="en-US" altLang="en-US" sz="2800" dirty="0"/>
              <a:t>]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[HAVING		condition]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dirty="0"/>
              <a:t>[ORDER BY	</a:t>
            </a:r>
            <a:r>
              <a:rPr lang="en-US" altLang="en-US" sz="2800" dirty="0" err="1"/>
              <a:t>columnList</a:t>
            </a:r>
            <a:r>
              <a:rPr lang="en-US" altLang="en-US" sz="28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4614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SELECT statement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Order of the clauses cannot be changed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Only SELECT and FROM are mandatory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endParaRPr lang="en-US" altLang="en-US" sz="3200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F1756AF-53C6-4A7B-80C3-E4D7A4AC92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1892881"/>
              </p:ext>
            </p:extLst>
          </p:nvPr>
        </p:nvGraphicFramePr>
        <p:xfrm>
          <a:off x="838201" y="1714500"/>
          <a:ext cx="10515598" cy="29260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76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</a:t>
                      </a:r>
                    </a:p>
                  </a:txBody>
                  <a:tcPr marL="182880" marR="182880" marT="91440" marB="91440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Specifies which columns are to appear in output</a:t>
                      </a:r>
                    </a:p>
                  </a:txBody>
                  <a:tcPr marL="182880" marR="182880" marT="91440" marB="91440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FROM</a:t>
                      </a:r>
                    </a:p>
                  </a:txBody>
                  <a:tcPr marL="182880" marR="182880" marT="91440" marB="9144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Specifies table(s) to be used</a:t>
                      </a:r>
                      <a:endParaRPr lang="en-US" sz="2000" dirty="0"/>
                    </a:p>
                  </a:txBody>
                  <a:tcPr marL="182880" marR="182880" marT="91440" marB="9144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WHERE</a:t>
                      </a:r>
                    </a:p>
                  </a:txBody>
                  <a:tcPr marL="182880" marR="182880" marT="91440" marB="91440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Filters rows</a:t>
                      </a:r>
                      <a:endParaRPr lang="en-US" sz="2000" dirty="0"/>
                    </a:p>
                  </a:txBody>
                  <a:tcPr marL="182880" marR="182880" marT="91440" marB="91440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GROUP BY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Forms groups of rows with same column value</a:t>
                      </a:r>
                      <a:endParaRPr lang="en-US" sz="2000" dirty="0"/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HAVING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Filters groups subject to some condition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ORDER BY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Specifies the order of the output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850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DS3-Table 05-05">
            <a:extLst>
              <a:ext uri="{FF2B5EF4-FFF2-40B4-BE49-F238E27FC236}">
                <a16:creationId xmlns:a16="http://schemas.microsoft.com/office/drawing/2014/main" id="{B7E15A78-CA13-4C13-B03C-A5D894125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1"/>
          <a:stretch>
            <a:fillRect/>
          </a:stretch>
        </p:blipFill>
        <p:spPr>
          <a:xfrm>
            <a:off x="5431246" y="3394034"/>
            <a:ext cx="6056108" cy="2631639"/>
          </a:xfrm>
          <a:prstGeom prst="rect">
            <a:avLst/>
          </a:prstGeom>
          <a:noFill/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Comparison search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703A0-B2D9-42AD-B0E2-C605880257C6}"/>
              </a:ext>
            </a:extLst>
          </p:cNvPr>
          <p:cNvSpPr txBox="1"/>
          <p:nvPr/>
        </p:nvSpPr>
        <p:spPr>
          <a:xfrm>
            <a:off x="838201" y="1331931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'List all staff with a salary greater than 10,000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staffNo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position, salary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Staff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salary &gt; 10000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84C62-0D0F-4142-B312-202E9AB320A3}"/>
              </a:ext>
            </a:extLst>
          </p:cNvPr>
          <p:cNvSpPr/>
          <p:nvPr/>
        </p:nvSpPr>
        <p:spPr>
          <a:xfrm>
            <a:off x="10198133" y="4341803"/>
            <a:ext cx="1080625" cy="1464374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nt-Up Arrow 8">
            <a:extLst>
              <a:ext uri="{FF2B5EF4-FFF2-40B4-BE49-F238E27FC236}">
                <a16:creationId xmlns:a16="http://schemas.microsoft.com/office/drawing/2014/main" id="{4EB59578-BF56-4BB8-842C-7C1279A9B6E9}"/>
              </a:ext>
            </a:extLst>
          </p:cNvPr>
          <p:cNvSpPr/>
          <p:nvPr/>
        </p:nvSpPr>
        <p:spPr>
          <a:xfrm rot="5400000">
            <a:off x="4189430" y="3393412"/>
            <a:ext cx="1171261" cy="1312371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94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Compound comparison search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D4AFA-5BBE-4EF2-B84C-EAA5D3A32C3A}"/>
              </a:ext>
            </a:extLst>
          </p:cNvPr>
          <p:cNvSpPr txBox="1"/>
          <p:nvPr/>
        </p:nvSpPr>
        <p:spPr>
          <a:xfrm>
            <a:off x="838201" y="1331931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'List addresses of all branch offices in London or Glasgow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*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Branch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city =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'London'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OR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city =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'Glasgow'</a:t>
            </a:r>
          </a:p>
        </p:txBody>
      </p:sp>
      <p:sp>
        <p:nvSpPr>
          <p:cNvPr id="8" name="Bent-Up Arrow 8">
            <a:extLst>
              <a:ext uri="{FF2B5EF4-FFF2-40B4-BE49-F238E27FC236}">
                <a16:creationId xmlns:a16="http://schemas.microsoft.com/office/drawing/2014/main" id="{5692B166-631B-462A-8342-906FCB55DAB9}"/>
              </a:ext>
            </a:extLst>
          </p:cNvPr>
          <p:cNvSpPr/>
          <p:nvPr/>
        </p:nvSpPr>
        <p:spPr>
          <a:xfrm rot="5400000">
            <a:off x="3531549" y="3393412"/>
            <a:ext cx="1171261" cy="1312371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4" descr="DS3-Table 05-06">
            <a:extLst>
              <a:ext uri="{FF2B5EF4-FFF2-40B4-BE49-F238E27FC236}">
                <a16:creationId xmlns:a16="http://schemas.microsoft.com/office/drawing/2014/main" id="{09431247-FC3B-4765-8A60-E20D5AB2C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99"/>
          <a:stretch>
            <a:fillRect/>
          </a:stretch>
        </p:blipFill>
        <p:spPr bwMode="auto">
          <a:xfrm>
            <a:off x="4773365" y="3394034"/>
            <a:ext cx="6705600" cy="242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4C02359-9EB9-4D26-84A9-37D4406AD1EA}"/>
              </a:ext>
            </a:extLst>
          </p:cNvPr>
          <p:cNvSpPr/>
          <p:nvPr/>
        </p:nvSpPr>
        <p:spPr>
          <a:xfrm>
            <a:off x="8396825" y="4408355"/>
            <a:ext cx="1176762" cy="1171574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7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Range search (BETWEEN)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15909-1A59-44A0-ADD2-A9398A79D356}"/>
              </a:ext>
            </a:extLst>
          </p:cNvPr>
          <p:cNvSpPr txBox="1"/>
          <p:nvPr/>
        </p:nvSpPr>
        <p:spPr>
          <a:xfrm>
            <a:off x="838201" y="1331931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'List all staff with a salary between 20,000 and 30,000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staffNo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position, salary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salary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BETWEEN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20000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AND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30000 </a:t>
            </a: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'inclusively</a:t>
            </a:r>
          </a:p>
        </p:txBody>
      </p:sp>
      <p:pic>
        <p:nvPicPr>
          <p:cNvPr id="8" name="Picture 1029" descr="DS3-Table 05-07">
            <a:extLst>
              <a:ext uri="{FF2B5EF4-FFF2-40B4-BE49-F238E27FC236}">
                <a16:creationId xmlns:a16="http://schemas.microsoft.com/office/drawing/2014/main" id="{A2B7B2A2-4716-420A-9C7C-C4BB7A1DA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2"/>
          <a:stretch>
            <a:fillRect/>
          </a:stretch>
        </p:blipFill>
        <p:spPr bwMode="auto">
          <a:xfrm>
            <a:off x="5313759" y="3647746"/>
            <a:ext cx="6111091" cy="187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8C2958-F3C4-44C4-9A47-0DE907F97BCA}"/>
              </a:ext>
            </a:extLst>
          </p:cNvPr>
          <p:cNvSpPr/>
          <p:nvPr/>
        </p:nvSpPr>
        <p:spPr>
          <a:xfrm>
            <a:off x="10132187" y="4567857"/>
            <a:ext cx="1138662" cy="762758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-Up Arrow 8">
            <a:extLst>
              <a:ext uri="{FF2B5EF4-FFF2-40B4-BE49-F238E27FC236}">
                <a16:creationId xmlns:a16="http://schemas.microsoft.com/office/drawing/2014/main" id="{DCC86BE1-E4F2-48AD-AA1B-D1F4761A2ED3}"/>
              </a:ext>
            </a:extLst>
          </p:cNvPr>
          <p:cNvSpPr/>
          <p:nvPr/>
        </p:nvSpPr>
        <p:spPr>
          <a:xfrm rot="5400000">
            <a:off x="4071943" y="3393412"/>
            <a:ext cx="1171261" cy="1312371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7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Range search (BETWEEN)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Can reverse the results using NOT BETWEEN clause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BETWEEN condition could be rewritten using comparison operators: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200000"/>
              </a:lnSpc>
            </a:pPr>
            <a:r>
              <a:rPr lang="en-US" sz="2800" dirty="0"/>
              <a:t>Useful, though, for a range of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DB2D64-FF3E-4C22-AFF8-96D07B8915E7}"/>
              </a:ext>
            </a:extLst>
          </p:cNvPr>
          <p:cNvSpPr txBox="1"/>
          <p:nvPr/>
        </p:nvSpPr>
        <p:spPr>
          <a:xfrm>
            <a:off x="838201" y="2343637"/>
            <a:ext cx="10515598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salary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NOT BETWEEN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20000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AND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30000</a:t>
            </a:r>
            <a:endParaRPr lang="en-US" altLang="en-US" sz="2000" b="1" dirty="0">
              <a:solidFill>
                <a:srgbClr val="C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86D68-EB75-4A59-991C-B744CC99918C}"/>
              </a:ext>
            </a:extLst>
          </p:cNvPr>
          <p:cNvSpPr txBox="1"/>
          <p:nvPr/>
        </p:nvSpPr>
        <p:spPr>
          <a:xfrm>
            <a:off x="838201" y="3488023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'List all staff with a salary between 20,000 and 30,000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staffNo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position, salary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salary &gt;= 20000 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AND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salary &lt;= 30000</a:t>
            </a:r>
          </a:p>
        </p:txBody>
      </p:sp>
    </p:spTree>
    <p:extLst>
      <p:ext uri="{BB962C8B-B14F-4D97-AF65-F5344CB8AC3E}">
        <p14:creationId xmlns:p14="http://schemas.microsoft.com/office/powerpoint/2010/main" val="323991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Membership condition (IN)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7C43A-B1D9-4F3D-9105-D58976EB9F5B}"/>
              </a:ext>
            </a:extLst>
          </p:cNvPr>
          <p:cNvSpPr txBox="1"/>
          <p:nvPr/>
        </p:nvSpPr>
        <p:spPr>
          <a:xfrm>
            <a:off x="838201" y="1331931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'List all managers and supervisors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staffNo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position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position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IN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'Manager'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'Supervisor'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8" name="Picture 5" descr="DS3-Table 05-08">
            <a:extLst>
              <a:ext uri="{FF2B5EF4-FFF2-40B4-BE49-F238E27FC236}">
                <a16:creationId xmlns:a16="http://schemas.microsoft.com/office/drawing/2014/main" id="{A7139EB0-437A-482C-95F7-A658115A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37"/>
          <a:stretch>
            <a:fillRect/>
          </a:stretch>
        </p:blipFill>
        <p:spPr bwMode="auto">
          <a:xfrm>
            <a:off x="6431654" y="3429000"/>
            <a:ext cx="5029200" cy="227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524DAE-31C9-43CC-B71D-936745E99EB7}"/>
              </a:ext>
            </a:extLst>
          </p:cNvPr>
          <p:cNvSpPr/>
          <p:nvPr/>
        </p:nvSpPr>
        <p:spPr>
          <a:xfrm>
            <a:off x="10006549" y="4435205"/>
            <a:ext cx="1233912" cy="1055898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-Up Arrow 8">
            <a:extLst>
              <a:ext uri="{FF2B5EF4-FFF2-40B4-BE49-F238E27FC236}">
                <a16:creationId xmlns:a16="http://schemas.microsoft.com/office/drawing/2014/main" id="{18FCE4B0-ABAA-43A4-A9BC-CA046D5D1DB4}"/>
              </a:ext>
            </a:extLst>
          </p:cNvPr>
          <p:cNvSpPr/>
          <p:nvPr/>
        </p:nvSpPr>
        <p:spPr>
          <a:xfrm rot="5400000">
            <a:off x="5189838" y="3393412"/>
            <a:ext cx="1171261" cy="1312371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7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Membership condition (IN)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Again, results can be reverses with NOT IN clause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IN condition could be also rewritten using comparison operators: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200000"/>
              </a:lnSpc>
            </a:pPr>
            <a:r>
              <a:rPr lang="en-US" sz="2800" dirty="0"/>
              <a:t>IN is more efficient when the list contains many values.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1AA95-C135-489D-8683-13958F8CA3A7}"/>
              </a:ext>
            </a:extLst>
          </p:cNvPr>
          <p:cNvSpPr txBox="1"/>
          <p:nvPr/>
        </p:nvSpPr>
        <p:spPr>
          <a:xfrm>
            <a:off x="838201" y="2360415"/>
            <a:ext cx="10515598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position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NOT IN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'Manager'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'Supervisor'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AD711-4095-41B5-9AC6-58D1C7792E26}"/>
              </a:ext>
            </a:extLst>
          </p:cNvPr>
          <p:cNvSpPr txBox="1"/>
          <p:nvPr/>
        </p:nvSpPr>
        <p:spPr>
          <a:xfrm>
            <a:off x="838201" y="3446078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'List all managers and supervisors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staffNo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position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Staff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position =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'Manager'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OR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position =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'Supervisor'</a:t>
            </a:r>
            <a:endParaRPr lang="en-US" altLang="en-US" sz="2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91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Pattern matching (LIKE)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7E45F-F945-4DD6-9C31-A1B48D50B720}"/>
              </a:ext>
            </a:extLst>
          </p:cNvPr>
          <p:cNvSpPr txBox="1"/>
          <p:nvPr/>
        </p:nvSpPr>
        <p:spPr>
          <a:xfrm>
            <a:off x="838201" y="1331931"/>
            <a:ext cx="1051559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'Find all owners with the string "Glasgow" in their address</a:t>
            </a: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clientNo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address,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telNo</a:t>
            </a:r>
            <a:endParaRPr lang="en-US" altLang="en-US" sz="2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PrivateOwner</a:t>
            </a:r>
            <a:endParaRPr lang="en-US" altLang="en-US" sz="2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pPr>
              <a:spcAft>
                <a:spcPts val="1200"/>
              </a:spcAft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 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address 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LIKE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'%Glasgow%'</a:t>
            </a:r>
            <a:endParaRPr lang="en-US" altLang="en-US" sz="2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  <p:pic>
        <p:nvPicPr>
          <p:cNvPr id="8" name="Picture 4" descr="DS3-Table 05-09">
            <a:extLst>
              <a:ext uri="{FF2B5EF4-FFF2-40B4-BE49-F238E27FC236}">
                <a16:creationId xmlns:a16="http://schemas.microsoft.com/office/drawing/2014/main" id="{9CCFC53D-14B0-47A4-A362-EFF82C8B4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29"/>
          <a:stretch>
            <a:fillRect/>
          </a:stretch>
        </p:blipFill>
        <p:spPr>
          <a:xfrm>
            <a:off x="3914444" y="3627419"/>
            <a:ext cx="7561263" cy="1898650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3EFBD49-CE73-49F1-BC2F-333C89C2864E}"/>
              </a:ext>
            </a:extLst>
          </p:cNvPr>
          <p:cNvSpPr/>
          <p:nvPr/>
        </p:nvSpPr>
        <p:spPr>
          <a:xfrm>
            <a:off x="8145449" y="4424262"/>
            <a:ext cx="742384" cy="266864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088FC-3CB9-47F0-828C-7ED1048AB0AB}"/>
              </a:ext>
            </a:extLst>
          </p:cNvPr>
          <p:cNvSpPr/>
          <p:nvPr/>
        </p:nvSpPr>
        <p:spPr>
          <a:xfrm>
            <a:off x="8031149" y="4708301"/>
            <a:ext cx="742384" cy="266864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88A224-B45F-4E95-ADBB-3CA66AF71D5B}"/>
              </a:ext>
            </a:extLst>
          </p:cNvPr>
          <p:cNvSpPr/>
          <p:nvPr/>
        </p:nvSpPr>
        <p:spPr>
          <a:xfrm>
            <a:off x="8015871" y="4983753"/>
            <a:ext cx="742384" cy="266864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ent-Up Arrow 8">
            <a:extLst>
              <a:ext uri="{FF2B5EF4-FFF2-40B4-BE49-F238E27FC236}">
                <a16:creationId xmlns:a16="http://schemas.microsoft.com/office/drawing/2014/main" id="{7AE9DA96-EEF6-4C62-A08B-39081AB9F143}"/>
              </a:ext>
            </a:extLst>
          </p:cNvPr>
          <p:cNvSpPr/>
          <p:nvPr/>
        </p:nvSpPr>
        <p:spPr>
          <a:xfrm rot="5400000">
            <a:off x="2697795" y="3393412"/>
            <a:ext cx="1171261" cy="1312371"/>
          </a:xfrm>
          <a:prstGeom prst="bentUp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4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Pattern matching (LIKE)</a:t>
            </a: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n-US" altLang="en-US" sz="3200" dirty="0"/>
              <a:t>SQL has two special pattern matching symbols: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endParaRPr lang="en-US" altLang="en-US" sz="3200" dirty="0"/>
          </a:p>
          <a:p>
            <a:pPr algn="just">
              <a:lnSpc>
                <a:spcPct val="120000"/>
              </a:lnSpc>
              <a:spcBef>
                <a:spcPct val="25000"/>
              </a:spcBef>
              <a:spcAft>
                <a:spcPts val="1200"/>
              </a:spcAft>
            </a:pPr>
            <a:endParaRPr lang="en-US" altLang="en-US" sz="3200" dirty="0"/>
          </a:p>
          <a:p>
            <a:pPr algn="just">
              <a:lnSpc>
                <a:spcPct val="100000"/>
              </a:lnSpc>
              <a:spcBef>
                <a:spcPct val="250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>
                <a:solidFill>
                  <a:schemeClr val="accent1"/>
                </a:solidFill>
              </a:rPr>
              <a:t>LIKE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solidFill>
                  <a:srgbClr val="C00000"/>
                </a:solidFill>
              </a:rPr>
              <a:t>'%Glasgow%'</a:t>
            </a:r>
            <a:r>
              <a:rPr lang="en-US" altLang="en-US" sz="3200" b="1" dirty="0"/>
              <a:t> </a:t>
            </a:r>
            <a:r>
              <a:rPr lang="en-US" altLang="en-US" sz="3200" dirty="0"/>
              <a:t>means a sequence of characters of any length containing “</a:t>
            </a:r>
            <a:r>
              <a:rPr lang="en-US" altLang="en-US" sz="3200" i="1" dirty="0"/>
              <a:t>Glasgow”</a:t>
            </a:r>
            <a:endParaRPr lang="en-US" altLang="en-US" sz="3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CE0C8E-5484-4A39-982C-EAA7AE344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109241"/>
              </p:ext>
            </p:extLst>
          </p:nvPr>
        </p:nvGraphicFramePr>
        <p:xfrm>
          <a:off x="933449" y="2532252"/>
          <a:ext cx="10420349" cy="1219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143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6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%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r>
                        <a:rPr lang="en-US" altLang="en-US" sz="2800" b="0" dirty="0"/>
                        <a:t>sequence of zero or more characters</a:t>
                      </a:r>
                      <a:endParaRPr lang="en-US" sz="2800" b="0" dirty="0"/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_ (underscore)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r>
                        <a:rPr lang="en-US" altLang="en-US" sz="2800" b="0" dirty="0"/>
                        <a:t>any single character</a:t>
                      </a:r>
                      <a:endParaRPr lang="en-US" sz="2800" b="0" dirty="0"/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04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BindingSource</a:t>
            </a:r>
            <a:r>
              <a:rPr lang="en-US" altLang="en-US" dirty="0"/>
              <a:t> filtering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Applied to </a:t>
            </a:r>
            <a:r>
              <a:rPr lang="en-US" altLang="en-US" sz="3200" dirty="0" err="1"/>
              <a:t>BindingSource</a:t>
            </a:r>
            <a:r>
              <a:rPr lang="en-US" altLang="en-US" sz="3200" dirty="0"/>
              <a:t>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Use Filter property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No need for WHERE keyword: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endParaRPr lang="en-US" altLang="en-US" sz="32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Set to “” to show all data: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736CB-7244-49BA-9262-97AB3238A38F}"/>
              </a:ext>
            </a:extLst>
          </p:cNvPr>
          <p:cNvSpPr txBox="1"/>
          <p:nvPr/>
        </p:nvSpPr>
        <p:spPr>
          <a:xfrm>
            <a:off x="838201" y="3575952"/>
            <a:ext cx="10515598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TbTeacherBindingSource.Filter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"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first_name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= 'Anna'"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E5275-797C-483F-920F-D46456775B77}"/>
              </a:ext>
            </a:extLst>
          </p:cNvPr>
          <p:cNvSpPr txBox="1"/>
          <p:nvPr/>
        </p:nvSpPr>
        <p:spPr>
          <a:xfrm>
            <a:off x="838201" y="5014715"/>
            <a:ext cx="10515598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TbTeacherBindingSource.Filter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""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;</a:t>
            </a:r>
            <a:endParaRPr lang="en-US" altLang="en-US" sz="2000" b="1" dirty="0">
              <a:solidFill>
                <a:srgbClr val="C00000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30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648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Тема Office</vt:lpstr>
      <vt:lpstr>Fundamentals of Programming</vt:lpstr>
      <vt:lpstr>Agenda</vt:lpstr>
      <vt:lpstr>Writing SQL commands</vt:lpstr>
      <vt:lpstr>SELECT statement</vt:lpstr>
      <vt:lpstr>SELECT statement</vt:lpstr>
      <vt:lpstr>Comparison search</vt:lpstr>
      <vt:lpstr>Compound comparison search</vt:lpstr>
      <vt:lpstr>Range search (BETWEEN)</vt:lpstr>
      <vt:lpstr>Range search (BETWEEN)</vt:lpstr>
      <vt:lpstr>Membership condition (IN)</vt:lpstr>
      <vt:lpstr>Membership condition (IN)</vt:lpstr>
      <vt:lpstr>Pattern matching (LIKE)</vt:lpstr>
      <vt:lpstr>Pattern matching (LIKE)</vt:lpstr>
      <vt:lpstr>BindingSource filtering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143</cp:revision>
  <dcterms:created xsi:type="dcterms:W3CDTF">2022-06-28T05:50:22Z</dcterms:created>
  <dcterms:modified xsi:type="dcterms:W3CDTF">2024-09-15T09:42:45Z</dcterms:modified>
</cp:coreProperties>
</file>