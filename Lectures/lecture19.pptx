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sldIdLst>
    <p:sldId id="256" r:id="rId2"/>
    <p:sldId id="258" r:id="rId3"/>
    <p:sldId id="275" r:id="rId4"/>
    <p:sldId id="310" r:id="rId5"/>
    <p:sldId id="311" r:id="rId6"/>
    <p:sldId id="312" r:id="rId7"/>
    <p:sldId id="257" r:id="rId8"/>
    <p:sldId id="283" r:id="rId9"/>
    <p:sldId id="313" r:id="rId10"/>
    <p:sldId id="314" r:id="rId11"/>
    <p:sldId id="315" r:id="rId12"/>
    <p:sldId id="316" r:id="rId13"/>
    <p:sldId id="296" r:id="rId14"/>
    <p:sldId id="297" r:id="rId15"/>
    <p:sldId id="298" r:id="rId16"/>
    <p:sldId id="317" r:id="rId17"/>
    <p:sldId id="299" r:id="rId18"/>
    <p:sldId id="300" r:id="rId19"/>
    <p:sldId id="301" r:id="rId20"/>
    <p:sldId id="302" r:id="rId21"/>
    <p:sldId id="318" r:id="rId22"/>
    <p:sldId id="304" r:id="rId23"/>
    <p:sldId id="305" r:id="rId24"/>
    <p:sldId id="306" r:id="rId25"/>
    <p:sldId id="307" r:id="rId26"/>
    <p:sldId id="319" r:id="rId27"/>
    <p:sldId id="320" r:id="rId28"/>
    <p:sldId id="321" r:id="rId29"/>
    <p:sldId id="322" r:id="rId30"/>
    <p:sldId id="324" r:id="rId31"/>
    <p:sldId id="325" r:id="rId32"/>
    <p:sldId id="323" r:id="rId33"/>
    <p:sldId id="326" r:id="rId34"/>
    <p:sldId id="327" r:id="rId35"/>
    <p:sldId id="270" r:id="rId3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EEE"/>
    <a:srgbClr val="F2F2F2"/>
    <a:srgbClr val="358A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guide orient="horz" pos="958"/>
        <p:guide pos="3840"/>
      </p:guideLst>
    </p:cSldViewPr>
  </p:slideViewPr>
  <p:notesTextViewPr>
    <p:cViewPr>
      <p:scale>
        <a:sx n="1" d="1"/>
        <a:sy n="1" d="1"/>
      </p:scale>
      <p:origin x="0" y="0"/>
    </p:cViewPr>
  </p:notesTextViewPr>
  <p:notesViewPr>
    <p:cSldViewPr snapToGrid="0">
      <p:cViewPr varScale="1">
        <p:scale>
          <a:sx n="84" d="100"/>
          <a:sy n="84" d="100"/>
        </p:scale>
        <p:origin x="2766"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D7DEE-5312-4C23-BF9D-CEE6AA43FDA7}" type="datetimeFigureOut">
              <a:rPr lang="ru-RU" smtClean="0"/>
              <a:t>21.02.2025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F33E4F-C868-4D44-AC30-8AEA639D4053}" type="slidenum">
              <a:rPr lang="ru-RU" smtClean="0"/>
              <a:t>‹#›</a:t>
            </a:fld>
            <a:endParaRPr lang="ru-RU"/>
          </a:p>
        </p:txBody>
      </p:sp>
    </p:spTree>
    <p:extLst>
      <p:ext uri="{BB962C8B-B14F-4D97-AF65-F5344CB8AC3E}">
        <p14:creationId xmlns:p14="http://schemas.microsoft.com/office/powerpoint/2010/main" val="2755264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solidFill>
          <a:schemeClr val="bg1"/>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D2A2733B-51EE-F674-C628-1F90FFB250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0" y="1671545"/>
            <a:ext cx="10515600" cy="2387600"/>
          </a:xfrm>
          <a:prstGeom prst="rect">
            <a:avLst/>
          </a:prstGeom>
        </p:spPr>
        <p:txBody>
          <a:bodyPr anchor="b"/>
          <a:lstStyle>
            <a:lvl1pPr algn="ctr">
              <a:defRPr sz="6000">
                <a:solidFill>
                  <a:schemeClr val="tx2"/>
                </a:solidFill>
              </a:defRPr>
            </a:lvl1pPr>
          </a:lstStyle>
          <a:p>
            <a:r>
              <a:rPr lang="en" dirty="0"/>
              <a:t>PRESENTATION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199" y="4151220"/>
            <a:ext cx="10515599" cy="1655762"/>
          </a:xfrm>
          <a:prstGeom prst="rect">
            <a:avLst/>
          </a:prstGeom>
        </p:spPr>
        <p:txBody>
          <a:bodyPr/>
          <a:lstStyle>
            <a:lvl1pPr marL="0" indent="0" algn="ctr">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pic>
        <p:nvPicPr>
          <p:cNvPr id="9" name="Рисунок 8">
            <a:extLst>
              <a:ext uri="{FF2B5EF4-FFF2-40B4-BE49-F238E27FC236}">
                <a16:creationId xmlns:a16="http://schemas.microsoft.com/office/drawing/2014/main" id="{5E07DD49-C310-E4D0-AD52-96E34968CD39}"/>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894560" y="867420"/>
            <a:ext cx="2402881" cy="1392830"/>
          </a:xfrm>
          <a:prstGeom prst="rect">
            <a:avLst/>
          </a:prstGeom>
        </p:spPr>
      </p:pic>
      <p:sp>
        <p:nvSpPr>
          <p:cNvPr id="10"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6" name="Рисунок 1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641085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bg>
      <p:bgPr>
        <a:solidFill>
          <a:schemeClr val="tx2"/>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D2F199F8-BC65-3557-878B-6D38F25C56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1682560"/>
            <a:ext cx="10515599" cy="2387600"/>
          </a:xfrm>
          <a:prstGeom prst="rect">
            <a:avLst/>
          </a:prstGeom>
        </p:spPr>
        <p:txBody>
          <a:bodyPr anchor="b"/>
          <a:lstStyle>
            <a:lvl1pPr algn="ctr">
              <a:defRPr sz="6000">
                <a:solidFill>
                  <a:schemeClr val="bg1"/>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4162235"/>
            <a:ext cx="10515599" cy="1655762"/>
          </a:xfrm>
          <a:prstGeom prst="rect">
            <a:avLst/>
          </a:prstGeom>
        </p:spPr>
        <p:txBody>
          <a:bodyPr/>
          <a:lstStyle>
            <a:lvl1pPr marL="0" indent="0" algn="ctr">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pic>
        <p:nvPicPr>
          <p:cNvPr id="4" name="Рисунок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94560" y="429394"/>
            <a:ext cx="2402881" cy="1953883"/>
          </a:xfrm>
          <a:prstGeom prst="rect">
            <a:avLst/>
          </a:prstGeom>
        </p:spPr>
      </p:pic>
      <p:sp>
        <p:nvSpPr>
          <p:cNvPr id="13"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4"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3956716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Титульный слайд">
    <p:bg>
      <p:bgPr>
        <a:solidFill>
          <a:schemeClr val="tx2"/>
        </a:solidFill>
        <a:effectLst/>
      </p:bgPr>
    </p:bg>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89061EA6-9975-07F8-8A83-81823CDEE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99630"/>
            <a:ext cx="12192000" cy="5576705"/>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2528374"/>
            <a:ext cx="10515599" cy="2387600"/>
          </a:xfrm>
          <a:prstGeom prst="rect">
            <a:avLst/>
          </a:prstGeom>
        </p:spPr>
        <p:txBody>
          <a:bodyPr anchor="b"/>
          <a:lstStyle>
            <a:lvl1pPr algn="ctr">
              <a:defRPr sz="6000">
                <a:solidFill>
                  <a:schemeClr val="accent3"/>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5008049"/>
            <a:ext cx="10515599" cy="1068286"/>
          </a:xfrm>
          <a:prstGeom prst="rect">
            <a:avLst/>
          </a:prstGeo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sp>
        <p:nvSpPr>
          <p:cNvPr id="12"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3"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4" name="Рисунок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394201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Титульный слайд">
    <p:bg>
      <p:bgPr>
        <a:solidFill>
          <a:schemeClr val="accent2"/>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89061EA6-9975-07F8-8A83-81823CDEE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99630"/>
            <a:ext cx="12192000" cy="5576705"/>
          </a:xfrm>
          <a:prstGeom prst="rect">
            <a:avLst/>
          </a:prstGeom>
        </p:spPr>
      </p:pic>
      <p:sp>
        <p:nvSpPr>
          <p:cNvPr id="13"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4"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2528374"/>
            <a:ext cx="10515599" cy="2387600"/>
          </a:xfrm>
          <a:prstGeom prst="rect">
            <a:avLst/>
          </a:prstGeom>
        </p:spPr>
        <p:txBody>
          <a:bodyPr anchor="b"/>
          <a:lstStyle>
            <a:lvl1pPr algn="ctr">
              <a:defRPr sz="6000">
                <a:solidFill>
                  <a:schemeClr val="accent5"/>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5008049"/>
            <a:ext cx="10515599" cy="1655762"/>
          </a:xfrm>
          <a:prstGeom prst="rect">
            <a:avLst/>
          </a:prstGeo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spTree>
    <p:extLst>
      <p:ext uri="{BB962C8B-B14F-4D97-AF65-F5344CB8AC3E}">
        <p14:creationId xmlns:p14="http://schemas.microsoft.com/office/powerpoint/2010/main" val="4287257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Титульный слайд">
    <p:bg>
      <p:bgPr>
        <a:solidFill>
          <a:schemeClr val="accent2"/>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D2F199F8-BC65-3557-878B-6D38F25C56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2" name="Заголовок 1">
            <a:extLst>
              <a:ext uri="{FF2B5EF4-FFF2-40B4-BE49-F238E27FC236}">
                <a16:creationId xmlns:a16="http://schemas.microsoft.com/office/drawing/2014/main" id="{201E0BA4-DEFA-2D05-F078-B6A2267C8EB1}"/>
              </a:ext>
            </a:extLst>
          </p:cNvPr>
          <p:cNvSpPr>
            <a:spLocks noGrp="1"/>
          </p:cNvSpPr>
          <p:nvPr>
            <p:ph type="ctrTitle" hasCustomPrompt="1"/>
          </p:nvPr>
        </p:nvSpPr>
        <p:spPr>
          <a:xfrm>
            <a:off x="838201" y="1319003"/>
            <a:ext cx="10515599" cy="2387600"/>
          </a:xfrm>
          <a:prstGeom prst="rect">
            <a:avLst/>
          </a:prstGeom>
        </p:spPr>
        <p:txBody>
          <a:bodyPr anchor="b"/>
          <a:lstStyle>
            <a:lvl1pPr algn="ctr">
              <a:defRPr sz="6000">
                <a:solidFill>
                  <a:schemeClr val="bg1"/>
                </a:solidFill>
              </a:defRPr>
            </a:lvl1pPr>
          </a:lstStyle>
          <a:p>
            <a:r>
              <a:rPr lang="en-US" dirty="0"/>
              <a:t>TRANSITION HEADLINE</a:t>
            </a:r>
            <a:endParaRPr lang="ru-RU" dirty="0"/>
          </a:p>
        </p:txBody>
      </p:sp>
      <p:sp>
        <p:nvSpPr>
          <p:cNvPr id="3" name="Подзаголовок 2">
            <a:extLst>
              <a:ext uri="{FF2B5EF4-FFF2-40B4-BE49-F238E27FC236}">
                <a16:creationId xmlns:a16="http://schemas.microsoft.com/office/drawing/2014/main" id="{ACE63F29-9D71-414F-9F6E-D1DAEA3892FC}"/>
              </a:ext>
            </a:extLst>
          </p:cNvPr>
          <p:cNvSpPr>
            <a:spLocks noGrp="1"/>
          </p:cNvSpPr>
          <p:nvPr>
            <p:ph type="subTitle" idx="1" hasCustomPrompt="1"/>
          </p:nvPr>
        </p:nvSpPr>
        <p:spPr>
          <a:xfrm>
            <a:off x="838201" y="3798678"/>
            <a:ext cx="10515599" cy="1655762"/>
          </a:xfrm>
          <a:prstGeom prst="rect">
            <a:avLst/>
          </a:prstGeom>
        </p:spPr>
        <p:txBody>
          <a:bodyPr/>
          <a:lstStyle>
            <a:lvl1pPr marL="0" indent="0" algn="ctr">
              <a:buNone/>
              <a:defRPr sz="240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ctr" rtl="0">
              <a:spcBef>
                <a:spcPts val="0"/>
              </a:spcBef>
              <a:spcAft>
                <a:spcPts val="0"/>
              </a:spcAft>
              <a:buNone/>
            </a:pPr>
            <a:r>
              <a:rPr lang="en-US" dirty="0"/>
              <a:t>Let’s start with the first set of slides</a:t>
            </a:r>
          </a:p>
        </p:txBody>
      </p:sp>
      <p:pic>
        <p:nvPicPr>
          <p:cNvPr id="9" name="Рисунок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94560" y="429394"/>
            <a:ext cx="2402881" cy="1953882"/>
          </a:xfrm>
          <a:prstGeom prst="rect">
            <a:avLst/>
          </a:prstGeom>
        </p:spPr>
      </p:pic>
      <p:sp>
        <p:nvSpPr>
          <p:cNvPr id="10"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3" name="Рисунок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1513936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bg>
      <p:bgPr>
        <a:solidFill>
          <a:schemeClr val="bg1"/>
        </a:solidFill>
        <a:effectLst/>
      </p:bgPr>
    </p:bg>
    <p:spTree>
      <p:nvGrpSpPr>
        <p:cNvPr id="1" name=""/>
        <p:cNvGrpSpPr/>
        <p:nvPr/>
      </p:nvGrpSpPr>
      <p:grpSpPr>
        <a:xfrm>
          <a:off x="0" y="0"/>
          <a:ext cx="0" cy="0"/>
          <a:chOff x="0" y="0"/>
          <a:chExt cx="0" cy="0"/>
        </a:xfrm>
      </p:grpSpPr>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38201" y="1714500"/>
            <a:ext cx="5074557"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p:nvPr>
        </p:nvSpPr>
        <p:spPr>
          <a:xfrm>
            <a:off x="838201" y="474531"/>
            <a:ext cx="8578173"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 dirty="0"/>
              <a:t>You can also split your content</a:t>
            </a:r>
            <a:endParaRPr dirty="0"/>
          </a:p>
        </p:txBody>
      </p:sp>
      <p:sp>
        <p:nvSpPr>
          <p:cNvPr id="9" name="Google Shape;146;p19">
            <a:extLst>
              <a:ext uri="{FF2B5EF4-FFF2-40B4-BE49-F238E27FC236}">
                <a16:creationId xmlns:a16="http://schemas.microsoft.com/office/drawing/2014/main" id="{1A3271C3-5EB1-33E0-AD0F-C686F31E636B}"/>
              </a:ext>
            </a:extLst>
          </p:cNvPr>
          <p:cNvSpPr txBox="1">
            <a:spLocks noGrp="1"/>
          </p:cNvSpPr>
          <p:nvPr>
            <p:ph type="body" idx="2"/>
          </p:nvPr>
        </p:nvSpPr>
        <p:spPr>
          <a:xfrm>
            <a:off x="6223821" y="1714500"/>
            <a:ext cx="5129978"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Black</a:t>
            </a:r>
            <a:endParaRPr b="1" dirty="0"/>
          </a:p>
          <a:p>
            <a:pPr marL="0" lvl="0" indent="0" algn="l" rtl="0">
              <a:spcBef>
                <a:spcPts val="600"/>
              </a:spcBef>
              <a:spcAft>
                <a:spcPts val="0"/>
              </a:spcAft>
              <a:buNone/>
            </a:pPr>
            <a:r>
              <a:rPr lang="en" dirty="0"/>
              <a:t>Is the color of ebony and of outer space. It has been the symbolic color of elegance, solemnity and authority.</a:t>
            </a:r>
            <a:endParaRPr dirty="0"/>
          </a:p>
        </p:txBody>
      </p:sp>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13"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4"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3" name="Рисунок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285614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Заголовок и объект">
    <p:bg>
      <p:bgPr>
        <a:solidFill>
          <a:schemeClr val="bg1"/>
        </a:solidFill>
        <a:effectLst/>
      </p:bgPr>
    </p:bg>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8A280644-DFCA-A39E-6662-615C37F73B8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9990" r="3233"/>
          <a:stretch/>
        </p:blipFill>
        <p:spPr>
          <a:xfrm>
            <a:off x="6806594" y="0"/>
            <a:ext cx="5385406" cy="5844445"/>
          </a:xfrm>
          <a:prstGeom prst="rect">
            <a:avLst/>
          </a:prstGeom>
        </p:spPr>
      </p:pic>
      <p:pic>
        <p:nvPicPr>
          <p:cNvPr id="3" name="Рисунок 2">
            <a:extLst>
              <a:ext uri="{FF2B5EF4-FFF2-40B4-BE49-F238E27FC236}">
                <a16:creationId xmlns:a16="http://schemas.microsoft.com/office/drawing/2014/main" id="{A5F9CA98-FE23-6C0C-C5CC-498BF274772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885" r="8325"/>
          <a:stretch/>
        </p:blipFill>
        <p:spPr>
          <a:xfrm>
            <a:off x="0" y="0"/>
            <a:ext cx="12192000" cy="6858000"/>
          </a:xfrm>
          <a:prstGeom prst="rect">
            <a:avLst/>
          </a:prstGeom>
        </p:spPr>
      </p:pic>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38202" y="2056024"/>
            <a:ext cx="5129980" cy="1705800"/>
          </a:xfrm>
          <a:prstGeom prst="rect">
            <a:avLst/>
          </a:prstGeom>
        </p:spPr>
        <p:txBody>
          <a:bodyPr spcFirstLastPara="1" wrap="square" lIns="91425" tIns="91425" rIns="91425" bIns="91425" anchor="t" anchorCtr="0">
            <a:noAutofit/>
          </a:bodyPr>
          <a:lstStyle>
            <a:lvl1pPr>
              <a:defRPr sz="2000">
                <a:solidFill>
                  <a:schemeClr val="bg1"/>
                </a:solidFill>
              </a:defRPr>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4857519" cy="857400"/>
          </a:xfrm>
          <a:prstGeom prst="rect">
            <a:avLst/>
          </a:prstGeom>
        </p:spPr>
        <p:txBody>
          <a:bodyPr spcFirstLastPara="1" wrap="square" lIns="91425" tIns="91425" rIns="91425" bIns="91425" anchor="t" anchorCtr="0">
            <a:noAutofit/>
          </a:bodyPr>
          <a:lstStyle>
            <a:lvl1pPr>
              <a:defRPr>
                <a:solidFill>
                  <a:schemeClr val="accent3"/>
                </a:solidFill>
              </a:defRPr>
            </a:lvl1pPr>
          </a:lstStyle>
          <a:p>
            <a:pPr marL="0" lvl="0" indent="0" algn="l" rtl="0">
              <a:spcBef>
                <a:spcPts val="0"/>
              </a:spcBef>
              <a:spcAft>
                <a:spcPts val="0"/>
              </a:spcAft>
              <a:buNone/>
            </a:pPr>
            <a:r>
              <a:rPr lang="en-US" dirty="0"/>
              <a:t>You can also insert a photo</a:t>
            </a:r>
            <a:endParaRPr dirty="0"/>
          </a:p>
        </p:txBody>
      </p:sp>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0"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3668988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Заголовок и объект">
    <p:bg>
      <p:bgPr>
        <a:solidFill>
          <a:schemeClr val="bg1"/>
        </a:solidFill>
        <a:effectLst/>
      </p:bgPr>
    </p:bg>
    <p:spTree>
      <p:nvGrpSpPr>
        <p:cNvPr id="1" name=""/>
        <p:cNvGrpSpPr/>
        <p:nvPr/>
      </p:nvGrpSpPr>
      <p:grpSpPr>
        <a:xfrm>
          <a:off x="0" y="0"/>
          <a:ext cx="0" cy="0"/>
          <a:chOff x="0" y="0"/>
          <a:chExt cx="0" cy="0"/>
        </a:xfrm>
      </p:grpSpPr>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38201" y="2056020"/>
            <a:ext cx="5129981" cy="1705800"/>
          </a:xfrm>
          <a:prstGeom prst="rect">
            <a:avLst/>
          </a:prstGeom>
        </p:spPr>
        <p:txBody>
          <a:bodyPr spcFirstLastPara="1" wrap="square" lIns="91425" tIns="91425" rIns="91425" bIns="91425" anchor="t" anchorCtr="0">
            <a:noAutofit/>
          </a:bodyPr>
          <a:lstStyle>
            <a:lvl1pPr>
              <a:defRPr sz="2000">
                <a:solidFill>
                  <a:schemeClr val="tx1"/>
                </a:solidFill>
              </a:defRPr>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4725317" cy="857400"/>
          </a:xfrm>
          <a:prstGeom prst="rect">
            <a:avLst/>
          </a:prstGeom>
        </p:spPr>
        <p:txBody>
          <a:bodyPr spcFirstLastPara="1" wrap="square" lIns="91425" tIns="91425" rIns="91425" bIns="91425" anchor="t" anchorCtr="0">
            <a:noAutofit/>
          </a:bodyPr>
          <a:lstStyle>
            <a:lvl1pPr>
              <a:defRPr>
                <a:solidFill>
                  <a:schemeClr val="accent3"/>
                </a:solidFill>
              </a:defRPr>
            </a:lvl1pPr>
          </a:lstStyle>
          <a:p>
            <a:pPr marL="0" lvl="0" indent="0" algn="l" rtl="0">
              <a:spcBef>
                <a:spcPts val="0"/>
              </a:spcBef>
              <a:spcAft>
                <a:spcPts val="0"/>
              </a:spcAft>
              <a:buNone/>
            </a:pPr>
            <a:r>
              <a:rPr lang="en-US" dirty="0"/>
              <a:t>You can also insert a photo</a:t>
            </a:r>
            <a:endParaRPr dirty="0"/>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3467460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Заголовок и объект">
    <p:bg>
      <p:bgPr>
        <a:solidFill>
          <a:schemeClr val="accent5"/>
        </a:solidFill>
        <a:effectLst/>
      </p:bgPr>
    </p:bg>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914401"/>
            <a:ext cx="12192000" cy="231589"/>
          </a:xfrm>
          <a:prstGeom prst="rect">
            <a:avLst/>
          </a:prstGeom>
        </p:spPr>
      </p:pic>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558718"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US" dirty="0"/>
              <a:t>You can also insert a photos</a:t>
            </a:r>
            <a:endParaRPr dirty="0"/>
          </a:p>
        </p:txBody>
      </p:sp>
      <p:pic>
        <p:nvPicPr>
          <p:cNvPr id="7" name="Рисунок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0"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384844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Заголовок и объект">
    <p:bg>
      <p:bgPr>
        <a:solidFill>
          <a:schemeClr val="accent6"/>
        </a:solidFill>
        <a:effectLst/>
      </p:bgPr>
    </p:bg>
    <p:spTree>
      <p:nvGrpSpPr>
        <p:cNvPr id="1" name=""/>
        <p:cNvGrpSpPr/>
        <p:nvPr/>
      </p:nvGrpSpPr>
      <p:grpSpPr>
        <a:xfrm>
          <a:off x="0" y="0"/>
          <a:ext cx="0" cy="0"/>
          <a:chOff x="0" y="0"/>
          <a:chExt cx="0" cy="0"/>
        </a:xfrm>
      </p:grpSpPr>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675450" cy="857400"/>
          </a:xfrm>
          <a:prstGeom prst="rect">
            <a:avLst/>
          </a:prstGeom>
        </p:spPr>
        <p:txBody>
          <a:bodyPr spcFirstLastPara="1" wrap="square" lIns="91425" tIns="91425" rIns="91425" bIns="91425" anchor="b" anchorCtr="0">
            <a:noAutofit/>
          </a:bodyPr>
          <a:lstStyle>
            <a:lvl1pPr>
              <a:defRPr>
                <a:solidFill>
                  <a:schemeClr val="bg1"/>
                </a:solidFill>
              </a:defRPr>
            </a:lvl1pPr>
          </a:lstStyle>
          <a:p>
            <a:pPr marL="0" lvl="0" indent="0" algn="l" rtl="0">
              <a:spcBef>
                <a:spcPts val="0"/>
              </a:spcBef>
              <a:spcAft>
                <a:spcPts val="0"/>
              </a:spcAft>
              <a:buNone/>
            </a:pPr>
            <a:r>
              <a:rPr lang="en-US" dirty="0"/>
              <a:t>You can also insert a photos</a:t>
            </a:r>
            <a:endParaRPr dirty="0"/>
          </a:p>
        </p:txBody>
      </p:sp>
      <p:pic>
        <p:nvPicPr>
          <p:cNvPr id="6" name="Рисунок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18941" y="700391"/>
            <a:ext cx="1634857" cy="400373"/>
          </a:xfrm>
          <a:prstGeom prst="rect">
            <a:avLst/>
          </a:prstGeom>
        </p:spPr>
      </p:pic>
      <p:sp>
        <p:nvSpPr>
          <p:cNvPr id="11"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1"/>
                </a:solidFill>
              </a:defRPr>
            </a:lvl1pPr>
          </a:lstStyle>
          <a:p>
            <a:pPr lvl="0"/>
            <a:r>
              <a:rPr lang="en-US" dirty="0"/>
              <a:t>Name of Department</a:t>
            </a:r>
            <a:endParaRPr lang="ru-RU" dirty="0"/>
          </a:p>
        </p:txBody>
      </p:sp>
      <p:sp>
        <p:nvSpPr>
          <p:cNvPr id="15"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1"/>
                </a:solidFill>
              </a:defRPr>
            </a:lvl1pPr>
          </a:lstStyle>
          <a:p>
            <a:fld id="{24CFBF5F-D9F7-437E-8CF8-688EAF21A1C0}" type="slidenum">
              <a:rPr lang="ru-RU" smtClean="0"/>
              <a:pPr/>
              <a:t>‹#›</a:t>
            </a:fld>
            <a:endParaRPr lang="ru-RU" dirty="0"/>
          </a:p>
        </p:txBody>
      </p:sp>
      <p:pic>
        <p:nvPicPr>
          <p:cNvPr id="16" name="Рисунок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71382" y="6306797"/>
            <a:ext cx="1849235" cy="355038"/>
          </a:xfrm>
          <a:prstGeom prst="rect">
            <a:avLst/>
          </a:prstGeom>
        </p:spPr>
      </p:pic>
    </p:spTree>
    <p:extLst>
      <p:ext uri="{BB962C8B-B14F-4D97-AF65-F5344CB8AC3E}">
        <p14:creationId xmlns:p14="http://schemas.microsoft.com/office/powerpoint/2010/main" val="1112131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Заголовок и объект">
    <p:bg>
      <p:bgPr>
        <a:solidFill>
          <a:schemeClr val="bg1"/>
        </a:solidFill>
        <a:effectLst/>
      </p:bgPr>
    </p:bg>
    <p:spTree>
      <p:nvGrpSpPr>
        <p:cNvPr id="1" name=""/>
        <p:cNvGrpSpPr/>
        <p:nvPr/>
      </p:nvGrpSpPr>
      <p:grpSpPr>
        <a:xfrm>
          <a:off x="0" y="0"/>
          <a:ext cx="0" cy="0"/>
          <a:chOff x="0" y="0"/>
          <a:chExt cx="0" cy="0"/>
        </a:xfrm>
      </p:grpSpPr>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646267" cy="857400"/>
          </a:xfrm>
          <a:prstGeom prst="rect">
            <a:avLst/>
          </a:prstGeom>
        </p:spPr>
        <p:txBody>
          <a:bodyPr spcFirstLastPara="1" wrap="square" lIns="91425" tIns="91425" rIns="91425" bIns="91425" anchor="b" anchorCtr="0">
            <a:noAutofit/>
          </a:bodyPr>
          <a:lstStyle>
            <a:lvl1pPr>
              <a:defRPr>
                <a:solidFill>
                  <a:schemeClr val="accent5"/>
                </a:solidFill>
              </a:defRPr>
            </a:lvl1pPr>
          </a:lstStyle>
          <a:p>
            <a:pPr marL="0" lvl="0" indent="0" algn="l" rtl="0">
              <a:spcBef>
                <a:spcPts val="0"/>
              </a:spcBef>
              <a:spcAft>
                <a:spcPts val="0"/>
              </a:spcAft>
              <a:buNone/>
            </a:pPr>
            <a:r>
              <a:rPr lang="en-US" dirty="0"/>
              <a:t>You can also insert a photos</a:t>
            </a:r>
            <a:endParaRPr dirty="0"/>
          </a:p>
        </p:txBody>
      </p:sp>
      <p:pic>
        <p:nvPicPr>
          <p:cNvPr id="5" name="Рисунок 4">
            <a:extLst>
              <a:ext uri="{FF2B5EF4-FFF2-40B4-BE49-F238E27FC236}">
                <a16:creationId xmlns:a16="http://schemas.microsoft.com/office/drawing/2014/main" id="{8BE65376-C484-7E39-4F18-93A9C81E25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3186"/>
            <a:ext cx="12192000" cy="231590"/>
          </a:xfrm>
          <a:prstGeom prst="rect">
            <a:avLst/>
          </a:prstGeom>
        </p:spPr>
      </p:pic>
      <p:pic>
        <p:nvPicPr>
          <p:cNvPr id="10" name="Рисунок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1"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2721058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Заголовок и объект">
    <p:bg>
      <p:bgPr>
        <a:solidFill>
          <a:srgbClr val="ECEEEE"/>
        </a:solidFill>
        <a:effectLst/>
      </p:bgPr>
    </p:bg>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914401"/>
            <a:ext cx="12192000" cy="231589"/>
          </a:xfrm>
          <a:prstGeom prst="rect">
            <a:avLst/>
          </a:prstGeom>
        </p:spPr>
      </p:pic>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587901"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US" dirty="0"/>
              <a:t>You can also insert a photos</a:t>
            </a:r>
            <a:endParaRPr dirty="0"/>
          </a:p>
        </p:txBody>
      </p:sp>
      <p:pic>
        <p:nvPicPr>
          <p:cNvPr id="7" name="Рисунок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9"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0"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5" name="Рисунок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8240821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Заголовок и объект">
    <p:bg>
      <p:bgPr>
        <a:solidFill>
          <a:srgbClr val="ECEEEE"/>
        </a:solidFill>
        <a:effectLst/>
      </p:bgPr>
    </p:bg>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914401"/>
            <a:ext cx="12192000" cy="231589"/>
          </a:xfrm>
          <a:prstGeom prst="rect">
            <a:avLst/>
          </a:prstGeom>
        </p:spPr>
      </p:pic>
      <p:sp>
        <p:nvSpPr>
          <p:cNvPr id="7" name="Google Shape;144;p19">
            <a:extLst>
              <a:ext uri="{FF2B5EF4-FFF2-40B4-BE49-F238E27FC236}">
                <a16:creationId xmlns:a16="http://schemas.microsoft.com/office/drawing/2014/main" id="{603DAD57-855B-69D0-1CBD-C5B3BD3EC15D}"/>
              </a:ext>
            </a:extLst>
          </p:cNvPr>
          <p:cNvSpPr txBox="1">
            <a:spLocks noGrp="1"/>
          </p:cNvSpPr>
          <p:nvPr>
            <p:ph type="body" idx="1"/>
          </p:nvPr>
        </p:nvSpPr>
        <p:spPr>
          <a:xfrm>
            <a:off x="893624" y="1714500"/>
            <a:ext cx="5074557"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White</a:t>
            </a:r>
            <a:endParaRPr b="1" dirty="0"/>
          </a:p>
          <a:p>
            <a:pPr marL="0" lvl="0" indent="0" algn="l" rtl="0">
              <a:spcBef>
                <a:spcPts val="600"/>
              </a:spcBef>
              <a:spcAft>
                <a:spcPts val="0"/>
              </a:spcAft>
              <a:buNone/>
            </a:pPr>
            <a:r>
              <a:rPr lang="en" dirty="0"/>
              <a:t>Is the color of milk and fresh snow, the color produced by the combination of all the colors of the visible spectrum.</a:t>
            </a:r>
            <a:endParaRPr dirty="0"/>
          </a:p>
        </p:txBody>
      </p:sp>
      <p:sp>
        <p:nvSpPr>
          <p:cNvPr id="8" name="Google Shape;145;p19">
            <a:extLst>
              <a:ext uri="{FF2B5EF4-FFF2-40B4-BE49-F238E27FC236}">
                <a16:creationId xmlns:a16="http://schemas.microsoft.com/office/drawing/2014/main" id="{E5CCA84B-7D50-8B33-EC06-994FE2643988}"/>
              </a:ext>
            </a:extLst>
          </p:cNvPr>
          <p:cNvSpPr txBox="1">
            <a:spLocks noGrp="1"/>
          </p:cNvSpPr>
          <p:nvPr>
            <p:ph type="title"/>
          </p:nvPr>
        </p:nvSpPr>
        <p:spPr>
          <a:xfrm>
            <a:off x="893699" y="474531"/>
            <a:ext cx="8561586"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 dirty="0"/>
              <a:t>You can also split your content</a:t>
            </a:r>
            <a:endParaRPr dirty="0"/>
          </a:p>
        </p:txBody>
      </p:sp>
      <p:sp>
        <p:nvSpPr>
          <p:cNvPr id="9" name="Google Shape;146;p19">
            <a:extLst>
              <a:ext uri="{FF2B5EF4-FFF2-40B4-BE49-F238E27FC236}">
                <a16:creationId xmlns:a16="http://schemas.microsoft.com/office/drawing/2014/main" id="{1A3271C3-5EB1-33E0-AD0F-C686F31E636B}"/>
              </a:ext>
            </a:extLst>
          </p:cNvPr>
          <p:cNvSpPr txBox="1">
            <a:spLocks noGrp="1"/>
          </p:cNvSpPr>
          <p:nvPr>
            <p:ph type="body" idx="2"/>
          </p:nvPr>
        </p:nvSpPr>
        <p:spPr>
          <a:xfrm>
            <a:off x="6223821" y="1714500"/>
            <a:ext cx="5129978" cy="17058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Black</a:t>
            </a:r>
            <a:endParaRPr b="1" dirty="0"/>
          </a:p>
          <a:p>
            <a:pPr marL="0" lvl="0" indent="0" algn="l" rtl="0">
              <a:spcBef>
                <a:spcPts val="600"/>
              </a:spcBef>
              <a:spcAft>
                <a:spcPts val="0"/>
              </a:spcAft>
              <a:buNone/>
            </a:pPr>
            <a:r>
              <a:rPr lang="en" dirty="0"/>
              <a:t>Is the color of ebony and of outer space. It has been the symbolic color of elegance, solemnity and authority.</a:t>
            </a:r>
            <a:endParaRPr dirty="0"/>
          </a:p>
        </p:txBody>
      </p:sp>
      <p:pic>
        <p:nvPicPr>
          <p:cNvPr id="16" name="Рисунок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10"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5"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17" name="Рисунок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1180198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bg>
      <p:bgPr>
        <a:solidFill>
          <a:schemeClr val="bg1"/>
        </a:solidFill>
        <a:effectLst/>
      </p:bgPr>
    </p:bg>
    <p:spTree>
      <p:nvGrpSpPr>
        <p:cNvPr id="1" name=""/>
        <p:cNvGrpSpPr/>
        <p:nvPr/>
      </p:nvGrpSpPr>
      <p:grpSpPr>
        <a:xfrm>
          <a:off x="0" y="0"/>
          <a:ext cx="0" cy="0"/>
          <a:chOff x="0" y="0"/>
          <a:chExt cx="0" cy="0"/>
        </a:xfrm>
      </p:grpSpPr>
      <p:sp>
        <p:nvSpPr>
          <p:cNvPr id="8" name="Google Shape;145;p19">
            <a:extLst>
              <a:ext uri="{FF2B5EF4-FFF2-40B4-BE49-F238E27FC236}">
                <a16:creationId xmlns:a16="http://schemas.microsoft.com/office/drawing/2014/main" id="{E5CCA84B-7D50-8B33-EC06-994FE2643988}"/>
              </a:ext>
            </a:extLst>
          </p:cNvPr>
          <p:cNvSpPr txBox="1">
            <a:spLocks noGrp="1"/>
          </p:cNvSpPr>
          <p:nvPr>
            <p:ph type="title" hasCustomPrompt="1"/>
          </p:nvPr>
        </p:nvSpPr>
        <p:spPr>
          <a:xfrm>
            <a:off x="838201" y="474531"/>
            <a:ext cx="8548990" cy="857400"/>
          </a:xfrm>
          <a:prstGeom prst="rect">
            <a:avLst/>
          </a:prstGeom>
        </p:spPr>
        <p:txBody>
          <a:bodyPr spcFirstLastPara="1" wrap="square" lIns="91425" tIns="91425" rIns="91425" bIns="91425" anchor="b" anchorCtr="0">
            <a:noAutofit/>
          </a:bodyPr>
          <a:lstStyle>
            <a:lvl1pPr>
              <a:defRPr>
                <a:solidFill>
                  <a:schemeClr val="tx2"/>
                </a:solidFill>
              </a:defRPr>
            </a:lvl1pPr>
          </a:lstStyle>
          <a:p>
            <a:pPr marL="0" lvl="0" indent="0" algn="l" rtl="0">
              <a:spcBef>
                <a:spcPts val="0"/>
              </a:spcBef>
              <a:spcAft>
                <a:spcPts val="0"/>
              </a:spcAft>
              <a:buNone/>
            </a:pPr>
            <a:r>
              <a:rPr lang="en" dirty="0"/>
              <a:t>In two or three columns</a:t>
            </a:r>
            <a:endParaRPr dirty="0"/>
          </a:p>
        </p:txBody>
      </p:sp>
      <p:pic>
        <p:nvPicPr>
          <p:cNvPr id="11" name="Рисунок 10">
            <a:extLst>
              <a:ext uri="{FF2B5EF4-FFF2-40B4-BE49-F238E27FC236}">
                <a16:creationId xmlns:a16="http://schemas.microsoft.com/office/drawing/2014/main" id="{8396998A-0669-DD7B-F5BE-B19B862C8D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910309"/>
            <a:ext cx="12192000" cy="947691"/>
          </a:xfrm>
          <a:prstGeom prst="rect">
            <a:avLst/>
          </a:prstGeom>
        </p:spPr>
      </p:pic>
      <p:sp>
        <p:nvSpPr>
          <p:cNvPr id="10" name="Google Shape;153;p20">
            <a:extLst>
              <a:ext uri="{FF2B5EF4-FFF2-40B4-BE49-F238E27FC236}">
                <a16:creationId xmlns:a16="http://schemas.microsoft.com/office/drawing/2014/main" id="{42D3C5AD-203C-06E8-B308-7570F0188AA6}"/>
              </a:ext>
            </a:extLst>
          </p:cNvPr>
          <p:cNvSpPr txBox="1">
            <a:spLocks noGrp="1"/>
          </p:cNvSpPr>
          <p:nvPr>
            <p:ph type="body" idx="1"/>
          </p:nvPr>
        </p:nvSpPr>
        <p:spPr>
          <a:xfrm>
            <a:off x="838201" y="1597742"/>
            <a:ext cx="3291347" cy="13899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Yellow</a:t>
            </a:r>
            <a:endParaRPr b="1" dirty="0"/>
          </a:p>
          <a:p>
            <a:pPr marL="0" lvl="0" indent="0" algn="l" rtl="0">
              <a:spcBef>
                <a:spcPts val="600"/>
              </a:spcBef>
              <a:spcAft>
                <a:spcPts val="0"/>
              </a:spcAft>
              <a:buNone/>
            </a:pPr>
            <a:r>
              <a:rPr lang="en" dirty="0"/>
              <a:t>Is the color of gold, butter and ripe lemons. In the spectrum of visible light, yellow is found between green and orange.</a:t>
            </a:r>
            <a:endParaRPr dirty="0"/>
          </a:p>
        </p:txBody>
      </p:sp>
      <p:sp>
        <p:nvSpPr>
          <p:cNvPr id="15" name="Google Shape;154;p20">
            <a:extLst>
              <a:ext uri="{FF2B5EF4-FFF2-40B4-BE49-F238E27FC236}">
                <a16:creationId xmlns:a16="http://schemas.microsoft.com/office/drawing/2014/main" id="{93774569-09A6-3D2C-E96E-EB2A8880292B}"/>
              </a:ext>
            </a:extLst>
          </p:cNvPr>
          <p:cNvSpPr txBox="1">
            <a:spLocks noGrp="1"/>
          </p:cNvSpPr>
          <p:nvPr>
            <p:ph type="body" idx="2"/>
          </p:nvPr>
        </p:nvSpPr>
        <p:spPr>
          <a:xfrm>
            <a:off x="4450326" y="1597742"/>
            <a:ext cx="3291347" cy="13899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Blue</a:t>
            </a:r>
            <a:endParaRPr b="1" dirty="0"/>
          </a:p>
          <a:p>
            <a:pPr marL="0" lvl="0" indent="0" algn="l" rtl="0">
              <a:spcBef>
                <a:spcPts val="600"/>
              </a:spcBef>
              <a:spcAft>
                <a:spcPts val="0"/>
              </a:spcAft>
              <a:buNone/>
            </a:pPr>
            <a:r>
              <a:rPr lang="en" dirty="0"/>
              <a:t>Is the colour of the clear sky and the deep sea. It is located between violet and green on the optical spectrum.</a:t>
            </a:r>
            <a:endParaRPr dirty="0"/>
          </a:p>
        </p:txBody>
      </p:sp>
      <p:sp>
        <p:nvSpPr>
          <p:cNvPr id="16" name="Google Shape;155;p20">
            <a:extLst>
              <a:ext uri="{FF2B5EF4-FFF2-40B4-BE49-F238E27FC236}">
                <a16:creationId xmlns:a16="http://schemas.microsoft.com/office/drawing/2014/main" id="{12B6BEED-76B3-42F1-1655-75B4633AFEFE}"/>
              </a:ext>
            </a:extLst>
          </p:cNvPr>
          <p:cNvSpPr txBox="1">
            <a:spLocks noGrp="1"/>
          </p:cNvSpPr>
          <p:nvPr>
            <p:ph type="body" idx="3"/>
          </p:nvPr>
        </p:nvSpPr>
        <p:spPr>
          <a:xfrm>
            <a:off x="8062452" y="1597742"/>
            <a:ext cx="3291347" cy="1389900"/>
          </a:xfrm>
          <a:prstGeom prst="rect">
            <a:avLst/>
          </a:prstGeom>
        </p:spPr>
        <p:txBody>
          <a:bodyPr spcFirstLastPara="1" wrap="square" lIns="91425" tIns="91425" rIns="91425" bIns="91425" anchor="t" anchorCtr="0">
            <a:noAutofit/>
          </a:bodyPr>
          <a:lstStyle>
            <a:lvl1pPr>
              <a:defRPr sz="2000"/>
            </a:lvl1pPr>
          </a:lstStyle>
          <a:p>
            <a:pPr marL="0" lvl="0" indent="0" algn="l" rtl="0">
              <a:spcBef>
                <a:spcPts val="600"/>
              </a:spcBef>
              <a:spcAft>
                <a:spcPts val="0"/>
              </a:spcAft>
              <a:buNone/>
            </a:pPr>
            <a:r>
              <a:rPr lang="en" b="1" dirty="0"/>
              <a:t>Red</a:t>
            </a:r>
            <a:endParaRPr b="1" dirty="0"/>
          </a:p>
          <a:p>
            <a:pPr marL="0" lvl="0" indent="0" algn="l" rtl="0">
              <a:spcBef>
                <a:spcPts val="600"/>
              </a:spcBef>
              <a:spcAft>
                <a:spcPts val="0"/>
              </a:spcAft>
              <a:buNone/>
            </a:pPr>
            <a:r>
              <a:rPr lang="en" dirty="0"/>
              <a:t>Is the color of blood, and because of this it has historically been associated with sacrifice, danger and courage. </a:t>
            </a:r>
            <a:endParaRPr dirty="0"/>
          </a:p>
          <a:p>
            <a:pPr marL="0" lvl="0" indent="0" algn="l" rtl="0">
              <a:spcBef>
                <a:spcPts val="600"/>
              </a:spcBef>
              <a:spcAft>
                <a:spcPts val="0"/>
              </a:spcAft>
              <a:buNone/>
            </a:pPr>
            <a:endParaRPr dirty="0"/>
          </a:p>
        </p:txBody>
      </p:sp>
      <p:pic>
        <p:nvPicPr>
          <p:cNvPr id="19" name="Рисунок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18940" y="700391"/>
            <a:ext cx="1634859" cy="400373"/>
          </a:xfrm>
          <a:prstGeom prst="rect">
            <a:avLst/>
          </a:prstGeom>
        </p:spPr>
      </p:pic>
      <p:sp>
        <p:nvSpPr>
          <p:cNvPr id="17" name="Текст 15">
            <a:extLst>
              <a:ext uri="{FF2B5EF4-FFF2-40B4-BE49-F238E27FC236}">
                <a16:creationId xmlns:a16="http://schemas.microsoft.com/office/drawing/2014/main" id="{6263DB5C-C63E-9F5C-C9E7-E895DD387D7D}"/>
              </a:ext>
            </a:extLst>
          </p:cNvPr>
          <p:cNvSpPr>
            <a:spLocks noGrp="1"/>
          </p:cNvSpPr>
          <p:nvPr>
            <p:ph type="body" sz="quarter" idx="15" hasCustomPrompt="1"/>
          </p:nvPr>
        </p:nvSpPr>
        <p:spPr>
          <a:xfrm>
            <a:off x="838201" y="6341397"/>
            <a:ext cx="3101410" cy="374650"/>
          </a:xfrm>
          <a:prstGeom prst="rect">
            <a:avLst/>
          </a:prstGeom>
        </p:spPr>
        <p:txBody>
          <a:bodyPr/>
          <a:lstStyle>
            <a:lvl1pPr marL="0" indent="0" algn="l">
              <a:buNone/>
              <a:defRPr sz="1200">
                <a:solidFill>
                  <a:schemeClr val="bg2">
                    <a:lumMod val="50000"/>
                  </a:schemeClr>
                </a:solidFill>
              </a:defRPr>
            </a:lvl1pPr>
          </a:lstStyle>
          <a:p>
            <a:pPr lvl="0"/>
            <a:r>
              <a:rPr lang="en-US" dirty="0"/>
              <a:t>Name of Department</a:t>
            </a:r>
            <a:endParaRPr lang="ru-RU" dirty="0"/>
          </a:p>
        </p:txBody>
      </p:sp>
      <p:sp>
        <p:nvSpPr>
          <p:cNvPr id="18" name="Номер слайда 5">
            <a:extLst>
              <a:ext uri="{FF2B5EF4-FFF2-40B4-BE49-F238E27FC236}">
                <a16:creationId xmlns:a16="http://schemas.microsoft.com/office/drawing/2014/main" id="{B79A03B0-37CA-036A-92F2-830D5136B1FA}"/>
              </a:ext>
            </a:extLst>
          </p:cNvPr>
          <p:cNvSpPr>
            <a:spLocks noGrp="1"/>
          </p:cNvSpPr>
          <p:nvPr>
            <p:ph type="sldNum" sz="quarter" idx="12"/>
          </p:nvPr>
        </p:nvSpPr>
        <p:spPr>
          <a:xfrm>
            <a:off x="9318522" y="6356350"/>
            <a:ext cx="2035278" cy="365125"/>
          </a:xfrm>
          <a:prstGeom prst="rect">
            <a:avLst/>
          </a:prstGeom>
        </p:spPr>
        <p:txBody>
          <a:bodyPr/>
          <a:lstStyle>
            <a:lvl1pPr algn="r">
              <a:defRPr sz="1200">
                <a:solidFill>
                  <a:schemeClr val="bg2">
                    <a:lumMod val="50000"/>
                  </a:schemeClr>
                </a:solidFill>
              </a:defRPr>
            </a:lvl1pPr>
          </a:lstStyle>
          <a:p>
            <a:fld id="{24CFBF5F-D9F7-437E-8CF8-688EAF21A1C0}" type="slidenum">
              <a:rPr lang="ru-RU" smtClean="0"/>
              <a:pPr/>
              <a:t>‹#›</a:t>
            </a:fld>
            <a:endParaRPr lang="ru-RU" dirty="0"/>
          </a:p>
        </p:txBody>
      </p:sp>
      <p:pic>
        <p:nvPicPr>
          <p:cNvPr id="20" name="Рисунок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1380" y="6306797"/>
            <a:ext cx="1849240" cy="355038"/>
          </a:xfrm>
          <a:prstGeom prst="rect">
            <a:avLst/>
          </a:prstGeom>
        </p:spPr>
      </p:pic>
    </p:spTree>
    <p:extLst>
      <p:ext uri="{BB962C8B-B14F-4D97-AF65-F5344CB8AC3E}">
        <p14:creationId xmlns:p14="http://schemas.microsoft.com/office/powerpoint/2010/main" val="2583612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Дата 3">
            <a:extLst>
              <a:ext uri="{FF2B5EF4-FFF2-40B4-BE49-F238E27FC236}">
                <a16:creationId xmlns:a16="http://schemas.microsoft.com/office/drawing/2014/main" id="{86C3C5BA-7D7F-4C3F-2640-8F638B45F002}"/>
              </a:ext>
            </a:extLst>
          </p:cNvPr>
          <p:cNvSpPr>
            <a:spLocks noGrp="1"/>
          </p:cNvSpPr>
          <p:nvPr>
            <p:ph type="dt" sz="half" idx="2"/>
          </p:nvPr>
        </p:nvSpPr>
        <p:spPr>
          <a:xfrm>
            <a:off x="838200" y="6356350"/>
            <a:ext cx="2743200" cy="365125"/>
          </a:xfrm>
          <a:prstGeom prst="rect">
            <a:avLst/>
          </a:prstGeom>
        </p:spPr>
        <p:txBody>
          <a:bodyPr/>
          <a:lstStyle>
            <a:lvl1pPr>
              <a:defRPr>
                <a:solidFill>
                  <a:schemeClr val="bg1"/>
                </a:solidFill>
              </a:defRPr>
            </a:lvl1pPr>
          </a:lstStyle>
          <a:p>
            <a:fld id="{41F200A8-E1A7-4435-83E2-162A61D52FA6}" type="datetime1">
              <a:rPr lang="ru-RU" smtClean="0"/>
              <a:t>21.02.2025</a:t>
            </a:fld>
            <a:endParaRPr lang="ru-RU" dirty="0"/>
          </a:p>
        </p:txBody>
      </p:sp>
      <p:sp>
        <p:nvSpPr>
          <p:cNvPr id="8" name="Нижний колонтитул 4">
            <a:extLst>
              <a:ext uri="{FF2B5EF4-FFF2-40B4-BE49-F238E27FC236}">
                <a16:creationId xmlns:a16="http://schemas.microsoft.com/office/drawing/2014/main" id="{1FF6D44D-D6D0-493E-4D28-4910FD03724E}"/>
              </a:ext>
            </a:extLst>
          </p:cNvPr>
          <p:cNvSpPr>
            <a:spLocks noGrp="1"/>
          </p:cNvSpPr>
          <p:nvPr>
            <p:ph type="ftr" sz="quarter" idx="3"/>
          </p:nvPr>
        </p:nvSpPr>
        <p:spPr>
          <a:xfrm>
            <a:off x="4038600" y="6356350"/>
            <a:ext cx="4114800" cy="365125"/>
          </a:xfrm>
          <a:prstGeom prst="rect">
            <a:avLst/>
          </a:prstGeom>
        </p:spPr>
        <p:txBody>
          <a:bodyPr/>
          <a:lstStyle>
            <a:lvl1pPr algn="ctr">
              <a:defRPr>
                <a:solidFill>
                  <a:schemeClr val="bg1"/>
                </a:solidFill>
              </a:defRPr>
            </a:lvl1pPr>
          </a:lstStyle>
          <a:p>
            <a:r>
              <a:rPr lang="en-US" dirty="0"/>
              <a:t>Name of Department</a:t>
            </a:r>
            <a:endParaRPr lang="ru-RU" dirty="0"/>
          </a:p>
        </p:txBody>
      </p:sp>
      <p:sp>
        <p:nvSpPr>
          <p:cNvPr id="9" name="Номер слайда 5">
            <a:extLst>
              <a:ext uri="{FF2B5EF4-FFF2-40B4-BE49-F238E27FC236}">
                <a16:creationId xmlns:a16="http://schemas.microsoft.com/office/drawing/2014/main" id="{4BCEA065-B04F-95C1-710E-80D4D07F321A}"/>
              </a:ext>
            </a:extLst>
          </p:cNvPr>
          <p:cNvSpPr>
            <a:spLocks noGrp="1"/>
          </p:cNvSpPr>
          <p:nvPr>
            <p:ph type="sldNum" sz="quarter" idx="4"/>
          </p:nvPr>
        </p:nvSpPr>
        <p:spPr>
          <a:xfrm>
            <a:off x="8610600" y="6356350"/>
            <a:ext cx="2743200" cy="365125"/>
          </a:xfrm>
          <a:prstGeom prst="rect">
            <a:avLst/>
          </a:prstGeom>
        </p:spPr>
        <p:txBody>
          <a:bodyPr/>
          <a:lstStyle>
            <a:lvl1pPr>
              <a:defRPr>
                <a:solidFill>
                  <a:schemeClr val="bg1"/>
                </a:solidFill>
              </a:defRPr>
            </a:lvl1pPr>
          </a:lstStyle>
          <a:p>
            <a:fld id="{24CFBF5F-D9F7-437E-8CF8-688EAF21A1C0}" type="slidenum">
              <a:rPr lang="ru-RU" smtClean="0"/>
              <a:pPr/>
              <a:t>‹#›</a:t>
            </a:fld>
            <a:endParaRPr lang="ru-RU" dirty="0"/>
          </a:p>
        </p:txBody>
      </p:sp>
    </p:spTree>
    <p:extLst>
      <p:ext uri="{BB962C8B-B14F-4D97-AF65-F5344CB8AC3E}">
        <p14:creationId xmlns:p14="http://schemas.microsoft.com/office/powerpoint/2010/main" val="213592523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4" r:id="rId3"/>
    <p:sldLayoutId id="2147483665" r:id="rId4"/>
    <p:sldLayoutId id="2147483663" r:id="rId5"/>
    <p:sldLayoutId id="2147483650" r:id="rId6"/>
    <p:sldLayoutId id="2147483666" r:id="rId7"/>
    <p:sldLayoutId id="2147483671" r:id="rId8"/>
    <p:sldLayoutId id="2147483662" r:id="rId9"/>
    <p:sldLayoutId id="2147483670" r:id="rId10"/>
    <p:sldLayoutId id="2147483669" r:id="rId11"/>
    <p:sldLayoutId id="2147483668" r:id="rId12"/>
    <p:sldLayoutId id="2147483667" r:id="rId13"/>
    <p:sldLayoutId id="2147483661"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hyperlink" Target="https://www.w3resource.com/csharp-exercises/searching-and-sorting-algorithm/searching-and-sorting-algorithm-exercise-9.php" TargetMode="Externa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hyperlink" Target="https://visualgo.net/bn/sorting" TargetMode="Externa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ECDC59-877C-90A9-C652-0BE567D7F1F2}"/>
              </a:ext>
            </a:extLst>
          </p:cNvPr>
          <p:cNvSpPr>
            <a:spLocks noGrp="1"/>
          </p:cNvSpPr>
          <p:nvPr>
            <p:ph type="ctrTitle"/>
          </p:nvPr>
        </p:nvSpPr>
        <p:spPr>
          <a:xfrm>
            <a:off x="654341" y="1671545"/>
            <a:ext cx="10972799" cy="2387600"/>
          </a:xfrm>
        </p:spPr>
        <p:txBody>
          <a:bodyPr/>
          <a:lstStyle/>
          <a:p>
            <a:r>
              <a:rPr lang="en" dirty="0"/>
              <a:t>Fundamentals of Programming</a:t>
            </a:r>
            <a:endParaRPr lang="ru-RU" dirty="0"/>
          </a:p>
        </p:txBody>
      </p:sp>
      <p:sp>
        <p:nvSpPr>
          <p:cNvPr id="3" name="Подзаголовок 2">
            <a:extLst>
              <a:ext uri="{FF2B5EF4-FFF2-40B4-BE49-F238E27FC236}">
                <a16:creationId xmlns:a16="http://schemas.microsoft.com/office/drawing/2014/main" id="{E886D810-431C-E147-2D52-2B768F306D30}"/>
              </a:ext>
            </a:extLst>
          </p:cNvPr>
          <p:cNvSpPr>
            <a:spLocks noGrp="1"/>
          </p:cNvSpPr>
          <p:nvPr>
            <p:ph type="subTitle" idx="1"/>
          </p:nvPr>
        </p:nvSpPr>
        <p:spPr/>
        <p:txBody>
          <a:bodyPr/>
          <a:lstStyle/>
          <a:p>
            <a:r>
              <a:rPr lang="en-US" dirty="0"/>
              <a:t>Lecture 19</a:t>
            </a:r>
          </a:p>
          <a:p>
            <a:pPr eaLnBrk="1" hangingPunct="1"/>
            <a:r>
              <a:rPr lang="en-US" dirty="0"/>
              <a:t>Sorting Algorithms</a:t>
            </a:r>
          </a:p>
          <a:p>
            <a:pPr eaLnBrk="1" hangingPunct="1"/>
            <a:r>
              <a:rPr lang="en-US" dirty="0"/>
              <a:t>Searching Algorithms</a:t>
            </a:r>
          </a:p>
        </p:txBody>
      </p:sp>
      <p:sp>
        <p:nvSpPr>
          <p:cNvPr id="9"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157504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Agenda</a:t>
            </a:r>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eaLnBrk="1" hangingPunct="1"/>
            <a:r>
              <a:rPr lang="en-US" sz="2800" dirty="0"/>
              <a:t>Bubble sort</a:t>
            </a:r>
          </a:p>
          <a:p>
            <a:pPr eaLnBrk="1" hangingPunct="1"/>
            <a:r>
              <a:rPr lang="en-US" sz="2800" dirty="0"/>
              <a:t>Insertion sort</a:t>
            </a:r>
          </a:p>
          <a:p>
            <a:pPr eaLnBrk="1" hangingPunct="1"/>
            <a:r>
              <a:rPr lang="en-US" sz="2800" dirty="0"/>
              <a:t>Selection sort</a:t>
            </a:r>
          </a:p>
          <a:p>
            <a:pPr eaLnBrk="1" hangingPunct="1"/>
            <a:r>
              <a:rPr lang="en-US" sz="2800" dirty="0"/>
              <a:t>Quick sort</a:t>
            </a:r>
          </a:p>
          <a:p>
            <a:pPr eaLnBrk="1" hangingPunct="1"/>
            <a:r>
              <a:rPr lang="en-US" sz="2800" dirty="0"/>
              <a:t>Sequential search</a:t>
            </a:r>
          </a:p>
          <a:p>
            <a:pPr eaLnBrk="1" hangingPunct="1"/>
            <a:r>
              <a:rPr lang="en-US" sz="2800" dirty="0"/>
              <a:t>Searching for extremes</a:t>
            </a:r>
          </a:p>
          <a:p>
            <a:pPr eaLnBrk="1" hangingPunct="1"/>
            <a:r>
              <a:rPr lang="en-US" sz="2800" dirty="0"/>
              <a:t>Binary search</a:t>
            </a:r>
          </a:p>
        </p:txBody>
      </p:sp>
    </p:spTree>
    <p:extLst>
      <p:ext uri="{BB962C8B-B14F-4D97-AF65-F5344CB8AC3E}">
        <p14:creationId xmlns:p14="http://schemas.microsoft.com/office/powerpoint/2010/main" val="663812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Bubble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3</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a:r>
              <a:rPr lang="en-US" sz="2800" dirty="0"/>
              <a:t>Values “float like a bubble” from one end of the list to another</a:t>
            </a:r>
          </a:p>
          <a:p>
            <a:pPr algn="just"/>
            <a:endParaRPr lang="en-US" sz="2800" dirty="0"/>
          </a:p>
          <a:p>
            <a:pPr algn="just"/>
            <a:endParaRPr lang="en-US" sz="2800" dirty="0"/>
          </a:p>
        </p:txBody>
      </p:sp>
    </p:spTree>
    <p:extLst>
      <p:ext uri="{BB962C8B-B14F-4D97-AF65-F5344CB8AC3E}">
        <p14:creationId xmlns:p14="http://schemas.microsoft.com/office/powerpoint/2010/main" val="71582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Bubble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4</a:t>
            </a:fld>
            <a:endParaRPr lang="ru-RU"/>
          </a:p>
        </p:txBody>
      </p:sp>
      <p:pic>
        <p:nvPicPr>
          <p:cNvPr id="8" name="Picture 5">
            <a:extLst>
              <a:ext uri="{FF2B5EF4-FFF2-40B4-BE49-F238E27FC236}">
                <a16:creationId xmlns:a16="http://schemas.microsoft.com/office/drawing/2014/main" id="{7AABA44D-B3B5-4A98-8370-36F8D9C3D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323181"/>
            <a:ext cx="8382000" cy="421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1213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Bubble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5</a:t>
            </a:fld>
            <a:endParaRPr lang="ru-RU"/>
          </a:p>
        </p:txBody>
      </p:sp>
      <p:pic>
        <p:nvPicPr>
          <p:cNvPr id="9" name="Picture 2">
            <a:extLst>
              <a:ext uri="{FF2B5EF4-FFF2-40B4-BE49-F238E27FC236}">
                <a16:creationId xmlns:a16="http://schemas.microsoft.com/office/drawing/2014/main" id="{A2567F2E-CA44-438B-8929-7DDB0FE0C2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8182"/>
          <a:stretch>
            <a:fillRect/>
          </a:stretch>
        </p:blipFill>
        <p:spPr bwMode="auto">
          <a:xfrm>
            <a:off x="2667000" y="1195387"/>
            <a:ext cx="685800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6243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Bubble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6</a:t>
            </a:fld>
            <a:endParaRPr lang="ru-RU"/>
          </a:p>
        </p:txBody>
      </p:sp>
      <p:pic>
        <p:nvPicPr>
          <p:cNvPr id="8" name="Picture 2">
            <a:extLst>
              <a:ext uri="{FF2B5EF4-FFF2-40B4-BE49-F238E27FC236}">
                <a16:creationId xmlns:a16="http://schemas.microsoft.com/office/drawing/2014/main" id="{E6B05B3D-DA5D-48FA-BC1A-7CD6440AC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608"/>
          <a:stretch>
            <a:fillRect/>
          </a:stretch>
        </p:blipFill>
        <p:spPr bwMode="auto">
          <a:xfrm>
            <a:off x="3784134" y="1305718"/>
            <a:ext cx="7696200"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27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5D72AC-B176-B6FA-C292-B3C3C2B393B4}"/>
              </a:ext>
            </a:extLst>
          </p:cNvPr>
          <p:cNvSpPr>
            <a:spLocks noGrp="1"/>
          </p:cNvSpPr>
          <p:nvPr>
            <p:ph type="ctrTitle"/>
          </p:nvPr>
        </p:nvSpPr>
        <p:spPr/>
        <p:txBody>
          <a:bodyPr/>
          <a:lstStyle/>
          <a:p>
            <a:r>
              <a:rPr lang="en-US" dirty="0"/>
              <a:t>Selection Sort</a:t>
            </a:r>
          </a:p>
        </p:txBody>
      </p:sp>
      <p:sp>
        <p:nvSpPr>
          <p:cNvPr id="10" name="Номер слайда 9">
            <a:extLst>
              <a:ext uri="{FF2B5EF4-FFF2-40B4-BE49-F238E27FC236}">
                <a16:creationId xmlns:a16="http://schemas.microsoft.com/office/drawing/2014/main" id="{5FAD64E5-0D38-95EE-E7BB-019A17627C5E}"/>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7</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46188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Selection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8</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en-US" sz="2800" dirty="0"/>
              <a:t>Find the smallest element and place it in position 0</a:t>
            </a:r>
          </a:p>
          <a:p>
            <a:pPr algn="just" eaLnBrk="1" hangingPunct="1"/>
            <a:r>
              <a:rPr lang="en-US" sz="2800" dirty="0"/>
              <a:t>Find the smallest element excluding the first one, and put it in the second position</a:t>
            </a:r>
          </a:p>
          <a:p>
            <a:pPr algn="just" eaLnBrk="1" hangingPunct="1"/>
            <a:r>
              <a:rPr lang="en-US" sz="2800" dirty="0"/>
              <a:t>Repeat</a:t>
            </a:r>
          </a:p>
        </p:txBody>
      </p:sp>
    </p:spTree>
    <p:extLst>
      <p:ext uri="{BB962C8B-B14F-4D97-AF65-F5344CB8AC3E}">
        <p14:creationId xmlns:p14="http://schemas.microsoft.com/office/powerpoint/2010/main" val="890821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Selection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9</a:t>
            </a:fld>
            <a:endParaRPr lang="ru-RU"/>
          </a:p>
        </p:txBody>
      </p:sp>
      <p:pic>
        <p:nvPicPr>
          <p:cNvPr id="9" name="Picture 2" descr="select_sort">
            <a:extLst>
              <a:ext uri="{FF2B5EF4-FFF2-40B4-BE49-F238E27FC236}">
                <a16:creationId xmlns:a16="http://schemas.microsoft.com/office/drawing/2014/main" id="{7F5AAC88-DC55-407F-AA64-1B314EA28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831" y="1676400"/>
            <a:ext cx="854233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455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5D72AC-B176-B6FA-C292-B3C3C2B393B4}"/>
              </a:ext>
            </a:extLst>
          </p:cNvPr>
          <p:cNvSpPr>
            <a:spLocks noGrp="1"/>
          </p:cNvSpPr>
          <p:nvPr>
            <p:ph type="ctrTitle"/>
          </p:nvPr>
        </p:nvSpPr>
        <p:spPr/>
        <p:txBody>
          <a:bodyPr/>
          <a:lstStyle/>
          <a:p>
            <a:r>
              <a:rPr lang="en-US" dirty="0"/>
              <a:t>Insertion Sort</a:t>
            </a:r>
          </a:p>
        </p:txBody>
      </p:sp>
      <p:sp>
        <p:nvSpPr>
          <p:cNvPr id="10" name="Номер слайда 9">
            <a:extLst>
              <a:ext uri="{FF2B5EF4-FFF2-40B4-BE49-F238E27FC236}">
                <a16:creationId xmlns:a16="http://schemas.microsoft.com/office/drawing/2014/main" id="{5FAD64E5-0D38-95EE-E7BB-019A17627C5E}"/>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10</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911111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Insertion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11</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en-US" sz="2800" dirty="0"/>
              <a:t>First element is already at the right place</a:t>
            </a:r>
          </a:p>
          <a:p>
            <a:pPr algn="just" eaLnBrk="1" hangingPunct="1"/>
            <a:r>
              <a:rPr lang="en-US" sz="2800" dirty="0"/>
              <a:t>Examine the second element and put it before or after the first element, depending on the value</a:t>
            </a:r>
          </a:p>
          <a:p>
            <a:pPr algn="just" eaLnBrk="1" hangingPunct="1"/>
            <a:r>
              <a:rPr lang="en-US" sz="2800" dirty="0"/>
              <a:t>Examine the third element and move it up until you see a smaller element</a:t>
            </a:r>
          </a:p>
          <a:p>
            <a:pPr algn="just" eaLnBrk="1" hangingPunct="1"/>
            <a:r>
              <a:rPr lang="en-US" sz="2800" dirty="0"/>
              <a:t>Repeat</a:t>
            </a:r>
          </a:p>
        </p:txBody>
      </p:sp>
    </p:spTree>
    <p:extLst>
      <p:ext uri="{BB962C8B-B14F-4D97-AF65-F5344CB8AC3E}">
        <p14:creationId xmlns:p14="http://schemas.microsoft.com/office/powerpoint/2010/main" val="2651147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Insertion 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12</a:t>
            </a:fld>
            <a:endParaRPr lang="ru-RU"/>
          </a:p>
        </p:txBody>
      </p:sp>
      <p:pic>
        <p:nvPicPr>
          <p:cNvPr id="8" name="Picture 2" descr="insertion_sort">
            <a:extLst>
              <a:ext uri="{FF2B5EF4-FFF2-40B4-BE49-F238E27FC236}">
                <a16:creationId xmlns:a16="http://schemas.microsoft.com/office/drawing/2014/main" id="{D29E2D43-5627-477A-9D92-7896AB272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102" y="1192800"/>
            <a:ext cx="7471795" cy="4707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4256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5D72AC-B176-B6FA-C292-B3C3C2B393B4}"/>
              </a:ext>
            </a:extLst>
          </p:cNvPr>
          <p:cNvSpPr>
            <a:spLocks noGrp="1"/>
          </p:cNvSpPr>
          <p:nvPr>
            <p:ph type="ctrTitle"/>
          </p:nvPr>
        </p:nvSpPr>
        <p:spPr/>
        <p:txBody>
          <a:bodyPr/>
          <a:lstStyle/>
          <a:p>
            <a:r>
              <a:rPr lang="en-US" dirty="0"/>
              <a:t>Quicksort</a:t>
            </a:r>
          </a:p>
        </p:txBody>
      </p:sp>
      <p:sp>
        <p:nvSpPr>
          <p:cNvPr id="10" name="Номер слайда 9">
            <a:extLst>
              <a:ext uri="{FF2B5EF4-FFF2-40B4-BE49-F238E27FC236}">
                <a16:creationId xmlns:a16="http://schemas.microsoft.com/office/drawing/2014/main" id="{5FAD64E5-0D38-95EE-E7BB-019A17627C5E}"/>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13</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2334498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Quicksort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14</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en-US" sz="2800" dirty="0"/>
              <a:t>Worst case – O(n2)</a:t>
            </a:r>
          </a:p>
          <a:p>
            <a:pPr algn="just" eaLnBrk="1" hangingPunct="1"/>
            <a:r>
              <a:rPr lang="en-US" sz="2800" dirty="0"/>
              <a:t>Average case – O(n log2n)</a:t>
            </a:r>
          </a:p>
          <a:p>
            <a:pPr algn="just" eaLnBrk="1" hangingPunct="1"/>
            <a:r>
              <a:rPr lang="en-US" sz="2800" dirty="0"/>
              <a:t>Based on the divide-and-conquer paradigm </a:t>
            </a:r>
          </a:p>
          <a:p>
            <a:pPr algn="just" eaLnBrk="1" hangingPunct="1"/>
            <a:r>
              <a:rPr lang="en-US" sz="2800" dirty="0"/>
              <a:t>Implementation requires knowledge of recursion</a:t>
            </a:r>
          </a:p>
        </p:txBody>
      </p:sp>
    </p:spTree>
    <p:extLst>
      <p:ext uri="{BB962C8B-B14F-4D97-AF65-F5344CB8AC3E}">
        <p14:creationId xmlns:p14="http://schemas.microsoft.com/office/powerpoint/2010/main" val="1317163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Quicksort steps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15</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0679883" cy="4174572"/>
          </a:xfrm>
        </p:spPr>
        <p:txBody>
          <a:bodyPr/>
          <a:lstStyle/>
          <a:p>
            <a:pPr algn="just" eaLnBrk="1" hangingPunct="1"/>
            <a:r>
              <a:rPr lang="en-US" sz="2800" dirty="0"/>
              <a:t>Pick an element from the list, it will be </a:t>
            </a:r>
            <a:r>
              <a:rPr lang="en-US" sz="2800" b="1" dirty="0"/>
              <a:t>pivot</a:t>
            </a:r>
          </a:p>
          <a:p>
            <a:pPr algn="just" eaLnBrk="1" hangingPunct="1"/>
            <a:r>
              <a:rPr lang="en-US" sz="2800" dirty="0"/>
              <a:t>Reorder the list so that all elements with values less than the pivot come before the pivot, while all elements with values greater than the pivot come after it (equal values can go either way). This is called the </a:t>
            </a:r>
            <a:r>
              <a:rPr lang="en-US" sz="2800" b="1" dirty="0"/>
              <a:t>partition operation</a:t>
            </a:r>
            <a:r>
              <a:rPr lang="en-US" sz="2800" dirty="0"/>
              <a:t>. After this partitioning, the pivot is in its final position (between less-than and more-than subsets).</a:t>
            </a:r>
          </a:p>
        </p:txBody>
      </p:sp>
    </p:spTree>
    <p:extLst>
      <p:ext uri="{BB962C8B-B14F-4D97-AF65-F5344CB8AC3E}">
        <p14:creationId xmlns:p14="http://schemas.microsoft.com/office/powerpoint/2010/main" val="154756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Quicksort steps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16</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0646327" cy="4174572"/>
          </a:xfrm>
        </p:spPr>
        <p:txBody>
          <a:bodyPr/>
          <a:lstStyle/>
          <a:p>
            <a:pPr algn="just" eaLnBrk="1" hangingPunct="1"/>
            <a:r>
              <a:rPr lang="en-US" sz="2800" dirty="0"/>
              <a:t>Recursively sort the sub-list of lesser elements and the sub-list of greater elements</a:t>
            </a:r>
          </a:p>
          <a:p>
            <a:pPr algn="just" eaLnBrk="1" hangingPunct="1"/>
            <a:r>
              <a:rPr lang="en-US" sz="2800" dirty="0"/>
              <a:t>The base case of the recursion are lists of size zero or one, which never need to be sorted</a:t>
            </a:r>
          </a:p>
        </p:txBody>
      </p:sp>
    </p:spTree>
    <p:extLst>
      <p:ext uri="{BB962C8B-B14F-4D97-AF65-F5344CB8AC3E}">
        <p14:creationId xmlns:p14="http://schemas.microsoft.com/office/powerpoint/2010/main" val="2638401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Choosing pivot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17</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en-US" sz="2800" dirty="0"/>
              <a:t>Leftmost (first) element</a:t>
            </a:r>
          </a:p>
          <a:p>
            <a:pPr lvl="1" algn="just"/>
            <a:r>
              <a:rPr lang="en-US" sz="2800" dirty="0"/>
              <a:t>Results in worst case performance for already sorted sets</a:t>
            </a:r>
            <a:endParaRPr lang="en-US" sz="3200" dirty="0"/>
          </a:p>
          <a:p>
            <a:pPr algn="just" eaLnBrk="1" hangingPunct="1"/>
            <a:r>
              <a:rPr lang="en-US" sz="2800" dirty="0"/>
              <a:t>Random index</a:t>
            </a:r>
          </a:p>
          <a:p>
            <a:pPr algn="just" eaLnBrk="1" hangingPunct="1"/>
            <a:r>
              <a:rPr lang="en-US" sz="2800" dirty="0"/>
              <a:t>Middle element</a:t>
            </a:r>
          </a:p>
          <a:p>
            <a:pPr algn="just" eaLnBrk="1" hangingPunct="1"/>
            <a:r>
              <a:rPr lang="en-US" sz="2800" dirty="0"/>
              <a:t>Rightmost (last) element</a:t>
            </a:r>
          </a:p>
          <a:p>
            <a:pPr algn="just" eaLnBrk="1" hangingPunct="1"/>
            <a:endParaRPr lang="en-US" sz="2800" dirty="0"/>
          </a:p>
        </p:txBody>
      </p:sp>
    </p:spTree>
    <p:extLst>
      <p:ext uri="{BB962C8B-B14F-4D97-AF65-F5344CB8AC3E}">
        <p14:creationId xmlns:p14="http://schemas.microsoft.com/office/powerpoint/2010/main" val="1558229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18</a:t>
            </a:fld>
            <a:endParaRPr lang="ru-RU"/>
          </a:p>
        </p:txBody>
      </p:sp>
      <p:pic>
        <p:nvPicPr>
          <p:cNvPr id="8" name="Picture 3" descr="H:\WIUT\2010-2011\Semester 1\PF\Lectures\Lecture 22\Sorting_quicksort_anim.gif">
            <a:extLst>
              <a:ext uri="{FF2B5EF4-FFF2-40B4-BE49-F238E27FC236}">
                <a16:creationId xmlns:a16="http://schemas.microsoft.com/office/drawing/2014/main" id="{67F5A5D8-2DD3-41C9-B028-E91CCA0B5459}"/>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a:xfrm>
            <a:off x="2251075" y="136525"/>
            <a:ext cx="7689850" cy="5876925"/>
          </a:xfrm>
          <a:prstGeom prst="rect">
            <a:avLst/>
          </a:prstGeom>
          <a:noFill/>
        </p:spPr>
      </p:pic>
    </p:spTree>
    <p:extLst>
      <p:ext uri="{BB962C8B-B14F-4D97-AF65-F5344CB8AC3E}">
        <p14:creationId xmlns:p14="http://schemas.microsoft.com/office/powerpoint/2010/main" val="3658706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Quicksort </a:t>
            </a:r>
            <a:r>
              <a:rPr lang="en-US" sz="4400" dirty="0"/>
              <a:t>pseudocode</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19</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function</a:t>
            </a:r>
            <a:r>
              <a:rPr lang="en-US" sz="2800" dirty="0">
                <a:latin typeface="Courier New" panose="02070309020205020404" pitchFamily="49" charset="0"/>
                <a:cs typeface="Times New Roman" panose="02020603050405020304" pitchFamily="18" charset="0"/>
              </a:rPr>
              <a:t> sort(array)</a:t>
            </a:r>
            <a:endParaRPr lang="en-US" sz="2800" dirty="0">
              <a:latin typeface="Times New Roman" panose="02020603050405020304" pitchFamily="18" charset="0"/>
              <a:cs typeface="Times New Roman" panose="02020603050405020304" pitchFamily="18" charset="0"/>
            </a:endParaRP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	var </a:t>
            </a:r>
            <a:r>
              <a:rPr lang="en-US" sz="2800" dirty="0">
                <a:latin typeface="Courier New" panose="02070309020205020404" pitchFamily="49" charset="0"/>
                <a:cs typeface="Times New Roman" panose="02020603050405020304" pitchFamily="18" charset="0"/>
              </a:rPr>
              <a:t>less, greater </a:t>
            </a:r>
            <a:r>
              <a:rPr lang="en-US" sz="2800" b="1" dirty="0">
                <a:latin typeface="Courier New" panose="02070309020205020404" pitchFamily="49" charset="0"/>
                <a:cs typeface="Times New Roman" panose="02020603050405020304" pitchFamily="18" charset="0"/>
              </a:rPr>
              <a:t>as</a:t>
            </a:r>
            <a:r>
              <a:rPr lang="en-US" sz="2800" dirty="0">
                <a:latin typeface="Courier New" panose="02070309020205020404" pitchFamily="49" charset="0"/>
                <a:cs typeface="Times New Roman" panose="02020603050405020304" pitchFamily="18" charset="0"/>
              </a:rPr>
              <a:t> List</a:t>
            </a:r>
            <a:endParaRPr lang="en-US" sz="2800" dirty="0">
              <a:latin typeface="Times New Roman" panose="02020603050405020304" pitchFamily="18" charset="0"/>
              <a:cs typeface="Times New Roman" panose="02020603050405020304" pitchFamily="18" charset="0"/>
            </a:endParaRP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	if</a:t>
            </a:r>
            <a:r>
              <a:rPr lang="en-US" sz="2800" dirty="0">
                <a:latin typeface="Courier New" panose="02070309020205020404" pitchFamily="49" charset="0"/>
                <a:cs typeface="Times New Roman" panose="02020603050405020304" pitchFamily="18" charset="0"/>
              </a:rPr>
              <a:t> </a:t>
            </a:r>
            <a:r>
              <a:rPr lang="en-US" sz="2800" dirty="0" err="1">
                <a:latin typeface="Courier New" panose="02070309020205020404" pitchFamily="49" charset="0"/>
                <a:cs typeface="Times New Roman" panose="02020603050405020304" pitchFamily="18" charset="0"/>
              </a:rPr>
              <a:t>array.Length</a:t>
            </a:r>
            <a:r>
              <a:rPr lang="en-US" sz="2800" dirty="0">
                <a:latin typeface="Courier New" panose="02070309020205020404" pitchFamily="49" charset="0"/>
                <a:cs typeface="Times New Roman" panose="02020603050405020304" pitchFamily="18" charset="0"/>
              </a:rPr>
              <a:t> ≤ 1</a:t>
            </a:r>
            <a:endParaRPr lang="en-US" sz="2800" dirty="0">
              <a:latin typeface="Times New Roman" panose="02020603050405020304" pitchFamily="18" charset="0"/>
              <a:cs typeface="Times New Roman" panose="02020603050405020304" pitchFamily="18" charset="0"/>
            </a:endParaRP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		return</a:t>
            </a:r>
            <a:r>
              <a:rPr lang="en-US" sz="2800" dirty="0">
                <a:latin typeface="Courier New" panose="02070309020205020404" pitchFamily="49" charset="0"/>
                <a:cs typeface="Times New Roman" panose="02020603050405020304" pitchFamily="18" charset="0"/>
              </a:rPr>
              <a:t> array </a:t>
            </a: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dirty="0">
                <a:latin typeface="Courier New" panose="02070309020205020404" pitchFamily="49" charset="0"/>
                <a:cs typeface="Times New Roman" panose="02020603050405020304" pitchFamily="18" charset="0"/>
              </a:rPr>
              <a:t>	select and remove a pivot value from array</a:t>
            </a:r>
            <a:endParaRPr lang="en-US" sz="2800" dirty="0">
              <a:latin typeface="Times New Roman" panose="02020603050405020304" pitchFamily="18" charset="0"/>
              <a:cs typeface="Times New Roman" panose="02020603050405020304" pitchFamily="18" charset="0"/>
            </a:endParaRP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	for each</a:t>
            </a:r>
            <a:r>
              <a:rPr lang="en-US" sz="2800" dirty="0">
                <a:latin typeface="Courier New" panose="02070309020205020404" pitchFamily="49" charset="0"/>
                <a:cs typeface="Times New Roman" panose="02020603050405020304" pitchFamily="18" charset="0"/>
              </a:rPr>
              <a:t> x </a:t>
            </a:r>
            <a:r>
              <a:rPr lang="en-US" sz="2800" b="1" dirty="0">
                <a:latin typeface="Courier New" panose="02070309020205020404" pitchFamily="49" charset="0"/>
                <a:cs typeface="Times New Roman" panose="02020603050405020304" pitchFamily="18" charset="0"/>
              </a:rPr>
              <a:t>in</a:t>
            </a:r>
            <a:r>
              <a:rPr lang="en-US" sz="2800" dirty="0">
                <a:latin typeface="Courier New" panose="02070309020205020404" pitchFamily="49" charset="0"/>
                <a:cs typeface="Times New Roman" panose="02020603050405020304" pitchFamily="18" charset="0"/>
              </a:rPr>
              <a:t> array</a:t>
            </a:r>
            <a:endParaRPr lang="en-US" sz="2800" dirty="0">
              <a:latin typeface="Times New Roman" panose="02020603050405020304" pitchFamily="18" charset="0"/>
              <a:cs typeface="Times New Roman" panose="02020603050405020304" pitchFamily="18" charset="0"/>
            </a:endParaRP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		if</a:t>
            </a:r>
            <a:r>
              <a:rPr lang="en-US" sz="2800" dirty="0">
                <a:latin typeface="Courier New" panose="02070309020205020404" pitchFamily="49" charset="0"/>
                <a:cs typeface="Times New Roman" panose="02020603050405020304" pitchFamily="18" charset="0"/>
              </a:rPr>
              <a:t> x ≤ pivot </a:t>
            </a:r>
            <a:r>
              <a:rPr lang="en-US" sz="2800" b="1" dirty="0">
                <a:latin typeface="Courier New" panose="02070309020205020404" pitchFamily="49" charset="0"/>
                <a:cs typeface="Times New Roman" panose="02020603050405020304" pitchFamily="18" charset="0"/>
              </a:rPr>
              <a:t>then</a:t>
            </a:r>
            <a:r>
              <a:rPr lang="en-US" sz="2800" dirty="0">
                <a:latin typeface="Courier New" panose="02070309020205020404" pitchFamily="49" charset="0"/>
                <a:cs typeface="Times New Roman" panose="02020603050405020304" pitchFamily="18" charset="0"/>
              </a:rPr>
              <a:t> append x to less</a:t>
            </a:r>
            <a:endParaRPr lang="en-US" sz="2800" dirty="0">
              <a:latin typeface="Times New Roman" panose="02020603050405020304" pitchFamily="18" charset="0"/>
              <a:cs typeface="Times New Roman" panose="02020603050405020304" pitchFamily="18" charset="0"/>
            </a:endParaRP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		else</a:t>
            </a:r>
            <a:r>
              <a:rPr lang="en-US" sz="2800" dirty="0">
                <a:latin typeface="Courier New" panose="02070309020205020404" pitchFamily="49" charset="0"/>
                <a:cs typeface="Times New Roman" panose="02020603050405020304" pitchFamily="18" charset="0"/>
              </a:rPr>
              <a:t> append x to greater</a:t>
            </a:r>
            <a:endParaRPr lang="en-US" sz="2800" dirty="0">
              <a:latin typeface="Times New Roman" panose="02020603050405020304" pitchFamily="18" charset="0"/>
              <a:cs typeface="Times New Roman" panose="02020603050405020304" pitchFamily="18" charset="0"/>
            </a:endParaRPr>
          </a:p>
          <a:p>
            <a:pPr marL="0" eaLnBrk="1" hangingPunct="1">
              <a:spcBef>
                <a:spcPct val="0"/>
              </a:spcBef>
              <a:buFont typeface="Wingdings" panose="05000000000000000000" pitchFamily="2" charset="2"/>
              <a:buNone/>
              <a:tabLst>
                <a:tab pos="581025" algn="l"/>
                <a:tab pos="1162050" algn="l"/>
                <a:tab pos="1744663" algn="l"/>
                <a:tab pos="2325688" algn="l"/>
                <a:tab pos="2908300" algn="l"/>
                <a:tab pos="3489325" algn="l"/>
                <a:tab pos="4070350" algn="l"/>
                <a:tab pos="4652963" algn="l"/>
                <a:tab pos="5233988" algn="l"/>
                <a:tab pos="5816600" algn="l"/>
                <a:tab pos="6397625" algn="l"/>
                <a:tab pos="6978650" algn="l"/>
                <a:tab pos="7561263" algn="l"/>
                <a:tab pos="8142288" algn="l"/>
                <a:tab pos="8724900" algn="l"/>
                <a:tab pos="9305925" algn="l"/>
              </a:tabLst>
            </a:pPr>
            <a:r>
              <a:rPr lang="en-US" sz="2800" b="1" dirty="0">
                <a:latin typeface="Courier New" panose="02070309020205020404" pitchFamily="49" charset="0"/>
                <a:cs typeface="Times New Roman" panose="02020603050405020304" pitchFamily="18" charset="0"/>
              </a:rPr>
              <a:t>	return</a:t>
            </a:r>
            <a:r>
              <a:rPr lang="en-US" sz="2800" dirty="0">
                <a:latin typeface="Courier New" panose="02070309020205020404" pitchFamily="49" charset="0"/>
                <a:cs typeface="Times New Roman" panose="02020603050405020304" pitchFamily="18" charset="0"/>
              </a:rPr>
              <a:t> </a:t>
            </a:r>
            <a:r>
              <a:rPr lang="en-US" sz="2800" dirty="0" err="1">
                <a:latin typeface="Courier New" panose="02070309020205020404" pitchFamily="49" charset="0"/>
                <a:cs typeface="Times New Roman" panose="02020603050405020304" pitchFamily="18" charset="0"/>
              </a:rPr>
              <a:t>concat</a:t>
            </a:r>
            <a:r>
              <a:rPr lang="en-US" sz="2800" dirty="0">
                <a:latin typeface="Courier New" panose="02070309020205020404" pitchFamily="49" charset="0"/>
                <a:cs typeface="Times New Roman" panose="02020603050405020304" pitchFamily="18" charset="0"/>
              </a:rPr>
              <a:t>(sort(less), pivot, sort(greater))</a:t>
            </a:r>
            <a:endParaRPr lang="en-US" sz="2800" dirty="0">
              <a:latin typeface="Times New Roman" panose="02020603050405020304" pitchFamily="18" charset="0"/>
              <a:cs typeface="Times New Roman" panose="02020603050405020304" pitchFamily="18" charset="0"/>
            </a:endParaRPr>
          </a:p>
          <a:p>
            <a:pPr marL="0" indent="0" algn="just" eaLnBrk="1" hangingPunct="1">
              <a:buNone/>
            </a:pPr>
            <a:endParaRPr lang="en-US" sz="2800" dirty="0"/>
          </a:p>
        </p:txBody>
      </p:sp>
    </p:spTree>
    <p:extLst>
      <p:ext uri="{BB962C8B-B14F-4D97-AF65-F5344CB8AC3E}">
        <p14:creationId xmlns:p14="http://schemas.microsoft.com/office/powerpoint/2010/main" val="3493947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Quicksort</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20</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en-US" sz="2800" dirty="0"/>
              <a:t> C# implementation can be found </a:t>
            </a:r>
            <a:r>
              <a:rPr lang="en-US" sz="2800" dirty="0">
                <a:hlinkClick r:id="rId2"/>
              </a:rPr>
              <a:t>here</a:t>
            </a:r>
            <a:endParaRPr lang="en-US" sz="2800" dirty="0"/>
          </a:p>
          <a:p>
            <a:pPr algn="just" eaLnBrk="1" hangingPunct="1"/>
            <a:endParaRPr lang="en-US" sz="2800" dirty="0"/>
          </a:p>
        </p:txBody>
      </p:sp>
    </p:spTree>
    <p:extLst>
      <p:ext uri="{BB962C8B-B14F-4D97-AF65-F5344CB8AC3E}">
        <p14:creationId xmlns:p14="http://schemas.microsoft.com/office/powerpoint/2010/main" val="2266871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Other sorting algorithms</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21</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it-IT" sz="2800" dirty="0"/>
              <a:t>Merge sort</a:t>
            </a:r>
          </a:p>
          <a:p>
            <a:pPr algn="just" eaLnBrk="1" hangingPunct="1"/>
            <a:r>
              <a:rPr lang="it-IT" sz="2800" dirty="0"/>
              <a:t>Heapsort</a:t>
            </a:r>
          </a:p>
          <a:p>
            <a:pPr algn="just" eaLnBrk="1" hangingPunct="1"/>
            <a:r>
              <a:rPr lang="it-IT" sz="2800" dirty="0">
                <a:hlinkClick r:id="rId2"/>
              </a:rPr>
              <a:t>https://visualgo.net/bn/sorting</a:t>
            </a:r>
            <a:r>
              <a:rPr lang="it-IT" sz="2800" dirty="0"/>
              <a:t> </a:t>
            </a:r>
          </a:p>
          <a:p>
            <a:pPr algn="just" eaLnBrk="1" hangingPunct="1"/>
            <a:endParaRPr lang="en-US" sz="2800" dirty="0"/>
          </a:p>
        </p:txBody>
      </p:sp>
    </p:spTree>
    <p:extLst>
      <p:ext uri="{BB962C8B-B14F-4D97-AF65-F5344CB8AC3E}">
        <p14:creationId xmlns:p14="http://schemas.microsoft.com/office/powerpoint/2010/main" val="2495726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5D72AC-B176-B6FA-C292-B3C3C2B393B4}"/>
              </a:ext>
            </a:extLst>
          </p:cNvPr>
          <p:cNvSpPr>
            <a:spLocks noGrp="1"/>
          </p:cNvSpPr>
          <p:nvPr>
            <p:ph type="ctrTitle"/>
          </p:nvPr>
        </p:nvSpPr>
        <p:spPr/>
        <p:txBody>
          <a:bodyPr/>
          <a:lstStyle/>
          <a:p>
            <a:r>
              <a:rPr lang="en-US" dirty="0"/>
              <a:t>Sequential Search</a:t>
            </a:r>
          </a:p>
        </p:txBody>
      </p:sp>
      <p:sp>
        <p:nvSpPr>
          <p:cNvPr id="10" name="Номер слайда 9">
            <a:extLst>
              <a:ext uri="{FF2B5EF4-FFF2-40B4-BE49-F238E27FC236}">
                <a16:creationId xmlns:a16="http://schemas.microsoft.com/office/drawing/2014/main" id="{5FAD64E5-0D38-95EE-E7BB-019A17627C5E}"/>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22</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3727837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Sequential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23</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0721828" cy="4174572"/>
          </a:xfrm>
        </p:spPr>
        <p:txBody>
          <a:bodyPr/>
          <a:lstStyle/>
          <a:p>
            <a:pPr algn="just" eaLnBrk="1" hangingPunct="1"/>
            <a:r>
              <a:rPr lang="en-US" sz="2800" dirty="0"/>
              <a:t>Also known as </a:t>
            </a:r>
            <a:r>
              <a:rPr lang="en-US" sz="2800" b="1" dirty="0"/>
              <a:t>Linear Search</a:t>
            </a:r>
          </a:p>
          <a:p>
            <a:pPr algn="just" eaLnBrk="1" hangingPunct="1"/>
            <a:r>
              <a:rPr lang="en-US" sz="2800" dirty="0"/>
              <a:t>Start at the beginning of the array and compare each accessed array element to the value you’re searching for</a:t>
            </a:r>
          </a:p>
          <a:p>
            <a:pPr algn="just" eaLnBrk="1" hangingPunct="1"/>
            <a:endParaRPr lang="en-US" sz="2800" dirty="0"/>
          </a:p>
          <a:p>
            <a:pPr algn="just" eaLnBrk="1" hangingPunct="1"/>
            <a:endParaRPr lang="en-US" sz="2800" dirty="0"/>
          </a:p>
        </p:txBody>
      </p:sp>
    </p:spTree>
    <p:extLst>
      <p:ext uri="{BB962C8B-B14F-4D97-AF65-F5344CB8AC3E}">
        <p14:creationId xmlns:p14="http://schemas.microsoft.com/office/powerpoint/2010/main" val="1779489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Sequential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24</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marL="0" indent="0">
              <a:spcBef>
                <a:spcPts val="0"/>
              </a:spcBef>
              <a:buNone/>
            </a:pPr>
            <a:r>
              <a:rPr lang="en-GB" sz="2800" dirty="0">
                <a:solidFill>
                  <a:srgbClr val="0000FF"/>
                </a:solidFill>
                <a:latin typeface="Consolas" panose="020B0609020204030204" pitchFamily="49" charset="0"/>
              </a:rPr>
              <a:t>private</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bool</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SeqSearch</a:t>
            </a:r>
            <a:r>
              <a:rPr lang="en-GB" sz="2800" dirty="0">
                <a:solidFill>
                  <a:srgbClr val="000000"/>
                </a:solidFill>
                <a:latin typeface="Consolas" panose="020B0609020204030204" pitchFamily="49" charset="0"/>
              </a:rPr>
              <a:t>(</a:t>
            </a:r>
            <a:r>
              <a:rPr lang="en-GB" sz="2800" dirty="0">
                <a:solidFill>
                  <a:srgbClr val="0000FF"/>
                </a:solidFill>
                <a:latin typeface="Consolas" panose="020B0609020204030204" pitchFamily="49" charset="0"/>
              </a:rPr>
              <a:t>int</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int</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valueToFind</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FF"/>
                </a:solidFill>
                <a:latin typeface="Consolas" panose="020B0609020204030204" pitchFamily="49" charset="0"/>
              </a:rPr>
              <a:t>	foreach</a:t>
            </a:r>
            <a:r>
              <a:rPr lang="en-GB" sz="2800" dirty="0">
                <a:solidFill>
                  <a:srgbClr val="000000"/>
                </a:solidFill>
                <a:latin typeface="Consolas" panose="020B0609020204030204" pitchFamily="49" charset="0"/>
              </a:rPr>
              <a:t> (var t </a:t>
            </a:r>
            <a:r>
              <a:rPr lang="en-GB" sz="2800" dirty="0">
                <a:solidFill>
                  <a:srgbClr val="0000FF"/>
                </a:solidFill>
                <a:latin typeface="Consolas" panose="020B0609020204030204" pitchFamily="49" charset="0"/>
              </a:rPr>
              <a:t>in</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	{</a:t>
            </a:r>
          </a:p>
          <a:p>
            <a:pPr marL="0" indent="0">
              <a:spcBef>
                <a:spcPts val="0"/>
              </a:spcBef>
              <a:buNone/>
            </a:pPr>
            <a:r>
              <a:rPr lang="en-GB" sz="2800" dirty="0">
                <a:solidFill>
                  <a:srgbClr val="0000FF"/>
                </a:solidFill>
                <a:latin typeface="Consolas" panose="020B0609020204030204" pitchFamily="49" charset="0"/>
              </a:rPr>
              <a:t>		if</a:t>
            </a:r>
            <a:r>
              <a:rPr lang="en-GB" sz="2800" dirty="0">
                <a:solidFill>
                  <a:srgbClr val="000000"/>
                </a:solidFill>
                <a:latin typeface="Consolas" panose="020B0609020204030204" pitchFamily="49" charset="0"/>
              </a:rPr>
              <a:t> (t == </a:t>
            </a:r>
            <a:r>
              <a:rPr lang="en-GB" sz="2800" dirty="0" err="1">
                <a:solidFill>
                  <a:srgbClr val="000000"/>
                </a:solidFill>
                <a:latin typeface="Consolas" panose="020B0609020204030204" pitchFamily="49" charset="0"/>
              </a:rPr>
              <a:t>valueToFind</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FF"/>
                </a:solidFill>
                <a:latin typeface="Consolas" panose="020B0609020204030204" pitchFamily="49" charset="0"/>
              </a:rPr>
              <a:t>			return</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true</a:t>
            </a:r>
            <a:r>
              <a:rPr lang="en-GB" sz="2800" dirty="0">
                <a:solidFill>
                  <a:srgbClr val="000000"/>
                </a:solidFill>
                <a:latin typeface="Consolas" panose="020B0609020204030204" pitchFamily="49" charset="0"/>
              </a:rPr>
              <a:t>; </a:t>
            </a:r>
            <a:r>
              <a:rPr lang="en-GB" sz="2800" dirty="0">
                <a:solidFill>
                  <a:srgbClr val="008000"/>
                </a:solidFill>
                <a:latin typeface="Consolas" panose="020B0609020204030204" pitchFamily="49" charset="0"/>
              </a:rPr>
              <a:t>//found</a:t>
            </a:r>
            <a:endParaRPr lang="en-GB" sz="2800" dirty="0">
              <a:solidFill>
                <a:srgbClr val="000000"/>
              </a:solidFill>
              <a:latin typeface="Consolas" panose="020B0609020204030204" pitchFamily="49" charset="0"/>
            </a:endParaRPr>
          </a:p>
          <a:p>
            <a:pPr marL="0" indent="0">
              <a:spcBef>
                <a:spcPts val="0"/>
              </a:spcBef>
              <a:buNone/>
            </a:pPr>
            <a:r>
              <a:rPr lang="en-GB" sz="2800" dirty="0">
                <a:solidFill>
                  <a:srgbClr val="000000"/>
                </a:solidFill>
                <a:latin typeface="Consolas" panose="020B0609020204030204" pitchFamily="49" charset="0"/>
              </a:rPr>
              <a:t>	}</a:t>
            </a:r>
          </a:p>
          <a:p>
            <a:pPr marL="0" indent="0">
              <a:spcBef>
                <a:spcPts val="0"/>
              </a:spcBef>
              <a:buNone/>
            </a:pPr>
            <a:endParaRPr lang="en-GB" sz="2800" dirty="0">
              <a:solidFill>
                <a:srgbClr val="000000"/>
              </a:solidFill>
              <a:latin typeface="Consolas" panose="020B0609020204030204" pitchFamily="49" charset="0"/>
            </a:endParaRPr>
          </a:p>
          <a:p>
            <a:pPr marL="0" indent="0">
              <a:spcBef>
                <a:spcPts val="0"/>
              </a:spcBef>
              <a:buNone/>
            </a:pPr>
            <a:r>
              <a:rPr lang="en-GB" sz="2800" dirty="0">
                <a:solidFill>
                  <a:srgbClr val="0000FF"/>
                </a:solidFill>
                <a:latin typeface="Consolas" panose="020B0609020204030204" pitchFamily="49" charset="0"/>
              </a:rPr>
              <a:t>	return</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false</a:t>
            </a:r>
            <a:r>
              <a:rPr lang="en-GB" sz="2800" dirty="0">
                <a:solidFill>
                  <a:srgbClr val="000000"/>
                </a:solidFill>
                <a:latin typeface="Consolas" panose="020B0609020204030204" pitchFamily="49" charset="0"/>
              </a:rPr>
              <a:t>; </a:t>
            </a:r>
            <a:r>
              <a:rPr lang="en-GB" sz="2800" dirty="0">
                <a:solidFill>
                  <a:srgbClr val="008000"/>
                </a:solidFill>
                <a:latin typeface="Consolas" panose="020B0609020204030204" pitchFamily="49" charset="0"/>
              </a:rPr>
              <a:t>//not found</a:t>
            </a:r>
            <a:endParaRPr lang="en-GB" sz="2800" dirty="0">
              <a:solidFill>
                <a:srgbClr val="000000"/>
              </a:solidFill>
              <a:latin typeface="Consolas" panose="020B0609020204030204" pitchFamily="49" charset="0"/>
            </a:endParaRPr>
          </a:p>
          <a:p>
            <a:pPr marL="0" indent="0">
              <a:spcBef>
                <a:spcPts val="0"/>
              </a:spcBef>
              <a:buNone/>
            </a:pPr>
            <a:r>
              <a:rPr lang="en-GB" sz="2800" dirty="0">
                <a:solidFill>
                  <a:srgbClr val="000000"/>
                </a:solidFill>
                <a:latin typeface="Consolas" panose="020B0609020204030204" pitchFamily="49" charset="0"/>
              </a:rPr>
              <a:t>}</a:t>
            </a:r>
            <a:endParaRPr lang="en-US" sz="2800" dirty="0"/>
          </a:p>
        </p:txBody>
      </p:sp>
    </p:spTree>
    <p:extLst>
      <p:ext uri="{BB962C8B-B14F-4D97-AF65-F5344CB8AC3E}">
        <p14:creationId xmlns:p14="http://schemas.microsoft.com/office/powerpoint/2010/main" val="2269211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Sequential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25</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en-US" sz="2800" dirty="0"/>
              <a:t>No prerequisites</a:t>
            </a:r>
          </a:p>
          <a:p>
            <a:pPr algn="just" eaLnBrk="1" hangingPunct="1"/>
            <a:r>
              <a:rPr lang="en-US" sz="2800" dirty="0"/>
              <a:t>Worst-case performance – O(n)</a:t>
            </a:r>
          </a:p>
          <a:p>
            <a:pPr algn="just" eaLnBrk="1" hangingPunct="1"/>
            <a:endParaRPr lang="en-US" sz="2800" dirty="0"/>
          </a:p>
        </p:txBody>
      </p:sp>
    </p:spTree>
    <p:extLst>
      <p:ext uri="{BB962C8B-B14F-4D97-AF65-F5344CB8AC3E}">
        <p14:creationId xmlns:p14="http://schemas.microsoft.com/office/powerpoint/2010/main" val="1857636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5D72AC-B176-B6FA-C292-B3C3C2B393B4}"/>
              </a:ext>
            </a:extLst>
          </p:cNvPr>
          <p:cNvSpPr>
            <a:spLocks noGrp="1"/>
          </p:cNvSpPr>
          <p:nvPr>
            <p:ph type="ctrTitle"/>
          </p:nvPr>
        </p:nvSpPr>
        <p:spPr/>
        <p:txBody>
          <a:bodyPr/>
          <a:lstStyle/>
          <a:p>
            <a:pPr eaLnBrk="1" hangingPunct="1"/>
            <a:r>
              <a:rPr lang="en-US" sz="6000" dirty="0"/>
              <a:t>Searching for extremes</a:t>
            </a:r>
          </a:p>
        </p:txBody>
      </p:sp>
      <p:sp>
        <p:nvSpPr>
          <p:cNvPr id="10" name="Номер слайда 9">
            <a:extLst>
              <a:ext uri="{FF2B5EF4-FFF2-40B4-BE49-F238E27FC236}">
                <a16:creationId xmlns:a16="http://schemas.microsoft.com/office/drawing/2014/main" id="{5FAD64E5-0D38-95EE-E7BB-019A17627C5E}"/>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26</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1801546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Searching for the minimum value</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27</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marL="0" indent="0">
              <a:spcBef>
                <a:spcPts val="0"/>
              </a:spcBef>
              <a:buNone/>
            </a:pPr>
            <a:r>
              <a:rPr lang="en-GB" sz="2800" dirty="0">
                <a:solidFill>
                  <a:srgbClr val="0000FF"/>
                </a:solidFill>
                <a:latin typeface="Consolas" panose="020B0609020204030204" pitchFamily="49" charset="0"/>
              </a:rPr>
              <a:t>private</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int</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FindMin</a:t>
            </a:r>
            <a:r>
              <a:rPr lang="en-GB" sz="2800" dirty="0">
                <a:solidFill>
                  <a:srgbClr val="000000"/>
                </a:solidFill>
                <a:latin typeface="Consolas" panose="020B0609020204030204" pitchFamily="49" charset="0"/>
              </a:rPr>
              <a:t>(</a:t>
            </a:r>
            <a:r>
              <a:rPr lang="en-GB" sz="2800" dirty="0">
                <a:solidFill>
                  <a:srgbClr val="0000FF"/>
                </a:solidFill>
                <a:latin typeface="Consolas" panose="020B0609020204030204" pitchFamily="49" charset="0"/>
              </a:rPr>
              <a:t>int</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FF"/>
                </a:solidFill>
                <a:latin typeface="Consolas" panose="020B0609020204030204" pitchFamily="49" charset="0"/>
              </a:rPr>
              <a:t>	var</a:t>
            </a:r>
            <a:r>
              <a:rPr lang="en-GB" sz="2800" dirty="0">
                <a:solidFill>
                  <a:srgbClr val="000000"/>
                </a:solidFill>
                <a:latin typeface="Consolas" panose="020B0609020204030204" pitchFamily="49" charset="0"/>
              </a:rPr>
              <a:t> min =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[0];</a:t>
            </a:r>
          </a:p>
          <a:p>
            <a:pPr marL="0" indent="0">
              <a:spcBef>
                <a:spcPts val="0"/>
              </a:spcBef>
              <a:buNone/>
            </a:pPr>
            <a:r>
              <a:rPr lang="en-GB" sz="2800" dirty="0">
                <a:solidFill>
                  <a:srgbClr val="0000FF"/>
                </a:solidFill>
                <a:latin typeface="Consolas" panose="020B0609020204030204" pitchFamily="49" charset="0"/>
              </a:rPr>
              <a:t>	for</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var</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 = 1; </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 &lt; </a:t>
            </a:r>
            <a:r>
              <a:rPr lang="en-GB" sz="2800" dirty="0" err="1">
                <a:solidFill>
                  <a:srgbClr val="000000"/>
                </a:solidFill>
                <a:latin typeface="Consolas" panose="020B0609020204030204" pitchFamily="49" charset="0"/>
              </a:rPr>
              <a:t>arr.Length</a:t>
            </a:r>
            <a:r>
              <a:rPr lang="en-GB" sz="2800" dirty="0">
                <a:solidFill>
                  <a:srgbClr val="000000"/>
                </a:solidFill>
                <a:latin typeface="Consolas" panose="020B0609020204030204" pitchFamily="49" charset="0"/>
              </a:rPr>
              <a:t> - 1; </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	{</a:t>
            </a:r>
          </a:p>
          <a:p>
            <a:pPr marL="0" indent="0">
              <a:spcBef>
                <a:spcPts val="0"/>
              </a:spcBef>
              <a:buNone/>
            </a:pPr>
            <a:r>
              <a:rPr lang="en-GB" sz="2800" dirty="0">
                <a:solidFill>
                  <a:srgbClr val="0000FF"/>
                </a:solidFill>
                <a:latin typeface="Consolas" panose="020B0609020204030204" pitchFamily="49" charset="0"/>
              </a:rPr>
              <a:t>		if</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 &lt; min)</a:t>
            </a:r>
          </a:p>
          <a:p>
            <a:pPr marL="0" indent="0">
              <a:spcBef>
                <a:spcPts val="0"/>
              </a:spcBef>
              <a:buNone/>
            </a:pPr>
            <a:r>
              <a:rPr lang="en-GB" sz="2800" dirty="0">
                <a:solidFill>
                  <a:srgbClr val="000000"/>
                </a:solidFill>
                <a:latin typeface="Consolas" panose="020B0609020204030204" pitchFamily="49" charset="0"/>
              </a:rPr>
              <a:t>			min =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	}</a:t>
            </a:r>
          </a:p>
          <a:p>
            <a:pPr marL="0" indent="0">
              <a:spcBef>
                <a:spcPts val="0"/>
              </a:spcBef>
              <a:buNone/>
            </a:pPr>
            <a:r>
              <a:rPr lang="en-GB" sz="2800" dirty="0">
                <a:solidFill>
                  <a:srgbClr val="0000FF"/>
                </a:solidFill>
                <a:latin typeface="Consolas" panose="020B0609020204030204" pitchFamily="49" charset="0"/>
              </a:rPr>
              <a:t>	return</a:t>
            </a:r>
            <a:r>
              <a:rPr lang="en-GB" sz="2800" dirty="0">
                <a:solidFill>
                  <a:srgbClr val="000000"/>
                </a:solidFill>
                <a:latin typeface="Consolas" panose="020B0609020204030204" pitchFamily="49" charset="0"/>
              </a:rPr>
              <a:t> min;</a:t>
            </a:r>
          </a:p>
          <a:p>
            <a:pPr marL="0" indent="0">
              <a:spcBef>
                <a:spcPts val="0"/>
              </a:spcBef>
              <a:buNone/>
            </a:pPr>
            <a:r>
              <a:rPr lang="en-GB" sz="2800" dirty="0">
                <a:solidFill>
                  <a:srgbClr val="000000"/>
                </a:solidFill>
                <a:latin typeface="Consolas" panose="020B0609020204030204" pitchFamily="49" charset="0"/>
              </a:rPr>
              <a:t>}</a:t>
            </a:r>
            <a:endParaRPr lang="en-US" sz="2800" dirty="0"/>
          </a:p>
        </p:txBody>
      </p:sp>
    </p:spTree>
    <p:extLst>
      <p:ext uri="{BB962C8B-B14F-4D97-AF65-F5344CB8AC3E}">
        <p14:creationId xmlns:p14="http://schemas.microsoft.com/office/powerpoint/2010/main" val="61030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Searching for the maximum value</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28</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marL="0" indent="0">
              <a:spcBef>
                <a:spcPts val="0"/>
              </a:spcBef>
              <a:buNone/>
            </a:pPr>
            <a:r>
              <a:rPr lang="en-GB" sz="2800" dirty="0">
                <a:solidFill>
                  <a:srgbClr val="0000FF"/>
                </a:solidFill>
                <a:latin typeface="Consolas" panose="020B0609020204030204" pitchFamily="49" charset="0"/>
              </a:rPr>
              <a:t>private</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int</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FindMax</a:t>
            </a:r>
            <a:r>
              <a:rPr lang="en-GB" sz="2800" dirty="0">
                <a:solidFill>
                  <a:srgbClr val="000000"/>
                </a:solidFill>
                <a:latin typeface="Consolas" panose="020B0609020204030204" pitchFamily="49" charset="0"/>
              </a:rPr>
              <a:t>(</a:t>
            </a:r>
            <a:r>
              <a:rPr lang="en-GB" sz="2800" dirty="0">
                <a:solidFill>
                  <a:srgbClr val="0000FF"/>
                </a:solidFill>
                <a:latin typeface="Consolas" panose="020B0609020204030204" pitchFamily="49" charset="0"/>
              </a:rPr>
              <a:t>int</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FF"/>
                </a:solidFill>
                <a:latin typeface="Consolas" panose="020B0609020204030204" pitchFamily="49" charset="0"/>
              </a:rPr>
              <a:t>	var</a:t>
            </a:r>
            <a:r>
              <a:rPr lang="en-GB" sz="2800" dirty="0">
                <a:solidFill>
                  <a:srgbClr val="000000"/>
                </a:solidFill>
                <a:latin typeface="Consolas" panose="020B0609020204030204" pitchFamily="49" charset="0"/>
              </a:rPr>
              <a:t> max =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[0];</a:t>
            </a:r>
          </a:p>
          <a:p>
            <a:pPr marL="0" indent="0">
              <a:spcBef>
                <a:spcPts val="0"/>
              </a:spcBef>
              <a:buNone/>
            </a:pPr>
            <a:r>
              <a:rPr lang="en-GB" sz="2800" dirty="0">
                <a:solidFill>
                  <a:srgbClr val="0000FF"/>
                </a:solidFill>
                <a:latin typeface="Consolas" panose="020B0609020204030204" pitchFamily="49" charset="0"/>
              </a:rPr>
              <a:t>	for</a:t>
            </a:r>
            <a:r>
              <a:rPr lang="en-GB" sz="2800" dirty="0">
                <a:solidFill>
                  <a:srgbClr val="000000"/>
                </a:solidFill>
                <a:latin typeface="Consolas" panose="020B0609020204030204" pitchFamily="49" charset="0"/>
              </a:rPr>
              <a:t> (</a:t>
            </a:r>
            <a:r>
              <a:rPr lang="en-GB" sz="2800" dirty="0">
                <a:solidFill>
                  <a:srgbClr val="0000FF"/>
                </a:solidFill>
                <a:latin typeface="Consolas" panose="020B0609020204030204" pitchFamily="49" charset="0"/>
              </a:rPr>
              <a:t>var</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 = 1; </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 &lt; </a:t>
            </a:r>
            <a:r>
              <a:rPr lang="en-GB" sz="2800" dirty="0" err="1">
                <a:solidFill>
                  <a:srgbClr val="000000"/>
                </a:solidFill>
                <a:latin typeface="Consolas" panose="020B0609020204030204" pitchFamily="49" charset="0"/>
              </a:rPr>
              <a:t>arr.Length</a:t>
            </a:r>
            <a:r>
              <a:rPr lang="en-GB" sz="2800" dirty="0">
                <a:solidFill>
                  <a:srgbClr val="000000"/>
                </a:solidFill>
                <a:latin typeface="Consolas" panose="020B0609020204030204" pitchFamily="49" charset="0"/>
              </a:rPr>
              <a:t> - 1; </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	{</a:t>
            </a:r>
          </a:p>
          <a:p>
            <a:pPr marL="0" indent="0">
              <a:spcBef>
                <a:spcPts val="0"/>
              </a:spcBef>
              <a:buNone/>
            </a:pPr>
            <a:r>
              <a:rPr lang="en-GB" sz="2800" dirty="0">
                <a:solidFill>
                  <a:srgbClr val="0000FF"/>
                </a:solidFill>
                <a:latin typeface="Consolas" panose="020B0609020204030204" pitchFamily="49" charset="0"/>
              </a:rPr>
              <a:t>		if</a:t>
            </a:r>
            <a:r>
              <a:rPr lang="en-GB" sz="2800" dirty="0">
                <a:solidFill>
                  <a:srgbClr val="000000"/>
                </a:solidFill>
                <a:latin typeface="Consolas" panose="020B0609020204030204" pitchFamily="49" charset="0"/>
              </a:rPr>
              <a:t>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 &gt; max)</a:t>
            </a:r>
          </a:p>
          <a:p>
            <a:pPr marL="0" indent="0">
              <a:spcBef>
                <a:spcPts val="0"/>
              </a:spcBef>
              <a:buNone/>
            </a:pPr>
            <a:r>
              <a:rPr lang="en-GB" sz="2800" dirty="0">
                <a:solidFill>
                  <a:srgbClr val="000000"/>
                </a:solidFill>
                <a:latin typeface="Consolas" panose="020B0609020204030204" pitchFamily="49" charset="0"/>
              </a:rPr>
              <a:t>			max = </a:t>
            </a:r>
            <a:r>
              <a:rPr lang="en-GB" sz="2800" dirty="0" err="1">
                <a:solidFill>
                  <a:srgbClr val="000000"/>
                </a:solidFill>
                <a:latin typeface="Consolas" panose="020B0609020204030204" pitchFamily="49" charset="0"/>
              </a:rPr>
              <a:t>arr</a:t>
            </a:r>
            <a:r>
              <a:rPr lang="en-GB" sz="2800" dirty="0">
                <a:solidFill>
                  <a:srgbClr val="000000"/>
                </a:solidFill>
                <a:latin typeface="Consolas" panose="020B0609020204030204" pitchFamily="49" charset="0"/>
              </a:rPr>
              <a:t>[</a:t>
            </a:r>
            <a:r>
              <a:rPr lang="en-GB" sz="2800" dirty="0" err="1">
                <a:solidFill>
                  <a:srgbClr val="000000"/>
                </a:solidFill>
                <a:latin typeface="Consolas" panose="020B0609020204030204" pitchFamily="49" charset="0"/>
              </a:rPr>
              <a:t>i</a:t>
            </a:r>
            <a:r>
              <a:rPr lang="en-GB" sz="2800" dirty="0">
                <a:solidFill>
                  <a:srgbClr val="000000"/>
                </a:solidFill>
                <a:latin typeface="Consolas" panose="020B0609020204030204" pitchFamily="49" charset="0"/>
              </a:rPr>
              <a:t>];</a:t>
            </a:r>
          </a:p>
          <a:p>
            <a:pPr marL="0" indent="0">
              <a:spcBef>
                <a:spcPts val="0"/>
              </a:spcBef>
              <a:buNone/>
            </a:pPr>
            <a:r>
              <a:rPr lang="en-GB" sz="2800" dirty="0">
                <a:solidFill>
                  <a:srgbClr val="000000"/>
                </a:solidFill>
                <a:latin typeface="Consolas" panose="020B0609020204030204" pitchFamily="49" charset="0"/>
              </a:rPr>
              <a:t>	}</a:t>
            </a:r>
          </a:p>
          <a:p>
            <a:pPr marL="0" indent="0">
              <a:spcBef>
                <a:spcPts val="0"/>
              </a:spcBef>
              <a:buNone/>
            </a:pPr>
            <a:r>
              <a:rPr lang="en-GB" sz="2800" dirty="0">
                <a:solidFill>
                  <a:srgbClr val="0000FF"/>
                </a:solidFill>
                <a:latin typeface="Consolas" panose="020B0609020204030204" pitchFamily="49" charset="0"/>
              </a:rPr>
              <a:t>	return</a:t>
            </a:r>
            <a:r>
              <a:rPr lang="en-GB" sz="2800" dirty="0">
                <a:solidFill>
                  <a:srgbClr val="000000"/>
                </a:solidFill>
                <a:latin typeface="Consolas" panose="020B0609020204030204" pitchFamily="49" charset="0"/>
              </a:rPr>
              <a:t> max;</a:t>
            </a:r>
          </a:p>
          <a:p>
            <a:pPr marL="0" indent="0">
              <a:spcBef>
                <a:spcPts val="0"/>
              </a:spcBef>
              <a:buNone/>
            </a:pPr>
            <a:r>
              <a:rPr lang="en-GB" sz="2800" dirty="0">
                <a:solidFill>
                  <a:srgbClr val="000000"/>
                </a:solidFill>
                <a:latin typeface="Consolas" panose="020B0609020204030204" pitchFamily="49" charset="0"/>
              </a:rPr>
              <a:t>}</a:t>
            </a:r>
            <a:endParaRPr lang="en-US" sz="2800" dirty="0"/>
          </a:p>
        </p:txBody>
      </p:sp>
    </p:spTree>
    <p:extLst>
      <p:ext uri="{BB962C8B-B14F-4D97-AF65-F5344CB8AC3E}">
        <p14:creationId xmlns:p14="http://schemas.microsoft.com/office/powerpoint/2010/main" val="2091782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5D72AC-B176-B6FA-C292-B3C3C2B393B4}"/>
              </a:ext>
            </a:extLst>
          </p:cNvPr>
          <p:cNvSpPr>
            <a:spLocks noGrp="1"/>
          </p:cNvSpPr>
          <p:nvPr>
            <p:ph type="ctrTitle"/>
          </p:nvPr>
        </p:nvSpPr>
        <p:spPr/>
        <p:txBody>
          <a:bodyPr/>
          <a:lstStyle/>
          <a:p>
            <a:pPr eaLnBrk="1" hangingPunct="1"/>
            <a:r>
              <a:rPr lang="en-US" dirty="0"/>
              <a:t>Binary Search</a:t>
            </a:r>
            <a:endParaRPr lang="en-US" sz="6000" dirty="0"/>
          </a:p>
        </p:txBody>
      </p:sp>
      <p:sp>
        <p:nvSpPr>
          <p:cNvPr id="10" name="Номер слайда 9">
            <a:extLst>
              <a:ext uri="{FF2B5EF4-FFF2-40B4-BE49-F238E27FC236}">
                <a16:creationId xmlns:a16="http://schemas.microsoft.com/office/drawing/2014/main" id="{5FAD64E5-0D38-95EE-E7BB-019A17627C5E}"/>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29</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dirty="0"/>
              <a:t>BSc Business Information Systems</a:t>
            </a:r>
            <a:endParaRPr lang="ru-RU" dirty="0"/>
          </a:p>
        </p:txBody>
      </p:sp>
    </p:spTree>
    <p:extLst>
      <p:ext uri="{BB962C8B-B14F-4D97-AF65-F5344CB8AC3E}">
        <p14:creationId xmlns:p14="http://schemas.microsoft.com/office/powerpoint/2010/main" val="4055149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Binary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30</a:t>
            </a:fld>
            <a:endParaRPr lang="ru-RU"/>
          </a:p>
        </p:txBody>
      </p:sp>
      <p:grpSp>
        <p:nvGrpSpPr>
          <p:cNvPr id="9" name="Group 8">
            <a:extLst>
              <a:ext uri="{FF2B5EF4-FFF2-40B4-BE49-F238E27FC236}">
                <a16:creationId xmlns:a16="http://schemas.microsoft.com/office/drawing/2014/main" id="{F8BAC372-9482-4FCC-84CF-83E287A7861F}"/>
              </a:ext>
            </a:extLst>
          </p:cNvPr>
          <p:cNvGrpSpPr/>
          <p:nvPr/>
        </p:nvGrpSpPr>
        <p:grpSpPr>
          <a:xfrm>
            <a:off x="1652025" y="1444925"/>
            <a:ext cx="8142259" cy="3968150"/>
            <a:chOff x="485955" y="1447800"/>
            <a:chExt cx="8142259" cy="3968150"/>
          </a:xfrm>
        </p:grpSpPr>
        <p:sp>
          <p:nvSpPr>
            <p:cNvPr id="10" name="Rectangle 9">
              <a:extLst>
                <a:ext uri="{FF2B5EF4-FFF2-40B4-BE49-F238E27FC236}">
                  <a16:creationId xmlns:a16="http://schemas.microsoft.com/office/drawing/2014/main" id="{8A4938AC-37E0-499D-966D-353459182A26}"/>
                </a:ext>
              </a:extLst>
            </p:cNvPr>
            <p:cNvSpPr/>
            <p:nvPr/>
          </p:nvSpPr>
          <p:spPr bwMode="auto">
            <a:xfrm>
              <a:off x="4186149" y="1447800"/>
              <a:ext cx="685800"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50</a:t>
              </a:r>
            </a:p>
          </p:txBody>
        </p:sp>
        <p:sp>
          <p:nvSpPr>
            <p:cNvPr id="11" name="Rectangle 10">
              <a:extLst>
                <a:ext uri="{FF2B5EF4-FFF2-40B4-BE49-F238E27FC236}">
                  <a16:creationId xmlns:a16="http://schemas.microsoft.com/office/drawing/2014/main" id="{A75F3B7F-EA8C-40B9-AD6B-47E5E3F2D9F9}"/>
                </a:ext>
              </a:extLst>
            </p:cNvPr>
            <p:cNvSpPr/>
            <p:nvPr/>
          </p:nvSpPr>
          <p:spPr bwMode="auto">
            <a:xfrm>
              <a:off x="994464" y="3627438"/>
              <a:ext cx="684362"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12</a:t>
              </a:r>
            </a:p>
          </p:txBody>
        </p:sp>
        <p:sp>
          <p:nvSpPr>
            <p:cNvPr id="12" name="Rectangle 11">
              <a:extLst>
                <a:ext uri="{FF2B5EF4-FFF2-40B4-BE49-F238E27FC236}">
                  <a16:creationId xmlns:a16="http://schemas.microsoft.com/office/drawing/2014/main" id="{DB5288B5-0FF1-449C-91D1-6B4D58B24337}"/>
                </a:ext>
              </a:extLst>
            </p:cNvPr>
            <p:cNvSpPr/>
            <p:nvPr/>
          </p:nvSpPr>
          <p:spPr bwMode="auto">
            <a:xfrm>
              <a:off x="3127075" y="3645379"/>
              <a:ext cx="685800"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38</a:t>
              </a:r>
            </a:p>
          </p:txBody>
        </p:sp>
        <p:sp>
          <p:nvSpPr>
            <p:cNvPr id="13" name="Rectangle 12">
              <a:extLst>
                <a:ext uri="{FF2B5EF4-FFF2-40B4-BE49-F238E27FC236}">
                  <a16:creationId xmlns:a16="http://schemas.microsoft.com/office/drawing/2014/main" id="{47D407D0-2D15-4ACA-B44A-84B931D0EA63}"/>
                </a:ext>
              </a:extLst>
            </p:cNvPr>
            <p:cNvSpPr/>
            <p:nvPr/>
          </p:nvSpPr>
          <p:spPr bwMode="auto">
            <a:xfrm>
              <a:off x="2046796" y="2438400"/>
              <a:ext cx="685800"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25</a:t>
              </a:r>
            </a:p>
          </p:txBody>
        </p:sp>
        <p:sp>
          <p:nvSpPr>
            <p:cNvPr id="14" name="Rectangle 13">
              <a:extLst>
                <a:ext uri="{FF2B5EF4-FFF2-40B4-BE49-F238E27FC236}">
                  <a16:creationId xmlns:a16="http://schemas.microsoft.com/office/drawing/2014/main" id="{9F0855F2-FACB-4ADC-AEF4-A16982A39C79}"/>
                </a:ext>
              </a:extLst>
            </p:cNvPr>
            <p:cNvSpPr/>
            <p:nvPr/>
          </p:nvSpPr>
          <p:spPr bwMode="auto">
            <a:xfrm>
              <a:off x="6330892" y="2438400"/>
              <a:ext cx="685800"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75</a:t>
              </a:r>
            </a:p>
          </p:txBody>
        </p:sp>
        <p:sp>
          <p:nvSpPr>
            <p:cNvPr id="15" name="Rectangle 14">
              <a:extLst>
                <a:ext uri="{FF2B5EF4-FFF2-40B4-BE49-F238E27FC236}">
                  <a16:creationId xmlns:a16="http://schemas.microsoft.com/office/drawing/2014/main" id="{51B95A78-3A6F-44CE-8F2B-50E8BFA1321E}"/>
                </a:ext>
              </a:extLst>
            </p:cNvPr>
            <p:cNvSpPr/>
            <p:nvPr/>
          </p:nvSpPr>
          <p:spPr bwMode="auto">
            <a:xfrm>
              <a:off x="1550239"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19</a:t>
              </a:r>
            </a:p>
          </p:txBody>
        </p:sp>
        <p:sp>
          <p:nvSpPr>
            <p:cNvPr id="16" name="Rectangle 15">
              <a:extLst>
                <a:ext uri="{FF2B5EF4-FFF2-40B4-BE49-F238E27FC236}">
                  <a16:creationId xmlns:a16="http://schemas.microsoft.com/office/drawing/2014/main" id="{0730BD85-9F1A-465F-B095-CA176144DC7B}"/>
                </a:ext>
              </a:extLst>
            </p:cNvPr>
            <p:cNvSpPr/>
            <p:nvPr/>
          </p:nvSpPr>
          <p:spPr bwMode="auto">
            <a:xfrm>
              <a:off x="485955"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6</a:t>
              </a:r>
            </a:p>
          </p:txBody>
        </p:sp>
        <p:sp>
          <p:nvSpPr>
            <p:cNvPr id="17" name="Rectangle 16">
              <a:extLst>
                <a:ext uri="{FF2B5EF4-FFF2-40B4-BE49-F238E27FC236}">
                  <a16:creationId xmlns:a16="http://schemas.microsoft.com/office/drawing/2014/main" id="{C434EF28-43BA-413B-9B65-050B559B85AA}"/>
                </a:ext>
              </a:extLst>
            </p:cNvPr>
            <p:cNvSpPr/>
            <p:nvPr/>
          </p:nvSpPr>
          <p:spPr bwMode="auto">
            <a:xfrm>
              <a:off x="3683839"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44</a:t>
              </a:r>
            </a:p>
          </p:txBody>
        </p:sp>
        <p:sp>
          <p:nvSpPr>
            <p:cNvPr id="18" name="Rectangle 17">
              <a:extLst>
                <a:ext uri="{FF2B5EF4-FFF2-40B4-BE49-F238E27FC236}">
                  <a16:creationId xmlns:a16="http://schemas.microsoft.com/office/drawing/2014/main" id="{E7878FFB-4E79-4351-B02F-A6E145AAC00B}"/>
                </a:ext>
              </a:extLst>
            </p:cNvPr>
            <p:cNvSpPr/>
            <p:nvPr/>
          </p:nvSpPr>
          <p:spPr bwMode="auto">
            <a:xfrm>
              <a:off x="2617039"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32</a:t>
              </a:r>
            </a:p>
          </p:txBody>
        </p:sp>
        <p:sp>
          <p:nvSpPr>
            <p:cNvPr id="19" name="Rectangle 18">
              <a:extLst>
                <a:ext uri="{FF2B5EF4-FFF2-40B4-BE49-F238E27FC236}">
                  <a16:creationId xmlns:a16="http://schemas.microsoft.com/office/drawing/2014/main" id="{DDA5E550-33E3-43EF-AC0F-C989773D5F39}"/>
                </a:ext>
              </a:extLst>
            </p:cNvPr>
            <p:cNvSpPr/>
            <p:nvPr/>
          </p:nvSpPr>
          <p:spPr bwMode="auto">
            <a:xfrm>
              <a:off x="4750639"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56</a:t>
              </a:r>
            </a:p>
          </p:txBody>
        </p:sp>
        <p:sp>
          <p:nvSpPr>
            <p:cNvPr id="20" name="Rectangle 19">
              <a:extLst>
                <a:ext uri="{FF2B5EF4-FFF2-40B4-BE49-F238E27FC236}">
                  <a16:creationId xmlns:a16="http://schemas.microsoft.com/office/drawing/2014/main" id="{5EC7BF86-9067-4793-98EC-F3E7ED2BDB80}"/>
                </a:ext>
              </a:extLst>
            </p:cNvPr>
            <p:cNvSpPr/>
            <p:nvPr/>
          </p:nvSpPr>
          <p:spPr bwMode="auto">
            <a:xfrm>
              <a:off x="5814564"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69</a:t>
              </a:r>
            </a:p>
          </p:txBody>
        </p:sp>
        <p:sp>
          <p:nvSpPr>
            <p:cNvPr id="21" name="Rectangle 20">
              <a:extLst>
                <a:ext uri="{FF2B5EF4-FFF2-40B4-BE49-F238E27FC236}">
                  <a16:creationId xmlns:a16="http://schemas.microsoft.com/office/drawing/2014/main" id="{E9054FE1-A2F0-4D62-972F-F23E083F05F2}"/>
                </a:ext>
              </a:extLst>
            </p:cNvPr>
            <p:cNvSpPr/>
            <p:nvPr/>
          </p:nvSpPr>
          <p:spPr bwMode="auto">
            <a:xfrm>
              <a:off x="6878489"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chemeClr val="tx1"/>
                  </a:solidFill>
                  <a:latin typeface="Arial" charset="0"/>
                </a:rPr>
                <a:t>82</a:t>
              </a:r>
              <a:endParaRPr kumimoji="0" lang="en-US" sz="1800" b="0" i="0" u="none" strike="noStrike" cap="none" normalizeH="0" baseline="0" dirty="0">
                <a:ln>
                  <a:noFill/>
                </a:ln>
                <a:solidFill>
                  <a:schemeClr val="tx1"/>
                </a:solidFill>
                <a:effectLst/>
                <a:latin typeface="Arial" charset="0"/>
              </a:endParaRPr>
            </a:p>
          </p:txBody>
        </p:sp>
        <p:sp>
          <p:nvSpPr>
            <p:cNvPr id="22" name="Rectangle 21">
              <a:extLst>
                <a:ext uri="{FF2B5EF4-FFF2-40B4-BE49-F238E27FC236}">
                  <a16:creationId xmlns:a16="http://schemas.microsoft.com/office/drawing/2014/main" id="{0AB11E8B-4976-4E61-9AD4-9EEB7356C354}"/>
                </a:ext>
              </a:extLst>
            </p:cNvPr>
            <p:cNvSpPr/>
            <p:nvPr/>
          </p:nvSpPr>
          <p:spPr bwMode="auto">
            <a:xfrm>
              <a:off x="7942414" y="5029200"/>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94</a:t>
              </a:r>
            </a:p>
          </p:txBody>
        </p:sp>
        <p:sp>
          <p:nvSpPr>
            <p:cNvPr id="23" name="Rectangle 22">
              <a:extLst>
                <a:ext uri="{FF2B5EF4-FFF2-40B4-BE49-F238E27FC236}">
                  <a16:creationId xmlns:a16="http://schemas.microsoft.com/office/drawing/2014/main" id="{38DF382A-035F-410B-9C2E-19DA723B7044}"/>
                </a:ext>
              </a:extLst>
            </p:cNvPr>
            <p:cNvSpPr/>
            <p:nvPr/>
          </p:nvSpPr>
          <p:spPr bwMode="auto">
            <a:xfrm>
              <a:off x="7388525" y="3645379"/>
              <a:ext cx="684362"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88</a:t>
              </a:r>
            </a:p>
          </p:txBody>
        </p:sp>
        <p:sp>
          <p:nvSpPr>
            <p:cNvPr id="24" name="Rectangle 23">
              <a:extLst>
                <a:ext uri="{FF2B5EF4-FFF2-40B4-BE49-F238E27FC236}">
                  <a16:creationId xmlns:a16="http://schemas.microsoft.com/office/drawing/2014/main" id="{F43A7238-569E-4146-8A18-30ECE5C6FD4F}"/>
                </a:ext>
              </a:extLst>
            </p:cNvPr>
            <p:cNvSpPr/>
            <p:nvPr/>
          </p:nvSpPr>
          <p:spPr bwMode="auto">
            <a:xfrm>
              <a:off x="5257800" y="3645379"/>
              <a:ext cx="685800"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62</a:t>
              </a:r>
            </a:p>
          </p:txBody>
        </p:sp>
        <p:cxnSp>
          <p:nvCxnSpPr>
            <p:cNvPr id="25" name="Straight Arrow Connector 24">
              <a:extLst>
                <a:ext uri="{FF2B5EF4-FFF2-40B4-BE49-F238E27FC236}">
                  <a16:creationId xmlns:a16="http://schemas.microsoft.com/office/drawing/2014/main" id="{A108FAB0-68F2-4729-B143-8A0FB866C506}"/>
                </a:ext>
              </a:extLst>
            </p:cNvPr>
            <p:cNvCxnSpPr>
              <a:stCxn id="10" idx="2"/>
              <a:endCxn id="13" idx="0"/>
            </p:cNvCxnSpPr>
            <p:nvPr/>
          </p:nvCxnSpPr>
          <p:spPr bwMode="auto">
            <a:xfrm flipH="1">
              <a:off x="2389696" y="1828800"/>
              <a:ext cx="2139353" cy="6096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8D34934A-FCAA-442E-8ECF-4F5C17211E80}"/>
                </a:ext>
              </a:extLst>
            </p:cNvPr>
            <p:cNvCxnSpPr>
              <a:stCxn id="13" idx="2"/>
              <a:endCxn id="12" idx="0"/>
            </p:cNvCxnSpPr>
            <p:nvPr/>
          </p:nvCxnSpPr>
          <p:spPr bwMode="auto">
            <a:xfrm>
              <a:off x="2389696" y="2819400"/>
              <a:ext cx="1080279" cy="82597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E1CAA55B-426C-41A2-A5DA-85BB2FC96E09}"/>
                </a:ext>
              </a:extLst>
            </p:cNvPr>
            <p:cNvCxnSpPr>
              <a:stCxn id="10" idx="2"/>
              <a:endCxn id="14" idx="0"/>
            </p:cNvCxnSpPr>
            <p:nvPr/>
          </p:nvCxnSpPr>
          <p:spPr bwMode="auto">
            <a:xfrm>
              <a:off x="4529049" y="1828800"/>
              <a:ext cx="2144743" cy="6096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08FA126C-D5BC-4E5B-80AF-4A10FBF8E0B1}"/>
                </a:ext>
              </a:extLst>
            </p:cNvPr>
            <p:cNvCxnSpPr>
              <a:stCxn id="12" idx="2"/>
              <a:endCxn id="17" idx="0"/>
            </p:cNvCxnSpPr>
            <p:nvPr/>
          </p:nvCxnSpPr>
          <p:spPr bwMode="auto">
            <a:xfrm>
              <a:off x="3469975" y="4026379"/>
              <a:ext cx="556764" cy="10028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DCC4A7F1-483C-4B61-8ADB-1ADADE2D427F}"/>
                </a:ext>
              </a:extLst>
            </p:cNvPr>
            <p:cNvCxnSpPr>
              <a:stCxn id="13" idx="2"/>
              <a:endCxn id="11" idx="0"/>
            </p:cNvCxnSpPr>
            <p:nvPr/>
          </p:nvCxnSpPr>
          <p:spPr bwMode="auto">
            <a:xfrm flipH="1">
              <a:off x="1336645" y="2819400"/>
              <a:ext cx="1053051" cy="8080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A924594F-8E58-4F52-B0B3-51908233302C}"/>
                </a:ext>
              </a:extLst>
            </p:cNvPr>
            <p:cNvCxnSpPr>
              <a:stCxn id="14" idx="2"/>
              <a:endCxn id="23" idx="0"/>
            </p:cNvCxnSpPr>
            <p:nvPr/>
          </p:nvCxnSpPr>
          <p:spPr bwMode="auto">
            <a:xfrm>
              <a:off x="6673792" y="2819400"/>
              <a:ext cx="1056914" cy="82597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7C27ACDB-A8B7-4A11-A684-7A0507B153F2}"/>
                </a:ext>
              </a:extLst>
            </p:cNvPr>
            <p:cNvCxnSpPr>
              <a:stCxn id="12" idx="2"/>
              <a:endCxn id="18" idx="0"/>
            </p:cNvCxnSpPr>
            <p:nvPr/>
          </p:nvCxnSpPr>
          <p:spPr bwMode="auto">
            <a:xfrm flipH="1">
              <a:off x="2959939" y="4026379"/>
              <a:ext cx="510036" cy="10028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A022FB68-3BA6-428A-B7F2-E37FEAD26DA5}"/>
                </a:ext>
              </a:extLst>
            </p:cNvPr>
            <p:cNvCxnSpPr>
              <a:stCxn id="14" idx="2"/>
              <a:endCxn id="24" idx="0"/>
            </p:cNvCxnSpPr>
            <p:nvPr/>
          </p:nvCxnSpPr>
          <p:spPr bwMode="auto">
            <a:xfrm flipH="1">
              <a:off x="5600700" y="2819400"/>
              <a:ext cx="1073092" cy="82597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8B53EAB6-FD12-4594-B3FF-AEE83D2363AB}"/>
                </a:ext>
              </a:extLst>
            </p:cNvPr>
            <p:cNvCxnSpPr>
              <a:stCxn id="11" idx="2"/>
              <a:endCxn id="15" idx="0"/>
            </p:cNvCxnSpPr>
            <p:nvPr/>
          </p:nvCxnSpPr>
          <p:spPr bwMode="auto">
            <a:xfrm>
              <a:off x="1336645" y="4008438"/>
              <a:ext cx="556494" cy="10207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4B1718F-4B3A-44A0-A0D2-F2BD97A52F41}"/>
                </a:ext>
              </a:extLst>
            </p:cNvPr>
            <p:cNvCxnSpPr>
              <a:stCxn id="11" idx="2"/>
              <a:endCxn id="16" idx="0"/>
            </p:cNvCxnSpPr>
            <p:nvPr/>
          </p:nvCxnSpPr>
          <p:spPr bwMode="auto">
            <a:xfrm flipH="1">
              <a:off x="828855" y="4008438"/>
              <a:ext cx="507790" cy="10207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1A464792-D448-4040-9840-139D8A0B9939}"/>
                </a:ext>
              </a:extLst>
            </p:cNvPr>
            <p:cNvCxnSpPr>
              <a:stCxn id="24" idx="2"/>
              <a:endCxn id="20" idx="0"/>
            </p:cNvCxnSpPr>
            <p:nvPr/>
          </p:nvCxnSpPr>
          <p:spPr bwMode="auto">
            <a:xfrm>
              <a:off x="5600700" y="4026379"/>
              <a:ext cx="556764" cy="10028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id="{D3EA13F9-F4A0-41F5-BAF6-261C36920685}"/>
                </a:ext>
              </a:extLst>
            </p:cNvPr>
            <p:cNvCxnSpPr>
              <a:stCxn id="24" idx="2"/>
              <a:endCxn id="19" idx="0"/>
            </p:cNvCxnSpPr>
            <p:nvPr/>
          </p:nvCxnSpPr>
          <p:spPr bwMode="auto">
            <a:xfrm flipH="1">
              <a:off x="5093539" y="4026379"/>
              <a:ext cx="507161" cy="10028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7" name="Straight Arrow Connector 36">
              <a:extLst>
                <a:ext uri="{FF2B5EF4-FFF2-40B4-BE49-F238E27FC236}">
                  <a16:creationId xmlns:a16="http://schemas.microsoft.com/office/drawing/2014/main" id="{17662015-8D7F-4E6B-B552-7C3810542DE4}"/>
                </a:ext>
              </a:extLst>
            </p:cNvPr>
            <p:cNvCxnSpPr>
              <a:stCxn id="23" idx="2"/>
              <a:endCxn id="22" idx="0"/>
            </p:cNvCxnSpPr>
            <p:nvPr/>
          </p:nvCxnSpPr>
          <p:spPr bwMode="auto">
            <a:xfrm>
              <a:off x="7730706" y="4026379"/>
              <a:ext cx="554608" cy="10028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4616D276-F26C-4155-8AAB-7F9C9AAAB062}"/>
                </a:ext>
              </a:extLst>
            </p:cNvPr>
            <p:cNvCxnSpPr>
              <a:stCxn id="23" idx="2"/>
              <a:endCxn id="21" idx="0"/>
            </p:cNvCxnSpPr>
            <p:nvPr/>
          </p:nvCxnSpPr>
          <p:spPr bwMode="auto">
            <a:xfrm flipH="1">
              <a:off x="7221389" y="4026379"/>
              <a:ext cx="509317" cy="10028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103294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Binary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31</a:t>
            </a:fld>
            <a:endParaRPr lang="ru-RU"/>
          </a:p>
        </p:txBody>
      </p:sp>
      <p:sp>
        <p:nvSpPr>
          <p:cNvPr id="25" name="Rectangle 24">
            <a:extLst>
              <a:ext uri="{FF2B5EF4-FFF2-40B4-BE49-F238E27FC236}">
                <a16:creationId xmlns:a16="http://schemas.microsoft.com/office/drawing/2014/main" id="{04141B31-B66F-40AF-835D-1EB9269B6E96}"/>
              </a:ext>
            </a:extLst>
          </p:cNvPr>
          <p:cNvSpPr/>
          <p:nvPr/>
        </p:nvSpPr>
        <p:spPr bwMode="auto">
          <a:xfrm>
            <a:off x="5915289" y="1935412"/>
            <a:ext cx="685800"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50</a:t>
            </a:r>
          </a:p>
        </p:txBody>
      </p:sp>
      <p:grpSp>
        <p:nvGrpSpPr>
          <p:cNvPr id="26" name="Group 25">
            <a:extLst>
              <a:ext uri="{FF2B5EF4-FFF2-40B4-BE49-F238E27FC236}">
                <a16:creationId xmlns:a16="http://schemas.microsoft.com/office/drawing/2014/main" id="{89C054C7-F782-4462-B10C-E34603F26C31}"/>
              </a:ext>
            </a:extLst>
          </p:cNvPr>
          <p:cNvGrpSpPr/>
          <p:nvPr/>
        </p:nvGrpSpPr>
        <p:grpSpPr>
          <a:xfrm>
            <a:off x="4215346" y="2316412"/>
            <a:ext cx="2034454" cy="733653"/>
            <a:chOff x="2529157" y="1805827"/>
            <a:chExt cx="2034454" cy="733653"/>
          </a:xfrm>
        </p:grpSpPr>
        <p:sp>
          <p:nvSpPr>
            <p:cNvPr id="27" name="Rectangle 26">
              <a:extLst>
                <a:ext uri="{FF2B5EF4-FFF2-40B4-BE49-F238E27FC236}">
                  <a16:creationId xmlns:a16="http://schemas.microsoft.com/office/drawing/2014/main" id="{A2A9A92A-7A82-42E5-9E06-2E19D1ACC940}"/>
                </a:ext>
              </a:extLst>
            </p:cNvPr>
            <p:cNvSpPr/>
            <p:nvPr/>
          </p:nvSpPr>
          <p:spPr bwMode="auto">
            <a:xfrm>
              <a:off x="2529157" y="2158480"/>
              <a:ext cx="685800"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25</a:t>
              </a:r>
            </a:p>
          </p:txBody>
        </p:sp>
        <p:cxnSp>
          <p:nvCxnSpPr>
            <p:cNvPr id="28" name="Straight Arrow Connector 27">
              <a:extLst>
                <a:ext uri="{FF2B5EF4-FFF2-40B4-BE49-F238E27FC236}">
                  <a16:creationId xmlns:a16="http://schemas.microsoft.com/office/drawing/2014/main" id="{AA6151A4-0A9E-419B-85BB-C9A5AE575B2A}"/>
                </a:ext>
              </a:extLst>
            </p:cNvPr>
            <p:cNvCxnSpPr>
              <a:stCxn id="25" idx="2"/>
              <a:endCxn id="27" idx="3"/>
            </p:cNvCxnSpPr>
            <p:nvPr/>
          </p:nvCxnSpPr>
          <p:spPr bwMode="auto">
            <a:xfrm flipH="1">
              <a:off x="3214957" y="1805827"/>
              <a:ext cx="1348654" cy="5431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29" name="Group 28">
            <a:extLst>
              <a:ext uri="{FF2B5EF4-FFF2-40B4-BE49-F238E27FC236}">
                <a16:creationId xmlns:a16="http://schemas.microsoft.com/office/drawing/2014/main" id="{9B8B6D7A-6741-4C23-AC5D-60EFDF4C4B72}"/>
              </a:ext>
            </a:extLst>
          </p:cNvPr>
          <p:cNvGrpSpPr/>
          <p:nvPr/>
        </p:nvGrpSpPr>
        <p:grpSpPr>
          <a:xfrm>
            <a:off x="2670050" y="3050065"/>
            <a:ext cx="1879807" cy="739463"/>
            <a:chOff x="983861" y="2539480"/>
            <a:chExt cx="1879807" cy="739463"/>
          </a:xfrm>
        </p:grpSpPr>
        <p:sp>
          <p:nvSpPr>
            <p:cNvPr id="30" name="Rectangle 29">
              <a:extLst>
                <a:ext uri="{FF2B5EF4-FFF2-40B4-BE49-F238E27FC236}">
                  <a16:creationId xmlns:a16="http://schemas.microsoft.com/office/drawing/2014/main" id="{64826F3F-2833-4E3C-BB85-89605D57D06E}"/>
                </a:ext>
              </a:extLst>
            </p:cNvPr>
            <p:cNvSpPr/>
            <p:nvPr/>
          </p:nvSpPr>
          <p:spPr bwMode="auto">
            <a:xfrm>
              <a:off x="983861" y="2897943"/>
              <a:ext cx="684362" cy="38100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12</a:t>
              </a:r>
            </a:p>
          </p:txBody>
        </p:sp>
        <p:cxnSp>
          <p:nvCxnSpPr>
            <p:cNvPr id="31" name="Straight Arrow Connector 30">
              <a:extLst>
                <a:ext uri="{FF2B5EF4-FFF2-40B4-BE49-F238E27FC236}">
                  <a16:creationId xmlns:a16="http://schemas.microsoft.com/office/drawing/2014/main" id="{68EEA391-A94F-420A-9FE8-6FF4EEA122E3}"/>
                </a:ext>
              </a:extLst>
            </p:cNvPr>
            <p:cNvCxnSpPr>
              <a:stCxn id="27" idx="2"/>
              <a:endCxn id="30" idx="3"/>
            </p:cNvCxnSpPr>
            <p:nvPr/>
          </p:nvCxnSpPr>
          <p:spPr bwMode="auto">
            <a:xfrm flipH="1">
              <a:off x="1668223" y="2539480"/>
              <a:ext cx="1195445" cy="5489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32" name="Group 31">
            <a:extLst>
              <a:ext uri="{FF2B5EF4-FFF2-40B4-BE49-F238E27FC236}">
                <a16:creationId xmlns:a16="http://schemas.microsoft.com/office/drawing/2014/main" id="{4F87BBCB-4098-4584-96FE-0EDB431EB169}"/>
              </a:ext>
            </a:extLst>
          </p:cNvPr>
          <p:cNvGrpSpPr/>
          <p:nvPr/>
        </p:nvGrpSpPr>
        <p:grpSpPr>
          <a:xfrm>
            <a:off x="3012231" y="3789528"/>
            <a:ext cx="1096861" cy="753186"/>
            <a:chOff x="1258555" y="3278943"/>
            <a:chExt cx="1096861" cy="753186"/>
          </a:xfrm>
        </p:grpSpPr>
        <p:sp>
          <p:nvSpPr>
            <p:cNvPr id="33" name="Rectangle 32">
              <a:extLst>
                <a:ext uri="{FF2B5EF4-FFF2-40B4-BE49-F238E27FC236}">
                  <a16:creationId xmlns:a16="http://schemas.microsoft.com/office/drawing/2014/main" id="{C2E07626-9DD1-4ED6-8267-0472309AAC40}"/>
                </a:ext>
              </a:extLst>
            </p:cNvPr>
            <p:cNvSpPr/>
            <p:nvPr/>
          </p:nvSpPr>
          <p:spPr bwMode="auto">
            <a:xfrm>
              <a:off x="1669616" y="3645379"/>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19</a:t>
              </a:r>
            </a:p>
          </p:txBody>
        </p:sp>
        <p:cxnSp>
          <p:nvCxnSpPr>
            <p:cNvPr id="34" name="Straight Arrow Connector 33">
              <a:extLst>
                <a:ext uri="{FF2B5EF4-FFF2-40B4-BE49-F238E27FC236}">
                  <a16:creationId xmlns:a16="http://schemas.microsoft.com/office/drawing/2014/main" id="{B692F8EA-6667-4683-939B-28EB0D893BF7}"/>
                </a:ext>
              </a:extLst>
            </p:cNvPr>
            <p:cNvCxnSpPr>
              <a:stCxn id="30" idx="2"/>
              <a:endCxn id="33" idx="0"/>
            </p:cNvCxnSpPr>
            <p:nvPr/>
          </p:nvCxnSpPr>
          <p:spPr bwMode="auto">
            <a:xfrm>
              <a:off x="1258555" y="3278943"/>
              <a:ext cx="753961" cy="36643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35" name="Group 34">
            <a:extLst>
              <a:ext uri="{FF2B5EF4-FFF2-40B4-BE49-F238E27FC236}">
                <a16:creationId xmlns:a16="http://schemas.microsoft.com/office/drawing/2014/main" id="{2132CBD0-BC23-49C1-A516-4FB12431F7BC}"/>
              </a:ext>
            </a:extLst>
          </p:cNvPr>
          <p:cNvGrpSpPr/>
          <p:nvPr/>
        </p:nvGrpSpPr>
        <p:grpSpPr>
          <a:xfrm>
            <a:off x="3011512" y="4542714"/>
            <a:ext cx="746291" cy="943686"/>
            <a:chOff x="1325323" y="4032129"/>
            <a:chExt cx="746291" cy="943686"/>
          </a:xfrm>
        </p:grpSpPr>
        <p:sp>
          <p:nvSpPr>
            <p:cNvPr id="36" name="Rectangle 35">
              <a:extLst>
                <a:ext uri="{FF2B5EF4-FFF2-40B4-BE49-F238E27FC236}">
                  <a16:creationId xmlns:a16="http://schemas.microsoft.com/office/drawing/2014/main" id="{1DF8D7EA-0CFC-4DD2-A79A-5AA732BFE060}"/>
                </a:ext>
              </a:extLst>
            </p:cNvPr>
            <p:cNvSpPr/>
            <p:nvPr/>
          </p:nvSpPr>
          <p:spPr bwMode="auto">
            <a:xfrm>
              <a:off x="1325323" y="4589065"/>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15</a:t>
              </a:r>
            </a:p>
          </p:txBody>
        </p:sp>
        <p:cxnSp>
          <p:nvCxnSpPr>
            <p:cNvPr id="37" name="Straight Arrow Connector 36">
              <a:extLst>
                <a:ext uri="{FF2B5EF4-FFF2-40B4-BE49-F238E27FC236}">
                  <a16:creationId xmlns:a16="http://schemas.microsoft.com/office/drawing/2014/main" id="{9AABA808-A6E0-47D7-8BAB-C1B1FD631B75}"/>
                </a:ext>
              </a:extLst>
            </p:cNvPr>
            <p:cNvCxnSpPr>
              <a:stCxn id="33" idx="2"/>
              <a:endCxn id="36" idx="0"/>
            </p:cNvCxnSpPr>
            <p:nvPr/>
          </p:nvCxnSpPr>
          <p:spPr bwMode="auto">
            <a:xfrm flipH="1">
              <a:off x="1668223" y="4032129"/>
              <a:ext cx="403391" cy="55693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
        <p:nvSpPr>
          <p:cNvPr id="38" name="Rectangle 37">
            <a:extLst>
              <a:ext uri="{FF2B5EF4-FFF2-40B4-BE49-F238E27FC236}">
                <a16:creationId xmlns:a16="http://schemas.microsoft.com/office/drawing/2014/main" id="{0DDE6CA7-8333-4A5E-B7CC-4096810AF0A4}"/>
              </a:ext>
            </a:extLst>
          </p:cNvPr>
          <p:cNvSpPr/>
          <p:nvPr/>
        </p:nvSpPr>
        <p:spPr bwMode="auto">
          <a:xfrm>
            <a:off x="5915289" y="3789528"/>
            <a:ext cx="685800" cy="386750"/>
          </a:xfrm>
          <a:prstGeom prst="rect">
            <a:avLst/>
          </a:prstGeom>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15</a:t>
            </a:r>
          </a:p>
        </p:txBody>
      </p:sp>
    </p:spTree>
    <p:extLst>
      <p:ext uri="{BB962C8B-B14F-4D97-AF65-F5344CB8AC3E}">
        <p14:creationId xmlns:p14="http://schemas.microsoft.com/office/powerpoint/2010/main" val="97735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8"/>
                                        </p:tgtEl>
                                      </p:cBhvr>
                                    </p:animEffect>
                                    <p:set>
                                      <p:cBhvr>
                                        <p:cTn id="7" dur="1" fill="hold">
                                          <p:stCondLst>
                                            <p:cond delay="499"/>
                                          </p:stCondLst>
                                        </p:cTn>
                                        <p:tgtEl>
                                          <p:spTgt spid="38"/>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par>
                          <p:cTn id="32" fill="hold">
                            <p:stCondLst>
                              <p:cond delay="500"/>
                            </p:stCondLst>
                            <p:childTnLst>
                              <p:par>
                                <p:cTn id="33" presetID="26" presetClass="emph" presetSubtype="0" fill="hold" nodeType="afterEffect">
                                  <p:stCondLst>
                                    <p:cond delay="0"/>
                                  </p:stCondLst>
                                  <p:childTnLst>
                                    <p:animEffect transition="out" filter="fade">
                                      <p:cBhvr>
                                        <p:cTn id="34" dur="500" tmFilter="0, 0; .2, .5; .8, .5; 1, 0"/>
                                        <p:tgtEl>
                                          <p:spTgt spid="35"/>
                                        </p:tgtEl>
                                      </p:cBhvr>
                                    </p:animEffect>
                                    <p:animScale>
                                      <p:cBhvr>
                                        <p:cTn id="35" dur="250" autoRev="1" fill="hold"/>
                                        <p:tgtEl>
                                          <p:spTgt spid="35"/>
                                        </p:tgtEl>
                                      </p:cBhvr>
                                      <p:by x="105000" y="105000"/>
                                    </p:animScale>
                                  </p:childTnLst>
                                </p:cTn>
                              </p:par>
                            </p:childTnLst>
                          </p:cTn>
                        </p:par>
                        <p:par>
                          <p:cTn id="36" fill="hold">
                            <p:stCondLst>
                              <p:cond delay="1000"/>
                            </p:stCondLst>
                            <p:childTnLst>
                              <p:par>
                                <p:cTn id="37" presetID="26" presetClass="emph" presetSubtype="0" fill="hold" nodeType="afterEffect">
                                  <p:stCondLst>
                                    <p:cond delay="0"/>
                                  </p:stCondLst>
                                  <p:childTnLst>
                                    <p:animEffect transition="out" filter="fade">
                                      <p:cBhvr>
                                        <p:cTn id="38" dur="500" tmFilter="0, 0; .2, .5; .8, .5; 1, 0"/>
                                        <p:tgtEl>
                                          <p:spTgt spid="35"/>
                                        </p:tgtEl>
                                      </p:cBhvr>
                                    </p:animEffect>
                                    <p:animScale>
                                      <p:cBhvr>
                                        <p:cTn id="39"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Binary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32</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714500"/>
            <a:ext cx="11225168" cy="4174572"/>
          </a:xfrm>
        </p:spPr>
        <p:txBody>
          <a:bodyPr/>
          <a:lstStyle/>
          <a:p>
            <a:pPr algn="just" eaLnBrk="1" hangingPunct="1"/>
            <a:r>
              <a:rPr lang="en-US" sz="2800" dirty="0"/>
              <a:t>Possible only over sorted array</a:t>
            </a:r>
          </a:p>
          <a:p>
            <a:pPr algn="just" eaLnBrk="1" hangingPunct="1"/>
            <a:r>
              <a:rPr lang="en-US" sz="2800" dirty="0"/>
              <a:t>Worst-case performance – O(log2n)</a:t>
            </a:r>
          </a:p>
          <a:p>
            <a:pPr algn="just" eaLnBrk="1" hangingPunct="1"/>
            <a:endParaRPr lang="en-US" sz="2800" dirty="0"/>
          </a:p>
        </p:txBody>
      </p:sp>
    </p:spTree>
    <p:extLst>
      <p:ext uri="{BB962C8B-B14F-4D97-AF65-F5344CB8AC3E}">
        <p14:creationId xmlns:p14="http://schemas.microsoft.com/office/powerpoint/2010/main" val="199261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Binary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33</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224793"/>
            <a:ext cx="11225168" cy="4664279"/>
          </a:xfrm>
        </p:spPr>
        <p:txBody>
          <a:bodyPr/>
          <a:lstStyle/>
          <a:p>
            <a:pPr>
              <a:spcBef>
                <a:spcPts val="0"/>
              </a:spcBef>
              <a:buNone/>
            </a:pPr>
            <a:r>
              <a:rPr lang="en-GB" dirty="0">
                <a:solidFill>
                  <a:srgbClr val="0000FF"/>
                </a:solidFill>
                <a:latin typeface="Consolas" panose="020B0609020204030204" pitchFamily="49" charset="0"/>
              </a:rPr>
              <a:t>private</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BinSearch</a:t>
            </a:r>
            <a:r>
              <a:rPr lang="en-GB" dirty="0">
                <a:solidFill>
                  <a:srgbClr val="000000"/>
                </a:solidFill>
                <a:latin typeface="Consolas" panose="020B0609020204030204" pitchFamily="49" charset="0"/>
              </a:rPr>
              <a:t>(</a:t>
            </a:r>
            <a:r>
              <a:rPr lang="en-GB" dirty="0">
                <a:solidFill>
                  <a:srgbClr val="0000FF"/>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arr</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int</a:t>
            </a:r>
            <a:r>
              <a:rPr lang="en-GB" dirty="0">
                <a:solidFill>
                  <a:srgbClr val="000000"/>
                </a:solidFill>
                <a:latin typeface="Consolas" panose="020B0609020204030204" pitchFamily="49" charset="0"/>
              </a:rPr>
              <a:t> value)</a:t>
            </a:r>
          </a:p>
          <a:p>
            <a:pPr>
              <a:spcBef>
                <a:spcPts val="0"/>
              </a:spcBef>
              <a:buNone/>
            </a:pPr>
            <a:r>
              <a:rPr lang="en-GB" dirty="0">
                <a:solidFill>
                  <a:srgbClr val="000000"/>
                </a:solidFill>
                <a:latin typeface="Consolas" panose="020B0609020204030204" pitchFamily="49" charset="0"/>
              </a:rPr>
              <a:t>{</a:t>
            </a:r>
          </a:p>
          <a:p>
            <a:pPr>
              <a:spcBef>
                <a:spcPts val="0"/>
              </a:spcBef>
              <a:buNone/>
            </a:pPr>
            <a:r>
              <a:rPr lang="en-GB" dirty="0">
                <a:solidFill>
                  <a:srgbClr val="0000FF"/>
                </a:solidFill>
                <a:latin typeface="Consolas" panose="020B0609020204030204" pitchFamily="49" charset="0"/>
              </a:rPr>
              <a:t>	var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upperBound</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arr.Length</a:t>
            </a:r>
            <a:r>
              <a:rPr lang="en-GB" dirty="0">
                <a:solidFill>
                  <a:srgbClr val="000000"/>
                </a:solidFill>
                <a:latin typeface="Consolas" panose="020B0609020204030204" pitchFamily="49" charset="0"/>
              </a:rPr>
              <a:t> - 1;</a:t>
            </a:r>
          </a:p>
          <a:p>
            <a:pPr>
              <a:spcBef>
                <a:spcPts val="0"/>
              </a:spcBef>
              <a:buNone/>
            </a:pPr>
            <a:r>
              <a:rPr lang="en-GB" dirty="0">
                <a:solidFill>
                  <a:srgbClr val="0000FF"/>
                </a:solidFill>
                <a:latin typeface="Consolas" panose="020B0609020204030204" pitchFamily="49" charset="0"/>
              </a:rPr>
              <a:t>	var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lowerBound</a:t>
            </a:r>
            <a:r>
              <a:rPr lang="en-GB" dirty="0">
                <a:solidFill>
                  <a:srgbClr val="000000"/>
                </a:solidFill>
                <a:latin typeface="Consolas" panose="020B0609020204030204" pitchFamily="49" charset="0"/>
              </a:rPr>
              <a:t> = 0;</a:t>
            </a:r>
          </a:p>
          <a:p>
            <a:pPr>
              <a:spcBef>
                <a:spcPts val="0"/>
              </a:spcBef>
              <a:buNone/>
            </a:pPr>
            <a:r>
              <a:rPr lang="en-GB" dirty="0">
                <a:solidFill>
                  <a:srgbClr val="0000FF"/>
                </a:solidFill>
                <a:latin typeface="Consolas" panose="020B0609020204030204" pitchFamily="49" charset="0"/>
              </a:rPr>
              <a:t>	while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lowerBound</a:t>
            </a:r>
            <a:r>
              <a:rPr lang="en-GB" dirty="0">
                <a:solidFill>
                  <a:srgbClr val="000000"/>
                </a:solidFill>
                <a:latin typeface="Consolas" panose="020B0609020204030204" pitchFamily="49" charset="0"/>
              </a:rPr>
              <a:t> &lt;= </a:t>
            </a:r>
            <a:r>
              <a:rPr lang="en-GB" dirty="0" err="1">
                <a:solidFill>
                  <a:srgbClr val="000000"/>
                </a:solidFill>
                <a:latin typeface="Consolas" panose="020B0609020204030204" pitchFamily="49" charset="0"/>
              </a:rPr>
              <a:t>upperBound</a:t>
            </a:r>
            <a:r>
              <a:rPr lang="en-GB" dirty="0">
                <a:solidFill>
                  <a:srgbClr val="000000"/>
                </a:solidFill>
                <a:latin typeface="Consolas" panose="020B0609020204030204" pitchFamily="49" charset="0"/>
              </a:rPr>
              <a:t>)</a:t>
            </a:r>
          </a:p>
          <a:p>
            <a:pPr>
              <a:spcBef>
                <a:spcPts val="0"/>
              </a:spcBef>
              <a:buNone/>
            </a:pPr>
            <a:r>
              <a:rPr lang="en-GB" dirty="0">
                <a:solidFill>
                  <a:srgbClr val="000000"/>
                </a:solidFill>
                <a:latin typeface="Consolas" panose="020B0609020204030204" pitchFamily="49" charset="0"/>
              </a:rPr>
              <a:t>	{</a:t>
            </a:r>
          </a:p>
          <a:p>
            <a:pPr>
              <a:spcBef>
                <a:spcPts val="0"/>
              </a:spcBef>
              <a:buNone/>
            </a:pPr>
            <a:r>
              <a:rPr lang="en-GB" dirty="0">
                <a:solidFill>
                  <a:srgbClr val="0000FF"/>
                </a:solidFill>
                <a:latin typeface="Consolas" panose="020B0609020204030204" pitchFamily="49" charset="0"/>
              </a:rPr>
              <a:t>		var</a:t>
            </a:r>
            <a:r>
              <a:rPr lang="en-GB" dirty="0">
                <a:solidFill>
                  <a:srgbClr val="000000"/>
                </a:solidFill>
                <a:latin typeface="Consolas" panose="020B0609020204030204" pitchFamily="49" charset="0"/>
              </a:rPr>
              <a:t> mid = (</a:t>
            </a:r>
            <a:r>
              <a:rPr lang="en-GB" dirty="0" err="1">
                <a:solidFill>
                  <a:srgbClr val="000000"/>
                </a:solidFill>
                <a:latin typeface="Consolas" panose="020B0609020204030204" pitchFamily="49" charset="0"/>
              </a:rPr>
              <a:t>upperBound</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lowerBound</a:t>
            </a:r>
            <a:r>
              <a:rPr lang="en-GB" dirty="0">
                <a:solidFill>
                  <a:srgbClr val="000000"/>
                </a:solidFill>
                <a:latin typeface="Consolas" panose="020B0609020204030204" pitchFamily="49" charset="0"/>
              </a:rPr>
              <a:t>) / 2;</a:t>
            </a:r>
          </a:p>
          <a:p>
            <a:pPr>
              <a:spcBef>
                <a:spcPts val="0"/>
              </a:spcBef>
              <a:buNone/>
            </a:pPr>
            <a:r>
              <a:rPr lang="en-GB" dirty="0">
                <a:solidFill>
                  <a:srgbClr val="0000FF"/>
                </a:solidFill>
                <a:latin typeface="Consolas" panose="020B0609020204030204" pitchFamily="49" charset="0"/>
              </a:rPr>
              <a:t>		if</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arr</a:t>
            </a:r>
            <a:r>
              <a:rPr lang="en-GB" dirty="0">
                <a:solidFill>
                  <a:srgbClr val="000000"/>
                </a:solidFill>
                <a:latin typeface="Consolas" panose="020B0609020204030204" pitchFamily="49" charset="0"/>
              </a:rPr>
              <a:t>[mid] == value)</a:t>
            </a:r>
          </a:p>
          <a:p>
            <a:pPr>
              <a:spcBef>
                <a:spcPts val="0"/>
              </a:spcBef>
              <a:buNone/>
            </a:pPr>
            <a:r>
              <a:rPr lang="en-GB" dirty="0">
                <a:solidFill>
                  <a:srgbClr val="0000FF"/>
                </a:solidFill>
                <a:latin typeface="Consolas" panose="020B0609020204030204" pitchFamily="49" charset="0"/>
              </a:rPr>
              <a:t>			return</a:t>
            </a:r>
            <a:r>
              <a:rPr lang="en-GB" dirty="0">
                <a:solidFill>
                  <a:srgbClr val="000000"/>
                </a:solidFill>
                <a:latin typeface="Consolas" panose="020B0609020204030204" pitchFamily="49" charset="0"/>
              </a:rPr>
              <a:t> mid;</a:t>
            </a:r>
          </a:p>
          <a:p>
            <a:pPr>
              <a:spcBef>
                <a:spcPts val="0"/>
              </a:spcBef>
              <a:buNone/>
            </a:pPr>
            <a:r>
              <a:rPr lang="en-GB" dirty="0">
                <a:solidFill>
                  <a:srgbClr val="0000FF"/>
                </a:solidFill>
                <a:latin typeface="Consolas" panose="020B0609020204030204" pitchFamily="49" charset="0"/>
              </a:rPr>
              <a:t>		else</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if</a:t>
            </a:r>
            <a:r>
              <a:rPr lang="en-GB" dirty="0">
                <a:solidFill>
                  <a:srgbClr val="000000"/>
                </a:solidFill>
                <a:latin typeface="Consolas" panose="020B0609020204030204" pitchFamily="49" charset="0"/>
              </a:rPr>
              <a:t> (value &lt; </a:t>
            </a:r>
            <a:r>
              <a:rPr lang="en-GB" dirty="0" err="1">
                <a:solidFill>
                  <a:srgbClr val="000000"/>
                </a:solidFill>
                <a:latin typeface="Consolas" panose="020B0609020204030204" pitchFamily="49" charset="0"/>
              </a:rPr>
              <a:t>arr</a:t>
            </a:r>
            <a:r>
              <a:rPr lang="en-GB" dirty="0">
                <a:solidFill>
                  <a:srgbClr val="000000"/>
                </a:solidFill>
                <a:latin typeface="Consolas" panose="020B0609020204030204" pitchFamily="49" charset="0"/>
              </a:rPr>
              <a:t>[mid])</a:t>
            </a:r>
          </a:p>
          <a:p>
            <a:pPr>
              <a:spcBef>
                <a:spcPts val="0"/>
              </a:spcBef>
              <a:buNone/>
            </a:pP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upperBound</a:t>
            </a:r>
            <a:r>
              <a:rPr lang="en-GB" dirty="0">
                <a:solidFill>
                  <a:srgbClr val="000000"/>
                </a:solidFill>
                <a:latin typeface="Consolas" panose="020B0609020204030204" pitchFamily="49" charset="0"/>
              </a:rPr>
              <a:t> = mid - 1;</a:t>
            </a:r>
          </a:p>
          <a:p>
            <a:pPr>
              <a:spcBef>
                <a:spcPts val="0"/>
              </a:spcBef>
              <a:buNone/>
            </a:pPr>
            <a:r>
              <a:rPr lang="en-GB" dirty="0">
                <a:solidFill>
                  <a:srgbClr val="0000FF"/>
                </a:solidFill>
                <a:latin typeface="Consolas" panose="020B0609020204030204" pitchFamily="49" charset="0"/>
              </a:rPr>
              <a:t>		else</a:t>
            </a:r>
            <a:endParaRPr lang="en-GB" dirty="0">
              <a:solidFill>
                <a:srgbClr val="000000"/>
              </a:solidFill>
              <a:latin typeface="Consolas" panose="020B0609020204030204" pitchFamily="49" charset="0"/>
            </a:endParaRPr>
          </a:p>
          <a:p>
            <a:pPr>
              <a:spcBef>
                <a:spcPts val="0"/>
              </a:spcBef>
              <a:buNone/>
            </a:pP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lowerBound</a:t>
            </a:r>
            <a:r>
              <a:rPr lang="en-GB" dirty="0">
                <a:solidFill>
                  <a:srgbClr val="000000"/>
                </a:solidFill>
                <a:latin typeface="Consolas" panose="020B0609020204030204" pitchFamily="49" charset="0"/>
              </a:rPr>
              <a:t> = mid + 1;</a:t>
            </a:r>
          </a:p>
          <a:p>
            <a:pPr>
              <a:spcBef>
                <a:spcPts val="0"/>
              </a:spcBef>
              <a:buNone/>
            </a:pPr>
            <a:r>
              <a:rPr lang="en-GB" dirty="0">
                <a:solidFill>
                  <a:srgbClr val="000000"/>
                </a:solidFill>
                <a:latin typeface="Consolas" panose="020B0609020204030204" pitchFamily="49" charset="0"/>
              </a:rPr>
              <a:t>	}</a:t>
            </a:r>
          </a:p>
          <a:p>
            <a:pPr>
              <a:spcBef>
                <a:spcPts val="0"/>
              </a:spcBef>
              <a:buNone/>
            </a:pPr>
            <a:endParaRPr lang="en-GB" dirty="0">
              <a:solidFill>
                <a:srgbClr val="000000"/>
              </a:solidFill>
              <a:latin typeface="Consolas" panose="020B0609020204030204" pitchFamily="49" charset="0"/>
            </a:endParaRPr>
          </a:p>
          <a:p>
            <a:pPr>
              <a:spcBef>
                <a:spcPts val="0"/>
              </a:spcBef>
              <a:buNone/>
            </a:pPr>
            <a:r>
              <a:rPr lang="en-GB" dirty="0">
                <a:solidFill>
                  <a:srgbClr val="0000FF"/>
                </a:solidFill>
                <a:latin typeface="Consolas" panose="020B0609020204030204" pitchFamily="49" charset="0"/>
              </a:rPr>
              <a:t>	return</a:t>
            </a:r>
            <a:r>
              <a:rPr lang="en-GB" dirty="0">
                <a:solidFill>
                  <a:srgbClr val="000000"/>
                </a:solidFill>
                <a:latin typeface="Consolas" panose="020B0609020204030204" pitchFamily="49" charset="0"/>
              </a:rPr>
              <a:t> -1;</a:t>
            </a:r>
          </a:p>
          <a:p>
            <a:pPr>
              <a:spcBef>
                <a:spcPts val="0"/>
              </a:spcBef>
              <a:buNone/>
            </a:pPr>
            <a:r>
              <a:rPr lang="en-GB" dirty="0">
                <a:solidFill>
                  <a:srgbClr val="000000"/>
                </a:solidFill>
                <a:latin typeface="Consolas" panose="020B0609020204030204" pitchFamily="49" charset="0"/>
              </a:rPr>
              <a:t>}</a:t>
            </a:r>
            <a:endParaRPr lang="en-US" dirty="0"/>
          </a:p>
        </p:txBody>
      </p:sp>
    </p:spTree>
    <p:extLst>
      <p:ext uri="{BB962C8B-B14F-4D97-AF65-F5344CB8AC3E}">
        <p14:creationId xmlns:p14="http://schemas.microsoft.com/office/powerpoint/2010/main" val="1811744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A48CAD7-9596-6B8F-4390-68B91C5FDB23}"/>
              </a:ext>
            </a:extLst>
          </p:cNvPr>
          <p:cNvSpPr>
            <a:spLocks noGrp="1"/>
          </p:cNvSpPr>
          <p:nvPr>
            <p:ph type="title"/>
          </p:nvPr>
        </p:nvSpPr>
        <p:spPr/>
        <p:txBody>
          <a:bodyPr/>
          <a:lstStyle/>
          <a:p>
            <a:r>
              <a:rPr lang="en-US" dirty="0"/>
              <a:t>Recursive Binary Search</a:t>
            </a:r>
            <a:endParaRPr lang="en-GB" altLang="en-US" dirty="0"/>
          </a:p>
        </p:txBody>
      </p:sp>
      <p:sp>
        <p:nvSpPr>
          <p:cNvPr id="6" name="Текст 5">
            <a:extLst>
              <a:ext uri="{FF2B5EF4-FFF2-40B4-BE49-F238E27FC236}">
                <a16:creationId xmlns:a16="http://schemas.microsoft.com/office/drawing/2014/main" id="{A6B5030E-C28D-91D0-D376-9646C9A27106}"/>
              </a:ext>
            </a:extLst>
          </p:cNvPr>
          <p:cNvSpPr>
            <a:spLocks noGrp="1"/>
          </p:cNvSpPr>
          <p:nvPr>
            <p:ph type="body" sz="quarter" idx="15"/>
          </p:nvPr>
        </p:nvSpPr>
        <p:spPr/>
        <p:txBody>
          <a:bodyPr/>
          <a:lstStyle/>
          <a:p>
            <a:r>
              <a:rPr lang="en-US" dirty="0"/>
              <a:t>BSc Business Information Systems</a:t>
            </a:r>
            <a:endParaRPr lang="ru-RU" dirty="0"/>
          </a:p>
        </p:txBody>
      </p:sp>
      <p:sp>
        <p:nvSpPr>
          <p:cNvPr id="7" name="Номер слайда 6">
            <a:extLst>
              <a:ext uri="{FF2B5EF4-FFF2-40B4-BE49-F238E27FC236}">
                <a16:creationId xmlns:a16="http://schemas.microsoft.com/office/drawing/2014/main" id="{DE5BC0FE-D183-67C7-F7C6-FE47407B29D6}"/>
              </a:ext>
            </a:extLst>
          </p:cNvPr>
          <p:cNvSpPr>
            <a:spLocks noGrp="1"/>
          </p:cNvSpPr>
          <p:nvPr>
            <p:ph type="sldNum" sz="quarter" idx="12"/>
          </p:nvPr>
        </p:nvSpPr>
        <p:spPr/>
        <p:txBody>
          <a:bodyPr/>
          <a:lstStyle/>
          <a:p>
            <a:fld id="{24CFBF5F-D9F7-437E-8CF8-688EAF21A1C0}" type="slidenum">
              <a:rPr lang="ru-RU" smtClean="0"/>
              <a:pPr/>
              <a:t>34</a:t>
            </a:fld>
            <a:endParaRPr lang="ru-RU"/>
          </a:p>
        </p:txBody>
      </p:sp>
      <p:sp>
        <p:nvSpPr>
          <p:cNvPr id="10" name="Text Placeholder 9">
            <a:extLst>
              <a:ext uri="{FF2B5EF4-FFF2-40B4-BE49-F238E27FC236}">
                <a16:creationId xmlns:a16="http://schemas.microsoft.com/office/drawing/2014/main" id="{ED9F96A1-2AE3-49B3-A580-B61EF36B2A0A}"/>
              </a:ext>
            </a:extLst>
          </p:cNvPr>
          <p:cNvSpPr>
            <a:spLocks noGrp="1"/>
          </p:cNvSpPr>
          <p:nvPr>
            <p:ph type="body" idx="1"/>
          </p:nvPr>
        </p:nvSpPr>
        <p:spPr>
          <a:xfrm>
            <a:off x="838201" y="1224793"/>
            <a:ext cx="11225168" cy="4664279"/>
          </a:xfrm>
        </p:spPr>
        <p:txBody>
          <a:bodyPr/>
          <a:lstStyle/>
          <a:p>
            <a:pPr>
              <a:spcBef>
                <a:spcPts val="0"/>
              </a:spcBef>
              <a:spcAft>
                <a:spcPts val="600"/>
              </a:spcAft>
              <a:buNone/>
            </a:pPr>
            <a:r>
              <a:rPr lang="en-GB" sz="2000" dirty="0">
                <a:solidFill>
                  <a:srgbClr val="0000FF"/>
                </a:solidFill>
                <a:latin typeface="Consolas" panose="020B0609020204030204" pitchFamily="49" charset="0"/>
              </a:rPr>
              <a:t>private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int</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RbinSearch</a:t>
            </a:r>
            <a:r>
              <a:rPr lang="en-GB" sz="2000" dirty="0">
                <a:solidFill>
                  <a:srgbClr val="000000"/>
                </a:solidFill>
                <a:latin typeface="Consolas" panose="020B0609020204030204" pitchFamily="49" charset="0"/>
              </a:rPr>
              <a:t>(</a:t>
            </a:r>
            <a:r>
              <a:rPr lang="en-GB" sz="2000" dirty="0">
                <a:solidFill>
                  <a:srgbClr val="0000FF"/>
                </a:solidFill>
                <a:latin typeface="Consolas" panose="020B0609020204030204" pitchFamily="49" charset="0"/>
              </a:rPr>
              <a:t>int</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arr</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int</a:t>
            </a:r>
            <a:r>
              <a:rPr lang="en-GB" sz="2000" dirty="0">
                <a:solidFill>
                  <a:srgbClr val="000000"/>
                </a:solidFill>
                <a:latin typeface="Consolas" panose="020B0609020204030204" pitchFamily="49" charset="0"/>
              </a:rPr>
              <a:t> value, </a:t>
            </a:r>
            <a:r>
              <a:rPr lang="en-GB" sz="2000" dirty="0">
                <a:solidFill>
                  <a:srgbClr val="0000FF"/>
                </a:solidFill>
                <a:latin typeface="Consolas" panose="020B0609020204030204" pitchFamily="49" charset="0"/>
              </a:rPr>
              <a:t>int</a:t>
            </a:r>
            <a:r>
              <a:rPr lang="en-GB" sz="2000" dirty="0">
                <a:solidFill>
                  <a:srgbClr val="000000"/>
                </a:solidFill>
                <a:latin typeface="Consolas" panose="020B0609020204030204" pitchFamily="49" charset="0"/>
              </a:rPr>
              <a:t> lower, </a:t>
            </a:r>
            <a:r>
              <a:rPr lang="en-GB" sz="2000" dirty="0">
                <a:solidFill>
                  <a:srgbClr val="0000FF"/>
                </a:solidFill>
                <a:latin typeface="Consolas" panose="020B0609020204030204" pitchFamily="49" charset="0"/>
              </a:rPr>
              <a:t>int</a:t>
            </a:r>
            <a:r>
              <a:rPr lang="en-GB" sz="2000" dirty="0">
                <a:solidFill>
                  <a:srgbClr val="000000"/>
                </a:solidFill>
                <a:latin typeface="Consolas" panose="020B0609020204030204" pitchFamily="49" charset="0"/>
              </a:rPr>
              <a:t> upper)</a:t>
            </a:r>
          </a:p>
          <a:p>
            <a:pPr>
              <a:spcBef>
                <a:spcPts val="0"/>
              </a:spcBef>
              <a:spcAft>
                <a:spcPts val="600"/>
              </a:spcAft>
              <a:buNone/>
            </a:pPr>
            <a:r>
              <a:rPr lang="en-GB" sz="2000" dirty="0">
                <a:solidFill>
                  <a:srgbClr val="000000"/>
                </a:solidFill>
                <a:latin typeface="Consolas" panose="020B0609020204030204" pitchFamily="49" charset="0"/>
              </a:rPr>
              <a:t>{</a:t>
            </a:r>
          </a:p>
          <a:p>
            <a:pPr>
              <a:spcBef>
                <a:spcPts val="0"/>
              </a:spcBef>
              <a:spcAft>
                <a:spcPts val="600"/>
              </a:spcAft>
              <a:buNone/>
            </a:pPr>
            <a:r>
              <a:rPr lang="en-GB" sz="2000" dirty="0">
                <a:solidFill>
                  <a:srgbClr val="0000FF"/>
                </a:solidFill>
                <a:latin typeface="Consolas" panose="020B0609020204030204" pitchFamily="49" charset="0"/>
              </a:rPr>
              <a:t>	if</a:t>
            </a:r>
            <a:r>
              <a:rPr lang="en-GB" sz="2000" dirty="0">
                <a:solidFill>
                  <a:srgbClr val="000000"/>
                </a:solidFill>
                <a:latin typeface="Consolas" panose="020B0609020204030204" pitchFamily="49" charset="0"/>
              </a:rPr>
              <a:t> (lower &gt; upper)</a:t>
            </a:r>
          </a:p>
          <a:p>
            <a:pPr>
              <a:spcBef>
                <a:spcPts val="0"/>
              </a:spcBef>
              <a:spcAft>
                <a:spcPts val="600"/>
              </a:spcAft>
              <a:buNone/>
            </a:pPr>
            <a:r>
              <a:rPr lang="en-GB" sz="2000" dirty="0">
                <a:solidFill>
                  <a:srgbClr val="0000FF"/>
                </a:solidFill>
                <a:latin typeface="Consolas" panose="020B0609020204030204" pitchFamily="49" charset="0"/>
              </a:rPr>
              <a:t>		return</a:t>
            </a:r>
            <a:r>
              <a:rPr lang="en-GB" sz="2000" dirty="0">
                <a:solidFill>
                  <a:srgbClr val="000000"/>
                </a:solidFill>
                <a:latin typeface="Consolas" panose="020B0609020204030204" pitchFamily="49" charset="0"/>
              </a:rPr>
              <a:t> -1;</a:t>
            </a:r>
          </a:p>
          <a:p>
            <a:pPr>
              <a:spcBef>
                <a:spcPts val="0"/>
              </a:spcBef>
              <a:spcAft>
                <a:spcPts val="600"/>
              </a:spcAft>
              <a:buNone/>
            </a:pPr>
            <a:endParaRPr lang="en-GB" sz="2000" dirty="0">
              <a:solidFill>
                <a:srgbClr val="000000"/>
              </a:solidFill>
              <a:latin typeface="Consolas" panose="020B0609020204030204" pitchFamily="49" charset="0"/>
            </a:endParaRPr>
          </a:p>
          <a:p>
            <a:pPr>
              <a:spcBef>
                <a:spcPts val="0"/>
              </a:spcBef>
              <a:spcAft>
                <a:spcPts val="600"/>
              </a:spcAft>
              <a:buNone/>
            </a:pPr>
            <a:r>
              <a:rPr lang="en-GB" sz="2000" dirty="0">
                <a:solidFill>
                  <a:srgbClr val="0000FF"/>
                </a:solidFill>
                <a:latin typeface="Consolas" panose="020B0609020204030204" pitchFamily="49" charset="0"/>
              </a:rPr>
              <a:t>	var</a:t>
            </a:r>
            <a:r>
              <a:rPr lang="en-GB" sz="2000" dirty="0">
                <a:solidFill>
                  <a:srgbClr val="000000"/>
                </a:solidFill>
                <a:latin typeface="Consolas" panose="020B0609020204030204" pitchFamily="49" charset="0"/>
              </a:rPr>
              <a:t> mid = (upper + lower) / 2;</a:t>
            </a:r>
          </a:p>
          <a:p>
            <a:pPr>
              <a:spcBef>
                <a:spcPts val="0"/>
              </a:spcBef>
              <a:spcAft>
                <a:spcPts val="600"/>
              </a:spcAft>
              <a:buNone/>
            </a:pPr>
            <a:r>
              <a:rPr lang="en-GB" sz="2000" dirty="0">
                <a:solidFill>
                  <a:srgbClr val="0000FF"/>
                </a:solidFill>
                <a:latin typeface="Consolas" panose="020B0609020204030204" pitchFamily="49" charset="0"/>
              </a:rPr>
              <a:t>	if</a:t>
            </a:r>
            <a:r>
              <a:rPr lang="en-GB" sz="2000" dirty="0">
                <a:solidFill>
                  <a:srgbClr val="000000"/>
                </a:solidFill>
                <a:latin typeface="Consolas" panose="020B0609020204030204" pitchFamily="49" charset="0"/>
              </a:rPr>
              <a:t> (value &lt; </a:t>
            </a:r>
            <a:r>
              <a:rPr lang="en-GB" sz="2000" dirty="0" err="1">
                <a:solidFill>
                  <a:srgbClr val="000000"/>
                </a:solidFill>
                <a:latin typeface="Consolas" panose="020B0609020204030204" pitchFamily="49" charset="0"/>
              </a:rPr>
              <a:t>arr</a:t>
            </a:r>
            <a:r>
              <a:rPr lang="en-GB" sz="2000" dirty="0">
                <a:solidFill>
                  <a:srgbClr val="000000"/>
                </a:solidFill>
                <a:latin typeface="Consolas" panose="020B0609020204030204" pitchFamily="49" charset="0"/>
              </a:rPr>
              <a:t>[mid])</a:t>
            </a:r>
          </a:p>
          <a:p>
            <a:pPr>
              <a:spcBef>
                <a:spcPts val="0"/>
              </a:spcBef>
              <a:spcAft>
                <a:spcPts val="600"/>
              </a:spcAft>
              <a:buNone/>
            </a:pPr>
            <a:r>
              <a:rPr lang="en-GB" sz="2000" dirty="0">
                <a:solidFill>
                  <a:srgbClr val="0000FF"/>
                </a:solidFill>
                <a:latin typeface="Consolas" panose="020B0609020204030204" pitchFamily="49" charset="0"/>
              </a:rPr>
              <a:t>		return</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RbinSearch</a:t>
            </a:r>
            <a:r>
              <a:rPr lang="en-GB" sz="2000" dirty="0">
                <a:solidFill>
                  <a:srgbClr val="000000"/>
                </a:solidFill>
                <a:latin typeface="Consolas" panose="020B0609020204030204" pitchFamily="49" charset="0"/>
              </a:rPr>
              <a:t>(</a:t>
            </a:r>
            <a:r>
              <a:rPr lang="en-GB" sz="2000" dirty="0" err="1">
                <a:solidFill>
                  <a:srgbClr val="000000"/>
                </a:solidFill>
                <a:latin typeface="Consolas" panose="020B0609020204030204" pitchFamily="49" charset="0"/>
              </a:rPr>
              <a:t>arr</a:t>
            </a:r>
            <a:r>
              <a:rPr lang="en-GB" sz="2000" dirty="0">
                <a:solidFill>
                  <a:srgbClr val="000000"/>
                </a:solidFill>
                <a:latin typeface="Consolas" panose="020B0609020204030204" pitchFamily="49" charset="0"/>
              </a:rPr>
              <a:t>, value, lower, mid - 1);</a:t>
            </a:r>
          </a:p>
          <a:p>
            <a:pPr>
              <a:spcBef>
                <a:spcPts val="0"/>
              </a:spcBef>
              <a:spcAft>
                <a:spcPts val="600"/>
              </a:spcAft>
              <a:buNone/>
            </a:pPr>
            <a:r>
              <a:rPr lang="en-GB" sz="2000" dirty="0">
                <a:solidFill>
                  <a:srgbClr val="0000FF"/>
                </a:solidFill>
                <a:latin typeface="Consolas" panose="020B0609020204030204" pitchFamily="49" charset="0"/>
              </a:rPr>
              <a:t>	else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if</a:t>
            </a:r>
            <a:r>
              <a:rPr lang="en-GB" sz="2000" dirty="0">
                <a:solidFill>
                  <a:srgbClr val="000000"/>
                </a:solidFill>
                <a:latin typeface="Consolas" panose="020B0609020204030204" pitchFamily="49" charset="0"/>
              </a:rPr>
              <a:t> (value == </a:t>
            </a:r>
            <a:r>
              <a:rPr lang="en-GB" sz="2000" dirty="0" err="1">
                <a:solidFill>
                  <a:srgbClr val="000000"/>
                </a:solidFill>
                <a:latin typeface="Consolas" panose="020B0609020204030204" pitchFamily="49" charset="0"/>
              </a:rPr>
              <a:t>arr</a:t>
            </a:r>
            <a:r>
              <a:rPr lang="en-GB" sz="2000" dirty="0">
                <a:solidFill>
                  <a:srgbClr val="000000"/>
                </a:solidFill>
                <a:latin typeface="Consolas" panose="020B0609020204030204" pitchFamily="49" charset="0"/>
              </a:rPr>
              <a:t>[mid])</a:t>
            </a:r>
          </a:p>
          <a:p>
            <a:pPr>
              <a:spcBef>
                <a:spcPts val="0"/>
              </a:spcBef>
              <a:spcAft>
                <a:spcPts val="600"/>
              </a:spcAft>
              <a:buNone/>
            </a:pPr>
            <a:r>
              <a:rPr lang="en-GB" sz="2000" dirty="0">
                <a:solidFill>
                  <a:srgbClr val="0000FF"/>
                </a:solidFill>
                <a:latin typeface="Consolas" panose="020B0609020204030204" pitchFamily="49" charset="0"/>
              </a:rPr>
              <a:t>		return</a:t>
            </a:r>
            <a:r>
              <a:rPr lang="en-GB" sz="2000" dirty="0">
                <a:solidFill>
                  <a:srgbClr val="000000"/>
                </a:solidFill>
                <a:latin typeface="Consolas" panose="020B0609020204030204" pitchFamily="49" charset="0"/>
              </a:rPr>
              <a:t> mid;</a:t>
            </a:r>
          </a:p>
          <a:p>
            <a:pPr>
              <a:spcBef>
                <a:spcPts val="0"/>
              </a:spcBef>
              <a:spcAft>
                <a:spcPts val="600"/>
              </a:spcAft>
              <a:buNone/>
            </a:pPr>
            <a:r>
              <a:rPr lang="en-GB" sz="2000" dirty="0">
                <a:solidFill>
                  <a:srgbClr val="0000FF"/>
                </a:solidFill>
                <a:latin typeface="Consolas" panose="020B0609020204030204" pitchFamily="49" charset="0"/>
              </a:rPr>
              <a:t>	else</a:t>
            </a:r>
            <a:endParaRPr lang="en-GB" sz="2000" dirty="0">
              <a:solidFill>
                <a:srgbClr val="000000"/>
              </a:solidFill>
              <a:latin typeface="Consolas" panose="020B0609020204030204" pitchFamily="49" charset="0"/>
            </a:endParaRPr>
          </a:p>
          <a:p>
            <a:pPr>
              <a:spcBef>
                <a:spcPts val="0"/>
              </a:spcBef>
              <a:spcAft>
                <a:spcPts val="600"/>
              </a:spcAft>
              <a:buNone/>
            </a:pPr>
            <a:r>
              <a:rPr lang="en-GB" sz="2000" dirty="0">
                <a:solidFill>
                  <a:srgbClr val="0000FF"/>
                </a:solidFill>
                <a:latin typeface="Consolas" panose="020B0609020204030204" pitchFamily="49" charset="0"/>
              </a:rPr>
              <a:t>		return</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RbinSearch</a:t>
            </a:r>
            <a:r>
              <a:rPr lang="en-GB" sz="2000" dirty="0">
                <a:solidFill>
                  <a:srgbClr val="000000"/>
                </a:solidFill>
                <a:latin typeface="Consolas" panose="020B0609020204030204" pitchFamily="49" charset="0"/>
              </a:rPr>
              <a:t>(</a:t>
            </a:r>
            <a:r>
              <a:rPr lang="en-GB" sz="2000" dirty="0" err="1">
                <a:solidFill>
                  <a:srgbClr val="000000"/>
                </a:solidFill>
                <a:latin typeface="Consolas" panose="020B0609020204030204" pitchFamily="49" charset="0"/>
              </a:rPr>
              <a:t>arr</a:t>
            </a:r>
            <a:r>
              <a:rPr lang="en-GB" sz="2000" dirty="0">
                <a:solidFill>
                  <a:srgbClr val="000000"/>
                </a:solidFill>
                <a:latin typeface="Consolas" panose="020B0609020204030204" pitchFamily="49" charset="0"/>
              </a:rPr>
              <a:t>, value, mid + 1, upper);</a:t>
            </a:r>
          </a:p>
          <a:p>
            <a:pPr>
              <a:spcBef>
                <a:spcPts val="0"/>
              </a:spcBef>
              <a:spcAft>
                <a:spcPts val="600"/>
              </a:spcAft>
              <a:buNone/>
            </a:pPr>
            <a:r>
              <a:rPr lang="en-GB" sz="2000" dirty="0">
                <a:solidFill>
                  <a:srgbClr val="000000"/>
                </a:solidFill>
                <a:latin typeface="Consolas" panose="020B0609020204030204" pitchFamily="49" charset="0"/>
              </a:rPr>
              <a:t>}</a:t>
            </a:r>
            <a:endParaRPr lang="en-US" sz="2000" dirty="0"/>
          </a:p>
        </p:txBody>
      </p:sp>
    </p:spTree>
    <p:extLst>
      <p:ext uri="{BB962C8B-B14F-4D97-AF65-F5344CB8AC3E}">
        <p14:creationId xmlns:p14="http://schemas.microsoft.com/office/powerpoint/2010/main" val="38196780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450F9B-C91F-8251-DBB6-902A113A0099}"/>
              </a:ext>
            </a:extLst>
          </p:cNvPr>
          <p:cNvSpPr>
            <a:spLocks noGrp="1"/>
          </p:cNvSpPr>
          <p:nvPr>
            <p:ph type="ctrTitle"/>
          </p:nvPr>
        </p:nvSpPr>
        <p:spPr/>
        <p:txBody>
          <a:bodyPr/>
          <a:lstStyle/>
          <a:p>
            <a:r>
              <a:rPr lang="en-US" dirty="0"/>
              <a:t>The end</a:t>
            </a:r>
            <a:endParaRPr lang="ru-RU" dirty="0"/>
          </a:p>
        </p:txBody>
      </p:sp>
      <p:sp>
        <p:nvSpPr>
          <p:cNvPr id="6" name="Номер слайда 5">
            <a:extLst>
              <a:ext uri="{FF2B5EF4-FFF2-40B4-BE49-F238E27FC236}">
                <a16:creationId xmlns:a16="http://schemas.microsoft.com/office/drawing/2014/main" id="{1D585132-5E6B-6252-979D-81557B9743BC}"/>
              </a:ext>
            </a:extLst>
          </p:cNvPr>
          <p:cNvSpPr>
            <a:spLocks noGrp="1"/>
          </p:cNvSpPr>
          <p:nvPr>
            <p:ph type="sldNum" sz="quarter" idx="12"/>
          </p:nvPr>
        </p:nvSpPr>
        <p:spPr>
          <a:xfrm>
            <a:off x="9318522" y="6356350"/>
            <a:ext cx="2035278" cy="365125"/>
          </a:xfrm>
        </p:spPr>
        <p:txBody>
          <a:bodyPr/>
          <a:lstStyle/>
          <a:p>
            <a:fld id="{24CFBF5F-D9F7-437E-8CF8-688EAF21A1C0}" type="slidenum">
              <a:rPr lang="ru-RU" smtClean="0"/>
              <a:pPr/>
              <a:t>35</a:t>
            </a:fld>
            <a:endParaRPr lang="ru-RU"/>
          </a:p>
        </p:txBody>
      </p:sp>
      <p:sp>
        <p:nvSpPr>
          <p:cNvPr id="7" name="Текст 5">
            <a:extLst>
              <a:ext uri="{FF2B5EF4-FFF2-40B4-BE49-F238E27FC236}">
                <a16:creationId xmlns:a16="http://schemas.microsoft.com/office/drawing/2014/main" id="{A6B5030E-C28D-91D0-D376-9646C9A27106}"/>
              </a:ext>
            </a:extLst>
          </p:cNvPr>
          <p:cNvSpPr>
            <a:spLocks noGrp="1"/>
          </p:cNvSpPr>
          <p:nvPr>
            <p:ph type="body" sz="quarter" idx="15"/>
          </p:nvPr>
        </p:nvSpPr>
        <p:spPr>
          <a:xfrm>
            <a:off x="838201" y="6341397"/>
            <a:ext cx="3101410" cy="374650"/>
          </a:xfrm>
        </p:spPr>
        <p:txBody>
          <a:bodyPr/>
          <a:lstStyle/>
          <a:p>
            <a:r>
              <a:rPr lang="en-US"/>
              <a:t>BSc Business Information Systems</a:t>
            </a:r>
            <a:endParaRPr lang="ru-RU" dirty="0"/>
          </a:p>
        </p:txBody>
      </p:sp>
    </p:spTree>
    <p:extLst>
      <p:ext uri="{BB962C8B-B14F-4D97-AF65-F5344CB8AC3E}">
        <p14:creationId xmlns:p14="http://schemas.microsoft.com/office/powerpoint/2010/main" val="3884791876"/>
      </p:ext>
    </p:extLst>
  </p:cSld>
  <p:clrMapOvr>
    <a:masterClrMapping/>
  </p:clrMapOvr>
</p:sld>
</file>

<file path=ppt/theme/theme1.xml><?xml version="1.0" encoding="utf-8"?>
<a:theme xmlns:a="http://schemas.openxmlformats.org/drawingml/2006/main" name="Тема Office">
  <a:themeElements>
    <a:clrScheme name="Custom 11">
      <a:dk1>
        <a:sysClr val="windowText" lastClr="000000"/>
      </a:dk1>
      <a:lt1>
        <a:sysClr val="window" lastClr="FFFFFF"/>
      </a:lt1>
      <a:dk2>
        <a:srgbClr val="07428C"/>
      </a:dk2>
      <a:lt2>
        <a:srgbClr val="EDEDED"/>
      </a:lt2>
      <a:accent1>
        <a:srgbClr val="083FA4"/>
      </a:accent1>
      <a:accent2>
        <a:srgbClr val="ED7D31"/>
      </a:accent2>
      <a:accent3>
        <a:srgbClr val="35A8E0"/>
      </a:accent3>
      <a:accent4>
        <a:srgbClr val="000000"/>
      </a:accent4>
      <a:accent5>
        <a:srgbClr val="4472C4"/>
      </a:accent5>
      <a:accent6>
        <a:srgbClr val="70AD47"/>
      </a:accent6>
      <a:hlink>
        <a:srgbClr val="358A7C"/>
      </a:hlink>
      <a:folHlink>
        <a:srgbClr val="B7283C"/>
      </a:folHlink>
    </a:clrScheme>
    <a:fontScheme name="Другая 1">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Другая 13">
      <a:dk1>
        <a:sysClr val="windowText" lastClr="000000"/>
      </a:dk1>
      <a:lt1>
        <a:sysClr val="window" lastClr="FFFFFF"/>
      </a:lt1>
      <a:dk2>
        <a:srgbClr val="264C94"/>
      </a:dk2>
      <a:lt2>
        <a:srgbClr val="35A8E0"/>
      </a:lt2>
      <a:accent1>
        <a:srgbClr val="7CB4E2"/>
      </a:accent1>
      <a:accent2>
        <a:srgbClr val="358A7C"/>
      </a:accent2>
      <a:accent3>
        <a:srgbClr val="A5A5A5"/>
      </a:accent3>
      <a:accent4>
        <a:srgbClr val="26693A"/>
      </a:accent4>
      <a:accent5>
        <a:srgbClr val="F6AC10"/>
      </a:accent5>
      <a:accent6>
        <a:srgbClr val="B7283C"/>
      </a:accent6>
      <a:hlink>
        <a:srgbClr val="358A7C"/>
      </a:hlink>
      <a:folHlink>
        <a:srgbClr val="B7283C"/>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1855</TotalTime>
  <Words>1046</Words>
  <Application>Microsoft Office PowerPoint</Application>
  <PresentationFormat>Widescreen</PresentationFormat>
  <Paragraphs>234</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Consolas</vt:lpstr>
      <vt:lpstr>Courier New</vt:lpstr>
      <vt:lpstr>Times New Roman</vt:lpstr>
      <vt:lpstr>Wingdings</vt:lpstr>
      <vt:lpstr>Тема Office</vt:lpstr>
      <vt:lpstr>Fundamentals of Programming</vt:lpstr>
      <vt:lpstr>Agenda</vt:lpstr>
      <vt:lpstr>Bubble Sort</vt:lpstr>
      <vt:lpstr>Bubble Sort</vt:lpstr>
      <vt:lpstr>Bubble Sort</vt:lpstr>
      <vt:lpstr>Bubble Sort</vt:lpstr>
      <vt:lpstr>Selection Sort</vt:lpstr>
      <vt:lpstr>Selection Sort</vt:lpstr>
      <vt:lpstr>Selection Sort</vt:lpstr>
      <vt:lpstr>Insertion Sort</vt:lpstr>
      <vt:lpstr>Insertion Sort</vt:lpstr>
      <vt:lpstr>Insertion Sort</vt:lpstr>
      <vt:lpstr>Quicksort</vt:lpstr>
      <vt:lpstr>Quicksort</vt:lpstr>
      <vt:lpstr>Quicksort steps</vt:lpstr>
      <vt:lpstr>Quicksort steps</vt:lpstr>
      <vt:lpstr>Choosing pivot</vt:lpstr>
      <vt:lpstr>PowerPoint Presentation</vt:lpstr>
      <vt:lpstr>Quicksort pseudocode</vt:lpstr>
      <vt:lpstr>Quicksort</vt:lpstr>
      <vt:lpstr>Other sorting algorithms</vt:lpstr>
      <vt:lpstr>Sequential Search</vt:lpstr>
      <vt:lpstr>Sequential Search</vt:lpstr>
      <vt:lpstr>Sequential Search</vt:lpstr>
      <vt:lpstr>Sequential Search</vt:lpstr>
      <vt:lpstr>Searching for extremes</vt:lpstr>
      <vt:lpstr>Searching for the minimum value</vt:lpstr>
      <vt:lpstr>Searching for the maximum value</vt:lpstr>
      <vt:lpstr>Binary Search</vt:lpstr>
      <vt:lpstr>Binary Search</vt:lpstr>
      <vt:lpstr>Binary Search</vt:lpstr>
      <vt:lpstr>Binary Search</vt:lpstr>
      <vt:lpstr>Binary Search</vt:lpstr>
      <vt:lpstr>Recursive Binary Search</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Vasiliy Kuznetsov</cp:lastModifiedBy>
  <cp:revision>210</cp:revision>
  <dcterms:created xsi:type="dcterms:W3CDTF">2022-06-28T05:50:22Z</dcterms:created>
  <dcterms:modified xsi:type="dcterms:W3CDTF">2025-02-21T14:19:59Z</dcterms:modified>
</cp:coreProperties>
</file>