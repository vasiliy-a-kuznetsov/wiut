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8"/>
  </p:notesMasterIdLst>
  <p:sldIdLst>
    <p:sldId id="256" r:id="rId2"/>
    <p:sldId id="258" r:id="rId3"/>
    <p:sldId id="271" r:id="rId4"/>
    <p:sldId id="272" r:id="rId5"/>
    <p:sldId id="273" r:id="rId6"/>
    <p:sldId id="274" r:id="rId7"/>
    <p:sldId id="275" r:id="rId8"/>
    <p:sldId id="276" r:id="rId9"/>
    <p:sldId id="277" r:id="rId10"/>
    <p:sldId id="278" r:id="rId11"/>
    <p:sldId id="279" r:id="rId12"/>
    <p:sldId id="257" r:id="rId13"/>
    <p:sldId id="280" r:id="rId14"/>
    <p:sldId id="281" r:id="rId15"/>
    <p:sldId id="282" r:id="rId16"/>
    <p:sldId id="283" r:id="rId17"/>
    <p:sldId id="284" r:id="rId18"/>
    <p:sldId id="285" r:id="rId19"/>
    <p:sldId id="286" r:id="rId20"/>
    <p:sldId id="287" r:id="rId21"/>
    <p:sldId id="288" r:id="rId22"/>
    <p:sldId id="289" r:id="rId23"/>
    <p:sldId id="290" r:id="rId24"/>
    <p:sldId id="291" r:id="rId25"/>
    <p:sldId id="292" r:id="rId26"/>
    <p:sldId id="270" r:id="rId2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958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CEEEE"/>
    <a:srgbClr val="F2F2F2"/>
    <a:srgbClr val="358A7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2"/>
      </p:cViewPr>
      <p:guideLst>
        <p:guide orient="horz" pos="958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2766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BD7DEE-5312-4C23-BF9D-CEE6AA43FDA7}" type="datetimeFigureOut">
              <a:rPr lang="ru-RU" smtClean="0"/>
              <a:t>14.09.2024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F33E4F-C868-4D44-AC30-8AEA639D405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552648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D2A2733B-51EE-F674-C628-1F90FFB250B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910309"/>
            <a:ext cx="12192000" cy="947691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1E0BA4-DEFA-2D05-F078-B6A2267C8EB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8200" y="1671545"/>
            <a:ext cx="105156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>
                <a:solidFill>
                  <a:schemeClr val="tx2"/>
                </a:solidFill>
              </a:defRPr>
            </a:lvl1pPr>
          </a:lstStyle>
          <a:p>
            <a:r>
              <a:rPr lang="en" dirty="0"/>
              <a:t>PRESENTATION HEADLINE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CE63F29-9D71-414F-9F6E-D1DAEA3892F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8199" y="4151220"/>
            <a:ext cx="10515599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accent3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Let’s start with the first set of slides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5E07DD49-C310-E4D0-AD52-96E34968CD3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894560" y="867420"/>
            <a:ext cx="2402881" cy="1392830"/>
          </a:xfrm>
          <a:prstGeom prst="rect">
            <a:avLst/>
          </a:prstGeom>
        </p:spPr>
      </p:pic>
      <p:sp>
        <p:nvSpPr>
          <p:cNvPr id="10" name="Текст 15">
            <a:extLst>
              <a:ext uri="{FF2B5EF4-FFF2-40B4-BE49-F238E27FC236}">
                <a16:creationId xmlns:a16="http://schemas.microsoft.com/office/drawing/2014/main" id="{6263DB5C-C63E-9F5C-C9E7-E895DD387D7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1" y="6341397"/>
            <a:ext cx="3101410" cy="37465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Name of Department</a:t>
            </a:r>
            <a:endParaRPr lang="ru-RU" dirty="0"/>
          </a:p>
        </p:txBody>
      </p:sp>
      <p:sp>
        <p:nvSpPr>
          <p:cNvPr id="11" name="Номер слайда 5">
            <a:extLst>
              <a:ext uri="{FF2B5EF4-FFF2-40B4-BE49-F238E27FC236}">
                <a16:creationId xmlns:a16="http://schemas.microsoft.com/office/drawing/2014/main" id="{B79A03B0-37CA-036A-92F2-830D5136B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8522" y="6356350"/>
            <a:ext cx="2035278" cy="365125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24CFBF5F-D9F7-437E-8CF8-688EAF21A1C0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16" name="Рисунок 15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1382" y="6306797"/>
            <a:ext cx="1849235" cy="355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10851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итульный слайд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D2F199F8-BC65-3557-878B-6D38F25C567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910309"/>
            <a:ext cx="12192000" cy="947691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1E0BA4-DEFA-2D05-F078-B6A2267C8EB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8201" y="1682560"/>
            <a:ext cx="10515599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TRANSITION HEADLINE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CE63F29-9D71-414F-9F6E-D1DAEA3892F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8201" y="4162235"/>
            <a:ext cx="10515599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accent3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Let’s start with the first set of slides</a:t>
            </a:r>
          </a:p>
        </p:txBody>
      </p:sp>
      <p:pic>
        <p:nvPicPr>
          <p:cNvPr id="4" name="Рисунок 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4560" y="429394"/>
            <a:ext cx="2402881" cy="1953883"/>
          </a:xfrm>
          <a:prstGeom prst="rect">
            <a:avLst/>
          </a:prstGeom>
        </p:spPr>
      </p:pic>
      <p:sp>
        <p:nvSpPr>
          <p:cNvPr id="13" name="Текст 15">
            <a:extLst>
              <a:ext uri="{FF2B5EF4-FFF2-40B4-BE49-F238E27FC236}">
                <a16:creationId xmlns:a16="http://schemas.microsoft.com/office/drawing/2014/main" id="{6263DB5C-C63E-9F5C-C9E7-E895DD387D7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1" y="6341397"/>
            <a:ext cx="3101410" cy="37465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Name of Department</a:t>
            </a:r>
            <a:endParaRPr lang="ru-RU" dirty="0"/>
          </a:p>
        </p:txBody>
      </p:sp>
      <p:sp>
        <p:nvSpPr>
          <p:cNvPr id="14" name="Номер слайда 5">
            <a:extLst>
              <a:ext uri="{FF2B5EF4-FFF2-40B4-BE49-F238E27FC236}">
                <a16:creationId xmlns:a16="http://schemas.microsoft.com/office/drawing/2014/main" id="{B79A03B0-37CA-036A-92F2-830D5136B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8522" y="6356350"/>
            <a:ext cx="2035278" cy="365125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24CFBF5F-D9F7-437E-8CF8-688EAF21A1C0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15" name="Рисунок 14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1380" y="6306797"/>
            <a:ext cx="1849240" cy="355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67162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Титульный слайд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89061EA6-9975-07F8-8A83-81823CDEE5E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99630"/>
            <a:ext cx="12192000" cy="5576705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1E0BA4-DEFA-2D05-F078-B6A2267C8EB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8201" y="2528374"/>
            <a:ext cx="10515599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TRANSITION HEADLINE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CE63F29-9D71-414F-9F6E-D1DAEA3892F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8201" y="5008049"/>
            <a:ext cx="10515599" cy="106828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Let’s start with the first set of slides</a:t>
            </a:r>
          </a:p>
        </p:txBody>
      </p:sp>
      <p:sp>
        <p:nvSpPr>
          <p:cNvPr id="12" name="Текст 15">
            <a:extLst>
              <a:ext uri="{FF2B5EF4-FFF2-40B4-BE49-F238E27FC236}">
                <a16:creationId xmlns:a16="http://schemas.microsoft.com/office/drawing/2014/main" id="{6263DB5C-C63E-9F5C-C9E7-E895DD387D7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1" y="6341397"/>
            <a:ext cx="3101410" cy="37465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Name of Department</a:t>
            </a:r>
            <a:endParaRPr lang="ru-RU" dirty="0"/>
          </a:p>
        </p:txBody>
      </p:sp>
      <p:sp>
        <p:nvSpPr>
          <p:cNvPr id="13" name="Номер слайда 5">
            <a:extLst>
              <a:ext uri="{FF2B5EF4-FFF2-40B4-BE49-F238E27FC236}">
                <a16:creationId xmlns:a16="http://schemas.microsoft.com/office/drawing/2014/main" id="{B79A03B0-37CA-036A-92F2-830D5136B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8522" y="6356350"/>
            <a:ext cx="2035278" cy="365125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24CFBF5F-D9F7-437E-8CF8-688EAF21A1C0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14" name="Рисунок 1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1382" y="6306797"/>
            <a:ext cx="1849235" cy="355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42017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Титульный слайд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89061EA6-9975-07F8-8A83-81823CDEE5E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99630"/>
            <a:ext cx="12192000" cy="5576705"/>
          </a:xfrm>
          <a:prstGeom prst="rect">
            <a:avLst/>
          </a:prstGeom>
        </p:spPr>
      </p:pic>
      <p:sp>
        <p:nvSpPr>
          <p:cNvPr id="13" name="Текст 15">
            <a:extLst>
              <a:ext uri="{FF2B5EF4-FFF2-40B4-BE49-F238E27FC236}">
                <a16:creationId xmlns:a16="http://schemas.microsoft.com/office/drawing/2014/main" id="{6263DB5C-C63E-9F5C-C9E7-E895DD387D7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1" y="6341397"/>
            <a:ext cx="3101410" cy="37465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Name of Department</a:t>
            </a:r>
            <a:endParaRPr lang="ru-RU" dirty="0"/>
          </a:p>
        </p:txBody>
      </p:sp>
      <p:sp>
        <p:nvSpPr>
          <p:cNvPr id="14" name="Номер слайда 5">
            <a:extLst>
              <a:ext uri="{FF2B5EF4-FFF2-40B4-BE49-F238E27FC236}">
                <a16:creationId xmlns:a16="http://schemas.microsoft.com/office/drawing/2014/main" id="{B79A03B0-37CA-036A-92F2-830D5136B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8522" y="6356350"/>
            <a:ext cx="2035278" cy="365125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24CFBF5F-D9F7-437E-8CF8-688EAF21A1C0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15" name="Рисунок 1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1382" y="6306797"/>
            <a:ext cx="1849235" cy="355038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1E0BA4-DEFA-2D05-F078-B6A2267C8EB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8201" y="2528374"/>
            <a:ext cx="10515599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TRANSITION HEADLINE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CE63F29-9D71-414F-9F6E-D1DAEA3892F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8201" y="5008049"/>
            <a:ext cx="10515599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Let’s start with the first set of slides</a:t>
            </a:r>
          </a:p>
        </p:txBody>
      </p:sp>
    </p:spTree>
    <p:extLst>
      <p:ext uri="{BB962C8B-B14F-4D97-AF65-F5344CB8AC3E}">
        <p14:creationId xmlns:p14="http://schemas.microsoft.com/office/powerpoint/2010/main" val="42872574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Титульный слайд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D2F199F8-BC65-3557-878B-6D38F25C567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910309"/>
            <a:ext cx="12192000" cy="947691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1E0BA4-DEFA-2D05-F078-B6A2267C8EB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8201" y="1319003"/>
            <a:ext cx="10515599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TRANSITION HEADLINE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CE63F29-9D71-414F-9F6E-D1DAEA3892F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8201" y="3798678"/>
            <a:ext cx="10515599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accent5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Let’s start with the first set of slides</a:t>
            </a:r>
          </a:p>
        </p:txBody>
      </p:sp>
      <p:pic>
        <p:nvPicPr>
          <p:cNvPr id="9" name="Рисунок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4560" y="429394"/>
            <a:ext cx="2402881" cy="1953882"/>
          </a:xfrm>
          <a:prstGeom prst="rect">
            <a:avLst/>
          </a:prstGeom>
        </p:spPr>
      </p:pic>
      <p:sp>
        <p:nvSpPr>
          <p:cNvPr id="10" name="Текст 15">
            <a:extLst>
              <a:ext uri="{FF2B5EF4-FFF2-40B4-BE49-F238E27FC236}">
                <a16:creationId xmlns:a16="http://schemas.microsoft.com/office/drawing/2014/main" id="{6263DB5C-C63E-9F5C-C9E7-E895DD387D7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1" y="6341397"/>
            <a:ext cx="3101410" cy="37465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Name of Department</a:t>
            </a:r>
            <a:endParaRPr lang="ru-RU" dirty="0"/>
          </a:p>
        </p:txBody>
      </p:sp>
      <p:sp>
        <p:nvSpPr>
          <p:cNvPr id="11" name="Номер слайда 5">
            <a:extLst>
              <a:ext uri="{FF2B5EF4-FFF2-40B4-BE49-F238E27FC236}">
                <a16:creationId xmlns:a16="http://schemas.microsoft.com/office/drawing/2014/main" id="{B79A03B0-37CA-036A-92F2-830D5136B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8522" y="6356350"/>
            <a:ext cx="2035278" cy="365125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24CFBF5F-D9F7-437E-8CF8-688EAF21A1C0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13" name="Рисунок 12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1380" y="6306797"/>
            <a:ext cx="1849240" cy="355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39369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144;p19">
            <a:extLst>
              <a:ext uri="{FF2B5EF4-FFF2-40B4-BE49-F238E27FC236}">
                <a16:creationId xmlns:a16="http://schemas.microsoft.com/office/drawing/2014/main" id="{603DAD57-855B-69D0-1CBD-C5B3BD3EC15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1" y="1714500"/>
            <a:ext cx="5074557" cy="170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>
              <a:defRPr sz="2000"/>
            </a:lvl1pPr>
          </a:lstStyle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 dirty="0"/>
              <a:t>White</a:t>
            </a:r>
            <a:endParaRPr b="1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Is the color of milk and fresh snow, the color produced by the combination of all the colors of the visible spectrum.</a:t>
            </a:r>
            <a:endParaRPr dirty="0"/>
          </a:p>
        </p:txBody>
      </p:sp>
      <p:sp>
        <p:nvSpPr>
          <p:cNvPr id="8" name="Google Shape;145;p19">
            <a:extLst>
              <a:ext uri="{FF2B5EF4-FFF2-40B4-BE49-F238E27FC236}">
                <a16:creationId xmlns:a16="http://schemas.microsoft.com/office/drawing/2014/main" id="{E5CCA84B-7D50-8B33-EC06-994FE264398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1" y="474531"/>
            <a:ext cx="8578173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You can also split your content</a:t>
            </a:r>
            <a:endParaRPr dirty="0"/>
          </a:p>
        </p:txBody>
      </p:sp>
      <p:sp>
        <p:nvSpPr>
          <p:cNvPr id="9" name="Google Shape;146;p19">
            <a:extLst>
              <a:ext uri="{FF2B5EF4-FFF2-40B4-BE49-F238E27FC236}">
                <a16:creationId xmlns:a16="http://schemas.microsoft.com/office/drawing/2014/main" id="{1A3271C3-5EB1-33E0-AD0F-C686F31E636B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6223821" y="1714500"/>
            <a:ext cx="5129978" cy="170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>
              <a:defRPr sz="2000"/>
            </a:lvl1pPr>
          </a:lstStyle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 dirty="0"/>
              <a:t>Black</a:t>
            </a:r>
            <a:endParaRPr b="1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Is the color of ebony and of outer space. It has been the symbolic color of elegance, solemnity and authority.</a:t>
            </a:r>
            <a:endParaRPr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8396998A-0669-DD7B-F5BE-B19B862C8D7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910309"/>
            <a:ext cx="12192000" cy="947691"/>
          </a:xfrm>
          <a:prstGeom prst="rect">
            <a:avLst/>
          </a:prstGeom>
        </p:spPr>
      </p:pic>
      <p:sp>
        <p:nvSpPr>
          <p:cNvPr id="13" name="Текст 15">
            <a:extLst>
              <a:ext uri="{FF2B5EF4-FFF2-40B4-BE49-F238E27FC236}">
                <a16:creationId xmlns:a16="http://schemas.microsoft.com/office/drawing/2014/main" id="{6263DB5C-C63E-9F5C-C9E7-E895DD387D7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1" y="6341397"/>
            <a:ext cx="3101410" cy="37465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Name of Department</a:t>
            </a:r>
            <a:endParaRPr lang="ru-RU" dirty="0"/>
          </a:p>
        </p:txBody>
      </p:sp>
      <p:sp>
        <p:nvSpPr>
          <p:cNvPr id="14" name="Номер слайда 5">
            <a:extLst>
              <a:ext uri="{FF2B5EF4-FFF2-40B4-BE49-F238E27FC236}">
                <a16:creationId xmlns:a16="http://schemas.microsoft.com/office/drawing/2014/main" id="{B79A03B0-37CA-036A-92F2-830D5136B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8522" y="6356350"/>
            <a:ext cx="2035278" cy="365125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24CFBF5F-D9F7-437E-8CF8-688EAF21A1C0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3" name="Рисунок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1380" y="6306797"/>
            <a:ext cx="1849240" cy="355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6149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Заголовок и объект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A280644-DFCA-A39E-6662-615C37F73B8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990" r="3233"/>
          <a:stretch/>
        </p:blipFill>
        <p:spPr>
          <a:xfrm>
            <a:off x="6806594" y="0"/>
            <a:ext cx="5385406" cy="5844445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5F9CA98-FE23-6C0C-C5CC-498BF274772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85" r="8325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Google Shape;144;p19">
            <a:extLst>
              <a:ext uri="{FF2B5EF4-FFF2-40B4-BE49-F238E27FC236}">
                <a16:creationId xmlns:a16="http://schemas.microsoft.com/office/drawing/2014/main" id="{603DAD57-855B-69D0-1CBD-C5B3BD3EC15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2" y="2056024"/>
            <a:ext cx="5129980" cy="170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 dirty="0"/>
              <a:t>White</a:t>
            </a:r>
            <a:endParaRPr b="1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Is the color of milk and fresh snow, the color produced by the combination of all the colors of the visible spectrum.</a:t>
            </a:r>
            <a:endParaRPr dirty="0"/>
          </a:p>
        </p:txBody>
      </p:sp>
      <p:sp>
        <p:nvSpPr>
          <p:cNvPr id="8" name="Google Shape;145;p19">
            <a:extLst>
              <a:ext uri="{FF2B5EF4-FFF2-40B4-BE49-F238E27FC236}">
                <a16:creationId xmlns:a16="http://schemas.microsoft.com/office/drawing/2014/main" id="{E5CCA84B-7D50-8B33-EC06-994FE2643988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838201" y="474531"/>
            <a:ext cx="4857519" cy="85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You can also insert a photo</a:t>
            </a:r>
            <a:endParaRPr dirty="0"/>
          </a:p>
        </p:txBody>
      </p:sp>
      <p:sp>
        <p:nvSpPr>
          <p:cNvPr id="9" name="Текст 15">
            <a:extLst>
              <a:ext uri="{FF2B5EF4-FFF2-40B4-BE49-F238E27FC236}">
                <a16:creationId xmlns:a16="http://schemas.microsoft.com/office/drawing/2014/main" id="{6263DB5C-C63E-9F5C-C9E7-E895DD387D7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1" y="6341397"/>
            <a:ext cx="3101410" cy="37465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Name of Department</a:t>
            </a:r>
            <a:endParaRPr lang="ru-RU" dirty="0"/>
          </a:p>
        </p:txBody>
      </p:sp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id="{B79A03B0-37CA-036A-92F2-830D5136B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8522" y="6356350"/>
            <a:ext cx="2035278" cy="365125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24CFBF5F-D9F7-437E-8CF8-688EAF21A1C0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15" name="Рисунок 14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1382" y="6306797"/>
            <a:ext cx="1849235" cy="355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89884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Заголовок и объект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144;p19">
            <a:extLst>
              <a:ext uri="{FF2B5EF4-FFF2-40B4-BE49-F238E27FC236}">
                <a16:creationId xmlns:a16="http://schemas.microsoft.com/office/drawing/2014/main" id="{603DAD57-855B-69D0-1CBD-C5B3BD3EC15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1" y="2056020"/>
            <a:ext cx="5129981" cy="170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>
              <a:defRPr sz="2000">
                <a:solidFill>
                  <a:schemeClr val="tx1"/>
                </a:solidFill>
              </a:defRPr>
            </a:lvl1pPr>
          </a:lstStyle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 dirty="0"/>
              <a:t>White</a:t>
            </a:r>
            <a:endParaRPr b="1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Is the color of milk and fresh snow, the color produced by the combination of all the colors of the visible spectrum.</a:t>
            </a:r>
            <a:endParaRPr dirty="0"/>
          </a:p>
        </p:txBody>
      </p:sp>
      <p:sp>
        <p:nvSpPr>
          <p:cNvPr id="8" name="Google Shape;145;p19">
            <a:extLst>
              <a:ext uri="{FF2B5EF4-FFF2-40B4-BE49-F238E27FC236}">
                <a16:creationId xmlns:a16="http://schemas.microsoft.com/office/drawing/2014/main" id="{E5CCA84B-7D50-8B33-EC06-994FE2643988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838201" y="474531"/>
            <a:ext cx="4725317" cy="85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You can also insert a photo</a:t>
            </a:r>
            <a:endParaRPr dirty="0"/>
          </a:p>
        </p:txBody>
      </p:sp>
      <p:pic>
        <p:nvPicPr>
          <p:cNvPr id="10" name="Рисунок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8940" y="700391"/>
            <a:ext cx="1634859" cy="400373"/>
          </a:xfrm>
          <a:prstGeom prst="rect">
            <a:avLst/>
          </a:prstGeom>
        </p:spPr>
      </p:pic>
      <p:sp>
        <p:nvSpPr>
          <p:cNvPr id="9" name="Текст 15">
            <a:extLst>
              <a:ext uri="{FF2B5EF4-FFF2-40B4-BE49-F238E27FC236}">
                <a16:creationId xmlns:a16="http://schemas.microsoft.com/office/drawing/2014/main" id="{6263DB5C-C63E-9F5C-C9E7-E895DD387D7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1" y="6341397"/>
            <a:ext cx="3101410" cy="37465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Name of Department</a:t>
            </a:r>
            <a:endParaRPr lang="ru-RU" dirty="0"/>
          </a:p>
        </p:txBody>
      </p:sp>
      <p:sp>
        <p:nvSpPr>
          <p:cNvPr id="11" name="Номер слайда 5">
            <a:extLst>
              <a:ext uri="{FF2B5EF4-FFF2-40B4-BE49-F238E27FC236}">
                <a16:creationId xmlns:a16="http://schemas.microsoft.com/office/drawing/2014/main" id="{B79A03B0-37CA-036A-92F2-830D5136B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8522" y="6356350"/>
            <a:ext cx="2035278" cy="365125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24CFBF5F-D9F7-437E-8CF8-688EAF21A1C0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15" name="Рисунок 1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1380" y="6306797"/>
            <a:ext cx="1849240" cy="355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74605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Заголовок и объект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8396998A-0669-DD7B-F5BE-B19B862C8D7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5914401"/>
            <a:ext cx="12192000" cy="231589"/>
          </a:xfrm>
          <a:prstGeom prst="rect">
            <a:avLst/>
          </a:prstGeom>
        </p:spPr>
      </p:pic>
      <p:sp>
        <p:nvSpPr>
          <p:cNvPr id="8" name="Google Shape;145;p19">
            <a:extLst>
              <a:ext uri="{FF2B5EF4-FFF2-40B4-BE49-F238E27FC236}">
                <a16:creationId xmlns:a16="http://schemas.microsoft.com/office/drawing/2014/main" id="{E5CCA84B-7D50-8B33-EC06-994FE2643988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838201" y="474531"/>
            <a:ext cx="8558718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You can also insert a photos</a:t>
            </a:r>
            <a:endParaRPr dirty="0"/>
          </a:p>
        </p:txBody>
      </p:sp>
      <p:pic>
        <p:nvPicPr>
          <p:cNvPr id="7" name="Рисунок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8940" y="700391"/>
            <a:ext cx="1634859" cy="400373"/>
          </a:xfrm>
          <a:prstGeom prst="rect">
            <a:avLst/>
          </a:prstGeom>
        </p:spPr>
      </p:pic>
      <p:sp>
        <p:nvSpPr>
          <p:cNvPr id="9" name="Текст 15">
            <a:extLst>
              <a:ext uri="{FF2B5EF4-FFF2-40B4-BE49-F238E27FC236}">
                <a16:creationId xmlns:a16="http://schemas.microsoft.com/office/drawing/2014/main" id="{6263DB5C-C63E-9F5C-C9E7-E895DD387D7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1" y="6341397"/>
            <a:ext cx="3101410" cy="37465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Name of Department</a:t>
            </a:r>
            <a:endParaRPr lang="ru-RU" dirty="0"/>
          </a:p>
        </p:txBody>
      </p:sp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id="{B79A03B0-37CA-036A-92F2-830D5136B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8522" y="6356350"/>
            <a:ext cx="2035278" cy="365125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24CFBF5F-D9F7-437E-8CF8-688EAF21A1C0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15" name="Рисунок 14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1382" y="6306797"/>
            <a:ext cx="1849235" cy="355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48449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Заголовок и объект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145;p19">
            <a:extLst>
              <a:ext uri="{FF2B5EF4-FFF2-40B4-BE49-F238E27FC236}">
                <a16:creationId xmlns:a16="http://schemas.microsoft.com/office/drawing/2014/main" id="{E5CCA84B-7D50-8B33-EC06-994FE2643988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838201" y="474531"/>
            <a:ext cx="867545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You can also insert a photos</a:t>
            </a:r>
            <a:endParaRPr dirty="0"/>
          </a:p>
        </p:txBody>
      </p:sp>
      <p:pic>
        <p:nvPicPr>
          <p:cNvPr id="6" name="Рисунок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8941" y="700391"/>
            <a:ext cx="1634857" cy="400373"/>
          </a:xfrm>
          <a:prstGeom prst="rect">
            <a:avLst/>
          </a:prstGeom>
        </p:spPr>
      </p:pic>
      <p:sp>
        <p:nvSpPr>
          <p:cNvPr id="11" name="Текст 15">
            <a:extLst>
              <a:ext uri="{FF2B5EF4-FFF2-40B4-BE49-F238E27FC236}">
                <a16:creationId xmlns:a16="http://schemas.microsoft.com/office/drawing/2014/main" id="{6263DB5C-C63E-9F5C-C9E7-E895DD387D7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1" y="6341397"/>
            <a:ext cx="3101410" cy="37465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Name of Department</a:t>
            </a:r>
            <a:endParaRPr lang="ru-RU" dirty="0"/>
          </a:p>
        </p:txBody>
      </p:sp>
      <p:sp>
        <p:nvSpPr>
          <p:cNvPr id="15" name="Номер слайда 5">
            <a:extLst>
              <a:ext uri="{FF2B5EF4-FFF2-40B4-BE49-F238E27FC236}">
                <a16:creationId xmlns:a16="http://schemas.microsoft.com/office/drawing/2014/main" id="{B79A03B0-37CA-036A-92F2-830D5136B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8522" y="6356350"/>
            <a:ext cx="2035278" cy="365125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24CFBF5F-D9F7-437E-8CF8-688EAF21A1C0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16" name="Рисунок 1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1382" y="6306797"/>
            <a:ext cx="1849235" cy="355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21314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Заголовок и объект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145;p19">
            <a:extLst>
              <a:ext uri="{FF2B5EF4-FFF2-40B4-BE49-F238E27FC236}">
                <a16:creationId xmlns:a16="http://schemas.microsoft.com/office/drawing/2014/main" id="{E5CCA84B-7D50-8B33-EC06-994FE2643988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838201" y="474531"/>
            <a:ext cx="8646267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You can also insert a photos</a:t>
            </a:r>
            <a:endParaRPr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BE65376-C484-7E39-4F18-93A9C81E250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913186"/>
            <a:ext cx="12192000" cy="231590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8940" y="700391"/>
            <a:ext cx="1634859" cy="400373"/>
          </a:xfrm>
          <a:prstGeom prst="rect">
            <a:avLst/>
          </a:prstGeom>
        </p:spPr>
      </p:pic>
      <p:sp>
        <p:nvSpPr>
          <p:cNvPr id="9" name="Текст 15">
            <a:extLst>
              <a:ext uri="{FF2B5EF4-FFF2-40B4-BE49-F238E27FC236}">
                <a16:creationId xmlns:a16="http://schemas.microsoft.com/office/drawing/2014/main" id="{6263DB5C-C63E-9F5C-C9E7-E895DD387D7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1" y="6341397"/>
            <a:ext cx="3101410" cy="37465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Name of Department</a:t>
            </a:r>
            <a:endParaRPr lang="ru-RU" dirty="0"/>
          </a:p>
        </p:txBody>
      </p:sp>
      <p:sp>
        <p:nvSpPr>
          <p:cNvPr id="11" name="Номер слайда 5">
            <a:extLst>
              <a:ext uri="{FF2B5EF4-FFF2-40B4-BE49-F238E27FC236}">
                <a16:creationId xmlns:a16="http://schemas.microsoft.com/office/drawing/2014/main" id="{B79A03B0-37CA-036A-92F2-830D5136B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8522" y="6356350"/>
            <a:ext cx="2035278" cy="365125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24CFBF5F-D9F7-437E-8CF8-688EAF21A1C0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15" name="Рисунок 14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1380" y="6306797"/>
            <a:ext cx="1849240" cy="355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10585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Заголовок и объект">
    <p:bg>
      <p:bgPr>
        <a:solidFill>
          <a:srgbClr val="EC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8396998A-0669-DD7B-F5BE-B19B862C8D7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5914401"/>
            <a:ext cx="12192000" cy="231589"/>
          </a:xfrm>
          <a:prstGeom prst="rect">
            <a:avLst/>
          </a:prstGeom>
        </p:spPr>
      </p:pic>
      <p:sp>
        <p:nvSpPr>
          <p:cNvPr id="8" name="Google Shape;145;p19">
            <a:extLst>
              <a:ext uri="{FF2B5EF4-FFF2-40B4-BE49-F238E27FC236}">
                <a16:creationId xmlns:a16="http://schemas.microsoft.com/office/drawing/2014/main" id="{E5CCA84B-7D50-8B33-EC06-994FE2643988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838201" y="474531"/>
            <a:ext cx="8587901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You can also insert a photos</a:t>
            </a:r>
            <a:endParaRPr dirty="0"/>
          </a:p>
        </p:txBody>
      </p:sp>
      <p:pic>
        <p:nvPicPr>
          <p:cNvPr id="7" name="Рисунок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8940" y="700391"/>
            <a:ext cx="1634859" cy="400373"/>
          </a:xfrm>
          <a:prstGeom prst="rect">
            <a:avLst/>
          </a:prstGeom>
        </p:spPr>
      </p:pic>
      <p:sp>
        <p:nvSpPr>
          <p:cNvPr id="9" name="Текст 15">
            <a:extLst>
              <a:ext uri="{FF2B5EF4-FFF2-40B4-BE49-F238E27FC236}">
                <a16:creationId xmlns:a16="http://schemas.microsoft.com/office/drawing/2014/main" id="{6263DB5C-C63E-9F5C-C9E7-E895DD387D7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1" y="6341397"/>
            <a:ext cx="3101410" cy="37465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Name of Department</a:t>
            </a:r>
            <a:endParaRPr lang="ru-RU" dirty="0"/>
          </a:p>
        </p:txBody>
      </p:sp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id="{B79A03B0-37CA-036A-92F2-830D5136B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8522" y="6356350"/>
            <a:ext cx="2035278" cy="365125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24CFBF5F-D9F7-437E-8CF8-688EAF21A1C0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15" name="Рисунок 14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1380" y="6306797"/>
            <a:ext cx="1849240" cy="355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40821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Заголовок и объект">
    <p:bg>
      <p:bgPr>
        <a:solidFill>
          <a:srgbClr val="EC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8396998A-0669-DD7B-F5BE-B19B862C8D7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5914401"/>
            <a:ext cx="12192000" cy="231589"/>
          </a:xfrm>
          <a:prstGeom prst="rect">
            <a:avLst/>
          </a:prstGeom>
        </p:spPr>
      </p:pic>
      <p:sp>
        <p:nvSpPr>
          <p:cNvPr id="7" name="Google Shape;144;p19">
            <a:extLst>
              <a:ext uri="{FF2B5EF4-FFF2-40B4-BE49-F238E27FC236}">
                <a16:creationId xmlns:a16="http://schemas.microsoft.com/office/drawing/2014/main" id="{603DAD57-855B-69D0-1CBD-C5B3BD3EC15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93624" y="1714500"/>
            <a:ext cx="5074557" cy="170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>
              <a:defRPr sz="2000"/>
            </a:lvl1pPr>
          </a:lstStyle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 dirty="0"/>
              <a:t>White</a:t>
            </a:r>
            <a:endParaRPr b="1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Is the color of milk and fresh snow, the color produced by the combination of all the colors of the visible spectrum.</a:t>
            </a:r>
            <a:endParaRPr dirty="0"/>
          </a:p>
        </p:txBody>
      </p:sp>
      <p:sp>
        <p:nvSpPr>
          <p:cNvPr id="8" name="Google Shape;145;p19">
            <a:extLst>
              <a:ext uri="{FF2B5EF4-FFF2-40B4-BE49-F238E27FC236}">
                <a16:creationId xmlns:a16="http://schemas.microsoft.com/office/drawing/2014/main" id="{E5CCA84B-7D50-8B33-EC06-994FE264398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93699" y="474531"/>
            <a:ext cx="8561586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You can also split your content</a:t>
            </a:r>
            <a:endParaRPr dirty="0"/>
          </a:p>
        </p:txBody>
      </p:sp>
      <p:sp>
        <p:nvSpPr>
          <p:cNvPr id="9" name="Google Shape;146;p19">
            <a:extLst>
              <a:ext uri="{FF2B5EF4-FFF2-40B4-BE49-F238E27FC236}">
                <a16:creationId xmlns:a16="http://schemas.microsoft.com/office/drawing/2014/main" id="{1A3271C3-5EB1-33E0-AD0F-C686F31E636B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6223821" y="1714500"/>
            <a:ext cx="5129978" cy="170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>
              <a:defRPr sz="2000"/>
            </a:lvl1pPr>
          </a:lstStyle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 dirty="0"/>
              <a:t>Black</a:t>
            </a:r>
            <a:endParaRPr b="1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Is the color of ebony and of outer space. It has been the symbolic color of elegance, solemnity and authority.</a:t>
            </a:r>
            <a:endParaRPr dirty="0"/>
          </a:p>
        </p:txBody>
      </p:sp>
      <p:pic>
        <p:nvPicPr>
          <p:cNvPr id="16" name="Рисунок 1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8940" y="700391"/>
            <a:ext cx="1634859" cy="400373"/>
          </a:xfrm>
          <a:prstGeom prst="rect">
            <a:avLst/>
          </a:prstGeom>
        </p:spPr>
      </p:pic>
      <p:sp>
        <p:nvSpPr>
          <p:cNvPr id="10" name="Текст 15">
            <a:extLst>
              <a:ext uri="{FF2B5EF4-FFF2-40B4-BE49-F238E27FC236}">
                <a16:creationId xmlns:a16="http://schemas.microsoft.com/office/drawing/2014/main" id="{6263DB5C-C63E-9F5C-C9E7-E895DD387D7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1" y="6341397"/>
            <a:ext cx="3101410" cy="37465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Name of Department</a:t>
            </a:r>
            <a:endParaRPr lang="ru-RU" dirty="0"/>
          </a:p>
        </p:txBody>
      </p:sp>
      <p:sp>
        <p:nvSpPr>
          <p:cNvPr id="15" name="Номер слайда 5">
            <a:extLst>
              <a:ext uri="{FF2B5EF4-FFF2-40B4-BE49-F238E27FC236}">
                <a16:creationId xmlns:a16="http://schemas.microsoft.com/office/drawing/2014/main" id="{B79A03B0-37CA-036A-92F2-830D5136B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8522" y="6356350"/>
            <a:ext cx="2035278" cy="365125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24CFBF5F-D9F7-437E-8CF8-688EAF21A1C0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17" name="Рисунок 16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1380" y="6306797"/>
            <a:ext cx="1849240" cy="355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019896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Заголовок и объект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145;p19">
            <a:extLst>
              <a:ext uri="{FF2B5EF4-FFF2-40B4-BE49-F238E27FC236}">
                <a16:creationId xmlns:a16="http://schemas.microsoft.com/office/drawing/2014/main" id="{E5CCA84B-7D50-8B33-EC06-994FE2643988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838201" y="474531"/>
            <a:ext cx="854899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 two or three columns</a:t>
            </a:r>
            <a:endParaRPr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8396998A-0669-DD7B-F5BE-B19B862C8D7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910309"/>
            <a:ext cx="12192000" cy="947691"/>
          </a:xfrm>
          <a:prstGeom prst="rect">
            <a:avLst/>
          </a:prstGeom>
        </p:spPr>
      </p:pic>
      <p:sp>
        <p:nvSpPr>
          <p:cNvPr id="10" name="Google Shape;153;p20">
            <a:extLst>
              <a:ext uri="{FF2B5EF4-FFF2-40B4-BE49-F238E27FC236}">
                <a16:creationId xmlns:a16="http://schemas.microsoft.com/office/drawing/2014/main" id="{42D3C5AD-203C-06E8-B308-7570F0188AA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1" y="1597742"/>
            <a:ext cx="3291347" cy="138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>
              <a:defRPr sz="2000"/>
            </a:lvl1pPr>
          </a:lstStyle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 dirty="0"/>
              <a:t>Yellow</a:t>
            </a:r>
            <a:endParaRPr b="1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Is the color of gold, butter and ripe lemons. In the spectrum of visible light, yellow is found between green and orange.</a:t>
            </a:r>
            <a:endParaRPr dirty="0"/>
          </a:p>
        </p:txBody>
      </p:sp>
      <p:sp>
        <p:nvSpPr>
          <p:cNvPr id="15" name="Google Shape;154;p20">
            <a:extLst>
              <a:ext uri="{FF2B5EF4-FFF2-40B4-BE49-F238E27FC236}">
                <a16:creationId xmlns:a16="http://schemas.microsoft.com/office/drawing/2014/main" id="{93774569-09A6-3D2C-E96E-EB2A8880292B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4450326" y="1597742"/>
            <a:ext cx="3291347" cy="138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>
              <a:defRPr sz="2000"/>
            </a:lvl1pPr>
          </a:lstStyle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 dirty="0"/>
              <a:t>Blue</a:t>
            </a:r>
            <a:endParaRPr b="1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Is the colour of the clear sky and the deep sea. It is located between violet and green on the optical spectrum.</a:t>
            </a:r>
            <a:endParaRPr dirty="0"/>
          </a:p>
        </p:txBody>
      </p:sp>
      <p:sp>
        <p:nvSpPr>
          <p:cNvPr id="16" name="Google Shape;155;p20">
            <a:extLst>
              <a:ext uri="{FF2B5EF4-FFF2-40B4-BE49-F238E27FC236}">
                <a16:creationId xmlns:a16="http://schemas.microsoft.com/office/drawing/2014/main" id="{12B6BEED-76B3-42F1-1655-75B4633AFEFE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8062452" y="1597742"/>
            <a:ext cx="3291347" cy="138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>
              <a:defRPr sz="2000"/>
            </a:lvl1pPr>
          </a:lstStyle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 dirty="0"/>
              <a:t>Red</a:t>
            </a:r>
            <a:endParaRPr b="1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Is the color of blood, and because of this it has historically been associated with sacrifice, danger and courage. </a:t>
            </a:r>
            <a:endParaRPr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19" name="Рисунок 1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8940" y="700391"/>
            <a:ext cx="1634859" cy="400373"/>
          </a:xfrm>
          <a:prstGeom prst="rect">
            <a:avLst/>
          </a:prstGeom>
        </p:spPr>
      </p:pic>
      <p:sp>
        <p:nvSpPr>
          <p:cNvPr id="17" name="Текст 15">
            <a:extLst>
              <a:ext uri="{FF2B5EF4-FFF2-40B4-BE49-F238E27FC236}">
                <a16:creationId xmlns:a16="http://schemas.microsoft.com/office/drawing/2014/main" id="{6263DB5C-C63E-9F5C-C9E7-E895DD387D7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1" y="6341397"/>
            <a:ext cx="3101410" cy="37465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Name of Department</a:t>
            </a:r>
            <a:endParaRPr lang="ru-RU" dirty="0"/>
          </a:p>
        </p:txBody>
      </p:sp>
      <p:sp>
        <p:nvSpPr>
          <p:cNvPr id="18" name="Номер слайда 5">
            <a:extLst>
              <a:ext uri="{FF2B5EF4-FFF2-40B4-BE49-F238E27FC236}">
                <a16:creationId xmlns:a16="http://schemas.microsoft.com/office/drawing/2014/main" id="{B79A03B0-37CA-036A-92F2-830D5136B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8522" y="6356350"/>
            <a:ext cx="2035278" cy="365125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24CFBF5F-D9F7-437E-8CF8-688EAF21A1C0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20" name="Рисунок 19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1380" y="6306797"/>
            <a:ext cx="1849240" cy="355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36120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Дата 3">
            <a:extLst>
              <a:ext uri="{FF2B5EF4-FFF2-40B4-BE49-F238E27FC236}">
                <a16:creationId xmlns:a16="http://schemas.microsoft.com/office/drawing/2014/main" id="{86C3C5BA-7D7F-4C3F-2640-8F638B45F0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1F200A8-E1A7-4435-83E2-162A61D52FA6}" type="datetime1">
              <a:rPr lang="ru-RU" smtClean="0"/>
              <a:t>14.09.2024</a:t>
            </a:fld>
            <a:endParaRPr lang="ru-RU" dirty="0"/>
          </a:p>
        </p:txBody>
      </p:sp>
      <p:sp>
        <p:nvSpPr>
          <p:cNvPr id="8" name="Нижний колонтитул 4">
            <a:extLst>
              <a:ext uri="{FF2B5EF4-FFF2-40B4-BE49-F238E27FC236}">
                <a16:creationId xmlns:a16="http://schemas.microsoft.com/office/drawing/2014/main" id="{1FF6D44D-D6D0-493E-4D28-4910FD0372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Name of Department</a:t>
            </a:r>
            <a:endParaRPr lang="ru-RU" dirty="0"/>
          </a:p>
        </p:txBody>
      </p:sp>
      <p:sp>
        <p:nvSpPr>
          <p:cNvPr id="9" name="Номер слайда 5">
            <a:extLst>
              <a:ext uri="{FF2B5EF4-FFF2-40B4-BE49-F238E27FC236}">
                <a16:creationId xmlns:a16="http://schemas.microsoft.com/office/drawing/2014/main" id="{4BCEA065-B04F-95C1-710E-80D4D07F32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4CFBF5F-D9F7-437E-8CF8-688EAF21A1C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359252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64" r:id="rId3"/>
    <p:sldLayoutId id="2147483665" r:id="rId4"/>
    <p:sldLayoutId id="2147483663" r:id="rId5"/>
    <p:sldLayoutId id="2147483650" r:id="rId6"/>
    <p:sldLayoutId id="2147483666" r:id="rId7"/>
    <p:sldLayoutId id="2147483671" r:id="rId8"/>
    <p:sldLayoutId id="2147483662" r:id="rId9"/>
    <p:sldLayoutId id="2147483670" r:id="rId10"/>
    <p:sldLayoutId id="2147483669" r:id="rId11"/>
    <p:sldLayoutId id="2147483668" r:id="rId12"/>
    <p:sldLayoutId id="2147483667" r:id="rId13"/>
    <p:sldLayoutId id="2147483661" r:id="rId14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ECDC59-877C-90A9-C652-0BE567D7F1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4341" y="1671545"/>
            <a:ext cx="10972799" cy="2387600"/>
          </a:xfrm>
        </p:spPr>
        <p:txBody>
          <a:bodyPr/>
          <a:lstStyle/>
          <a:p>
            <a:r>
              <a:rPr lang="en" dirty="0"/>
              <a:t>Fundamentals of Programming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886D810-431C-E147-2D52-2B768F306D3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Lecture 7</a:t>
            </a:r>
          </a:p>
          <a:p>
            <a:r>
              <a:rPr lang="en-US" altLang="en-US" sz="2400" dirty="0"/>
              <a:t>Methods, Parameter passing, By value vs. By reference</a:t>
            </a:r>
          </a:p>
          <a:p>
            <a:r>
              <a:rPr lang="en-US" altLang="en-US" sz="2400" dirty="0"/>
              <a:t>Variable scope</a:t>
            </a:r>
          </a:p>
        </p:txBody>
      </p:sp>
      <p:sp>
        <p:nvSpPr>
          <p:cNvPr id="9" name="Текст 5">
            <a:extLst>
              <a:ext uri="{FF2B5EF4-FFF2-40B4-BE49-F238E27FC236}">
                <a16:creationId xmlns:a16="http://schemas.microsoft.com/office/drawing/2014/main" id="{A6B5030E-C28D-91D0-D376-9646C9A2710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38201" y="6341397"/>
            <a:ext cx="3101410" cy="374650"/>
          </a:xfrm>
        </p:spPr>
        <p:txBody>
          <a:bodyPr/>
          <a:lstStyle/>
          <a:p>
            <a:r>
              <a:rPr lang="en-US" dirty="0"/>
              <a:t>BSc Business Information Systems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75049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A48CAD7-9596-6B8F-4390-68B91C5FD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A6B5030E-C28D-91D0-D376-9646C9A2710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BSc Business Information Systems</a:t>
            </a:r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E5BC0FE-D183-67C7-F7C6-FE47407B2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BF5F-D9F7-437E-8CF8-688EAF21A1C0}" type="slidenum">
              <a:rPr lang="ru-RU" smtClean="0"/>
              <a:pPr/>
              <a:t>2</a:t>
            </a:fld>
            <a:endParaRPr lang="ru-RU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D9F96A1-2AE3-49B3-A580-B61EF36B2A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1" y="1714500"/>
            <a:ext cx="11225168" cy="4174572"/>
          </a:xfrm>
        </p:spPr>
        <p:txBody>
          <a:bodyPr/>
          <a:lstStyle/>
          <a:p>
            <a:pPr marL="457200" indent="-4572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altLang="en-US" sz="3200" dirty="0"/>
              <a:t>Why we need methods</a:t>
            </a:r>
          </a:p>
          <a:p>
            <a:pPr marL="457200" indent="-4572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altLang="en-US" sz="3200" dirty="0"/>
              <a:t>How to write and call methods</a:t>
            </a:r>
          </a:p>
          <a:p>
            <a:pPr marL="457200" indent="-4572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altLang="en-US" sz="3200" dirty="0"/>
              <a:t>How to pass parameters to a method</a:t>
            </a:r>
          </a:p>
          <a:p>
            <a:pPr marL="457200" lvl="1" indent="-4572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3200" dirty="0"/>
              <a:t>By value vs. by reference </a:t>
            </a:r>
            <a:r>
              <a:rPr lang="en-US" altLang="en-US" sz="3200" dirty="0"/>
              <a:t>parameters passing</a:t>
            </a:r>
          </a:p>
          <a:p>
            <a:pPr marL="457200" indent="-4572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altLang="en-US" sz="3200" dirty="0"/>
              <a:t>Scope of variables</a:t>
            </a:r>
          </a:p>
        </p:txBody>
      </p:sp>
    </p:spTree>
    <p:extLst>
      <p:ext uri="{BB962C8B-B14F-4D97-AF65-F5344CB8AC3E}">
        <p14:creationId xmlns:p14="http://schemas.microsoft.com/office/powerpoint/2010/main" val="6638125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A48CAD7-9596-6B8F-4390-68B91C5FD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dirty="0"/>
              <a:t>What is a method?</a:t>
            </a:r>
            <a:endParaRPr lang="en-US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A6B5030E-C28D-91D0-D376-9646C9A2710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BSc Business Information Systems</a:t>
            </a:r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E5BC0FE-D183-67C7-F7C6-FE47407B2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BF5F-D9F7-437E-8CF8-688EAF21A1C0}" type="slidenum">
              <a:rPr lang="ru-RU" smtClean="0"/>
              <a:pPr/>
              <a:t>3</a:t>
            </a:fld>
            <a:endParaRPr lang="ru-RU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D9F96A1-2AE3-49B3-A580-B61EF36B2A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1" y="1714500"/>
            <a:ext cx="11225168" cy="4174572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>
                <a:schemeClr val="tx1"/>
              </a:buClr>
            </a:pPr>
            <a:r>
              <a:rPr lang="en-US" altLang="en-US" sz="3200" dirty="0"/>
              <a:t>A method is self-contained block of code that performs some operations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>
                <a:schemeClr val="tx1"/>
              </a:buClr>
            </a:pPr>
            <a:r>
              <a:rPr lang="en-US" altLang="en-US" sz="3200" dirty="0"/>
              <a:t>Methods break the program up and make it more understandable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>
                <a:schemeClr val="tx1"/>
              </a:buClr>
            </a:pPr>
            <a:r>
              <a:rPr lang="en-US" altLang="en-US" sz="3200" dirty="0"/>
              <a:t>Methods promote code reuse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>
                <a:schemeClr val="tx1"/>
              </a:buClr>
            </a:pPr>
            <a:r>
              <a:rPr lang="en-US" altLang="en-US" sz="3200" b="1" dirty="0"/>
              <a:t>DRY</a:t>
            </a:r>
            <a:r>
              <a:rPr lang="en-US" altLang="en-US" sz="3200" dirty="0"/>
              <a:t> – Don’t Repeat Yourself</a:t>
            </a:r>
          </a:p>
        </p:txBody>
      </p:sp>
    </p:spTree>
    <p:extLst>
      <p:ext uri="{BB962C8B-B14F-4D97-AF65-F5344CB8AC3E}">
        <p14:creationId xmlns:p14="http://schemas.microsoft.com/office/powerpoint/2010/main" val="9141559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A48CAD7-9596-6B8F-4390-68B91C5FD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use methods?</a:t>
            </a:r>
            <a:endParaRPr lang="en-GB" altLang="en-US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A6B5030E-C28D-91D0-D376-9646C9A2710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BSc Business Information Systems</a:t>
            </a:r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E5BC0FE-D183-67C7-F7C6-FE47407B2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BF5F-D9F7-437E-8CF8-688EAF21A1C0}" type="slidenum">
              <a:rPr lang="ru-RU" smtClean="0"/>
              <a:pPr/>
              <a:t>4</a:t>
            </a:fld>
            <a:endParaRPr lang="ru-RU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D9F96A1-2AE3-49B3-A580-B61EF36B2A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1" y="1714500"/>
            <a:ext cx="7768904" cy="4174572"/>
          </a:xfrm>
        </p:spPr>
        <p:txBody>
          <a:bodyPr/>
          <a:lstStyle/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buClr>
                <a:schemeClr val="tx1"/>
              </a:buClr>
              <a:buNone/>
            </a:pPr>
            <a:r>
              <a:rPr lang="en-US" altLang="en-US" sz="3200" dirty="0"/>
              <a:t>Example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buClr>
                <a:schemeClr val="tx1"/>
              </a:buClr>
              <a:buNone/>
            </a:pPr>
            <a:r>
              <a:rPr lang="en-US" altLang="en-US" sz="3200" dirty="0"/>
              <a:t>You want to have the same message box titles throughout the application</a:t>
            </a:r>
          </a:p>
        </p:txBody>
      </p:sp>
      <p:pic>
        <p:nvPicPr>
          <p:cNvPr id="8" name="Picture 4">
            <a:extLst>
              <a:ext uri="{FF2B5EF4-FFF2-40B4-BE49-F238E27FC236}">
                <a16:creationId xmlns:a16="http://schemas.microsoft.com/office/drawing/2014/main" id="{E376A111-41C5-4EE9-9DBA-E79064C82F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07105" y="1714500"/>
            <a:ext cx="3082834" cy="3101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7B7ACA4-EDB0-4E2F-B724-4ACC88146B84}"/>
              </a:ext>
            </a:extLst>
          </p:cNvPr>
          <p:cNvCxnSpPr/>
          <p:nvPr/>
        </p:nvCxnSpPr>
        <p:spPr>
          <a:xfrm>
            <a:off x="7860511" y="2001907"/>
            <a:ext cx="615963" cy="0"/>
          </a:xfrm>
          <a:prstGeom prst="straightConnector1">
            <a:avLst/>
          </a:prstGeom>
          <a:ln w="1270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97439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A48CAD7-9596-6B8F-4390-68B91C5FD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use methods?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A6B5030E-C28D-91D0-D376-9646C9A2710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BSc Business Information Systems</a:t>
            </a:r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E5BC0FE-D183-67C7-F7C6-FE47407B2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BF5F-D9F7-437E-8CF8-688EAF21A1C0}" type="slidenum">
              <a:rPr lang="ru-RU" smtClean="0"/>
              <a:pPr/>
              <a:t>5</a:t>
            </a:fld>
            <a:endParaRPr lang="ru-RU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E5323E9-3BCA-46C6-BB97-B9808EA13A38}"/>
              </a:ext>
            </a:extLst>
          </p:cNvPr>
          <p:cNvSpPr txBox="1"/>
          <p:nvPr/>
        </p:nvSpPr>
        <p:spPr>
          <a:xfrm>
            <a:off x="838201" y="2090172"/>
            <a:ext cx="11193462" cy="267765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sz="28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GB" sz="2800" dirty="0">
                <a:solidFill>
                  <a:srgbClr val="000000"/>
                </a:solidFill>
                <a:latin typeface="Consolas" panose="020B0609020204030204" pitchFamily="49" charset="0"/>
              </a:rPr>
              <a:t> (rbnLess21.Checked)</a:t>
            </a:r>
          </a:p>
          <a:p>
            <a:r>
              <a:rPr lang="en-GB" sz="28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GB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MessageBox.Show</a:t>
            </a:r>
            <a:r>
              <a:rPr lang="en-GB" sz="28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sz="2800" dirty="0">
                <a:solidFill>
                  <a:srgbClr val="A31515"/>
                </a:solidFill>
                <a:latin typeface="Consolas" panose="020B0609020204030204" pitchFamily="49" charset="0"/>
              </a:rPr>
              <a:t>"Sorry, ..."</a:t>
            </a:r>
            <a:r>
              <a:rPr lang="en-GB" sz="28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GB" sz="2800" dirty="0">
                <a:solidFill>
                  <a:srgbClr val="A31515"/>
                </a:solidFill>
                <a:latin typeface="Consolas" panose="020B0609020204030204" pitchFamily="49" charset="0"/>
              </a:rPr>
              <a:t>"Cruel Games"</a:t>
            </a:r>
            <a:r>
              <a:rPr lang="en-GB" sz="28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GB" sz="2800" dirty="0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  <a:r>
              <a:rPr lang="en-GB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8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GB" sz="2800" dirty="0">
                <a:solidFill>
                  <a:srgbClr val="000000"/>
                </a:solidFill>
                <a:latin typeface="Consolas" panose="020B0609020204030204" pitchFamily="49" charset="0"/>
              </a:rPr>
              <a:t> (rbn21to35.Checked)</a:t>
            </a:r>
          </a:p>
          <a:p>
            <a:r>
              <a:rPr lang="en-GB" sz="28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GB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MessageBox.Show</a:t>
            </a:r>
            <a:r>
              <a:rPr lang="en-GB" sz="28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sz="2800" dirty="0">
                <a:solidFill>
                  <a:srgbClr val="A31515"/>
                </a:solidFill>
                <a:latin typeface="Consolas" panose="020B0609020204030204" pitchFamily="49" charset="0"/>
              </a:rPr>
              <a:t>"Lets rock"</a:t>
            </a:r>
            <a:r>
              <a:rPr lang="en-GB" sz="28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GB" sz="2800" dirty="0">
                <a:solidFill>
                  <a:srgbClr val="A31515"/>
                </a:solidFill>
                <a:latin typeface="Consolas" panose="020B0609020204030204" pitchFamily="49" charset="0"/>
              </a:rPr>
              <a:t>"Cruel Games"</a:t>
            </a:r>
            <a:r>
              <a:rPr lang="en-GB" sz="28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GB" sz="2800" dirty="0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  <a:endParaRPr lang="en-GB" sz="2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28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GB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MessageBox.Show</a:t>
            </a:r>
            <a:r>
              <a:rPr lang="en-GB" sz="28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sz="2800" dirty="0">
                <a:solidFill>
                  <a:srgbClr val="A31515"/>
                </a:solidFill>
                <a:latin typeface="Consolas" panose="020B0609020204030204" pitchFamily="49" charset="0"/>
              </a:rPr>
              <a:t>"You ..."</a:t>
            </a:r>
            <a:r>
              <a:rPr lang="en-GB" sz="28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GB" sz="2800" dirty="0">
                <a:solidFill>
                  <a:srgbClr val="A31515"/>
                </a:solidFill>
                <a:latin typeface="Consolas" panose="020B0609020204030204" pitchFamily="49" charset="0"/>
              </a:rPr>
              <a:t>"Cruel Games"</a:t>
            </a:r>
            <a:r>
              <a:rPr lang="en-GB" sz="28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31766416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A48CAD7-9596-6B8F-4390-68B91C5FD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use methods?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A6B5030E-C28D-91D0-D376-9646C9A2710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BSc Business Information Systems</a:t>
            </a:r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E5BC0FE-D183-67C7-F7C6-FE47407B2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BF5F-D9F7-437E-8CF8-688EAF21A1C0}" type="slidenum">
              <a:rPr lang="ru-RU" smtClean="0"/>
              <a:pPr/>
              <a:t>6</a:t>
            </a:fld>
            <a:endParaRPr lang="ru-RU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D9F96A1-2AE3-49B3-A580-B61EF36B2A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1" y="1714500"/>
            <a:ext cx="11225168" cy="4174572"/>
          </a:xfrm>
        </p:spPr>
        <p:txBody>
          <a:bodyPr/>
          <a:lstStyle/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buClr>
                <a:schemeClr val="tx1"/>
              </a:buClr>
              <a:buNone/>
            </a:pPr>
            <a:r>
              <a:rPr lang="en-US" altLang="en-US" sz="3200" dirty="0"/>
              <a:t>But what if you want to change the title of all the message boxes in the application?</a:t>
            </a:r>
          </a:p>
        </p:txBody>
      </p:sp>
    </p:spTree>
    <p:extLst>
      <p:ext uri="{BB962C8B-B14F-4D97-AF65-F5344CB8AC3E}">
        <p14:creationId xmlns:p14="http://schemas.microsoft.com/office/powerpoint/2010/main" val="21390673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A48CAD7-9596-6B8F-4390-68B91C5FD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Methods in C#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A6B5030E-C28D-91D0-D376-9646C9A2710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BSc Business Information Systems</a:t>
            </a:r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E5BC0FE-D183-67C7-F7C6-FE47407B2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BF5F-D9F7-437E-8CF8-688EAF21A1C0}" type="slidenum">
              <a:rPr lang="ru-RU" smtClean="0"/>
              <a:pPr/>
              <a:t>7</a:t>
            </a:fld>
            <a:endParaRPr lang="ru-R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AE6FD7A-452A-4AEB-B828-7AD35DDB048C}"/>
              </a:ext>
            </a:extLst>
          </p:cNvPr>
          <p:cNvSpPr txBox="1"/>
          <p:nvPr/>
        </p:nvSpPr>
        <p:spPr>
          <a:xfrm>
            <a:off x="838201" y="2644170"/>
            <a:ext cx="10515599" cy="156966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private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ShowMessage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 text)</a:t>
            </a:r>
          </a:p>
          <a:p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GB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MessageBox.Show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(text, </a:t>
            </a:r>
            <a:r>
              <a:rPr lang="en-GB" sz="2400" dirty="0">
                <a:solidFill>
                  <a:srgbClr val="A31515"/>
                </a:solidFill>
                <a:latin typeface="Consolas" panose="020B0609020204030204" pitchFamily="49" charset="0"/>
              </a:rPr>
              <a:t>"Cruel Games"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altLang="en-US" sz="2400" b="1" dirty="0">
              <a:solidFill>
                <a:srgbClr val="083FA4"/>
              </a:solidFill>
              <a:latin typeface="Courier New" panose="02070309020205020404" pitchFamily="49" charset="0"/>
              <a:ea typeface="Segoe UI" panose="020B0502040204020203" pitchFamily="34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03102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A48CAD7-9596-6B8F-4390-68B91C5FD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Methods in C#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A6B5030E-C28D-91D0-D376-9646C9A2710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BSc Business Information Systems</a:t>
            </a:r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E5BC0FE-D183-67C7-F7C6-FE47407B2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BF5F-D9F7-437E-8CF8-688EAF21A1C0}" type="slidenum">
              <a:rPr lang="ru-RU" smtClean="0"/>
              <a:pPr/>
              <a:t>8</a:t>
            </a:fld>
            <a:endParaRPr lang="ru-RU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D9F96A1-2AE3-49B3-A580-B61EF36B2A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1" y="1714500"/>
            <a:ext cx="11225168" cy="4174572"/>
          </a:xfrm>
        </p:spPr>
        <p:txBody>
          <a:bodyPr/>
          <a:lstStyle/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buClr>
                <a:schemeClr val="tx1"/>
              </a:buClr>
              <a:buNone/>
            </a:pPr>
            <a:r>
              <a:rPr lang="en-US" altLang="en-US" sz="3200" dirty="0"/>
              <a:t>And what if you want to get some result out of the method call?</a:t>
            </a:r>
          </a:p>
        </p:txBody>
      </p:sp>
    </p:spTree>
    <p:extLst>
      <p:ext uri="{BB962C8B-B14F-4D97-AF65-F5344CB8AC3E}">
        <p14:creationId xmlns:p14="http://schemas.microsoft.com/office/powerpoint/2010/main" val="32574230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A48CAD7-9596-6B8F-4390-68B91C5FD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Methods in C#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A6B5030E-C28D-91D0-D376-9646C9A2710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BSc Business Information Systems</a:t>
            </a:r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E5BC0FE-D183-67C7-F7C6-FE47407B2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BF5F-D9F7-437E-8CF8-688EAF21A1C0}" type="slidenum">
              <a:rPr lang="ru-RU" smtClean="0"/>
              <a:pPr/>
              <a:t>9</a:t>
            </a:fld>
            <a:endParaRPr lang="ru-RU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164068-BC5D-41D3-B0B1-3960A426AD1B}"/>
              </a:ext>
            </a:extLst>
          </p:cNvPr>
          <p:cNvSpPr txBox="1"/>
          <p:nvPr/>
        </p:nvSpPr>
        <p:spPr>
          <a:xfrm>
            <a:off x="838201" y="1905506"/>
            <a:ext cx="10515599" cy="304698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private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bool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IsNumeric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 text)</a:t>
            </a:r>
          </a:p>
          <a:p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	double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 d;</a:t>
            </a:r>
          </a:p>
          <a:p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	if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GB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en-GB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.TryParse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(text, 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out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 d))</a:t>
            </a:r>
          </a:p>
          <a:p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		return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true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	else</a:t>
            </a:r>
            <a:endParaRPr lang="en-GB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		return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false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altLang="en-US" sz="2400" b="1" dirty="0">
              <a:solidFill>
                <a:srgbClr val="083FA4"/>
              </a:solidFill>
              <a:latin typeface="Courier New" panose="02070309020205020404" pitchFamily="49" charset="0"/>
              <a:ea typeface="Segoe UI" panose="020B0502040204020203" pitchFamily="34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89458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A48CAD7-9596-6B8F-4390-68B91C5FD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Methods in C#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A6B5030E-C28D-91D0-D376-9646C9A2710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BSc Business Information Systems</a:t>
            </a:r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E5BC0FE-D183-67C7-F7C6-FE47407B2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BF5F-D9F7-437E-8CF8-688EAF21A1C0}" type="slidenum">
              <a:rPr lang="ru-RU" smtClean="0"/>
              <a:pPr/>
              <a:t>10</a:t>
            </a:fld>
            <a:endParaRPr lang="ru-RU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D9F96A1-2AE3-49B3-A580-B61EF36B2A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1" y="1714500"/>
            <a:ext cx="11225168" cy="4174572"/>
          </a:xfrm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>
                <a:schemeClr val="tx1"/>
              </a:buClr>
              <a:buNone/>
            </a:pPr>
            <a:r>
              <a:rPr lang="en-US" altLang="en-US" sz="3200" dirty="0"/>
              <a:t>In C# you can define methods as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>
                <a:schemeClr val="tx1"/>
              </a:buClr>
            </a:pPr>
            <a:r>
              <a:rPr lang="en-US" altLang="en-US" sz="3200" b="1" dirty="0">
                <a:solidFill>
                  <a:srgbClr val="083FA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altLang="en-US" sz="3200" dirty="0"/>
              <a:t> when the method </a:t>
            </a:r>
            <a:r>
              <a:rPr lang="en-US" altLang="en-US" sz="3200" b="1" dirty="0"/>
              <a:t>does NOT return a value</a:t>
            </a:r>
            <a:endParaRPr lang="en-US" altLang="en-US" sz="3200" dirty="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>
                <a:schemeClr val="tx1"/>
              </a:buClr>
            </a:pPr>
            <a:r>
              <a:rPr lang="en-US" altLang="en-US" sz="3200" b="1" dirty="0">
                <a:solidFill>
                  <a:srgbClr val="083FA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{data type}</a:t>
            </a:r>
            <a:r>
              <a:rPr lang="en-US" altLang="en-US" sz="3200" dirty="0"/>
              <a:t> when the method does </a:t>
            </a:r>
            <a:r>
              <a:rPr lang="en-US" altLang="en-US" sz="3200" b="1" dirty="0"/>
              <a:t>return</a:t>
            </a:r>
            <a:r>
              <a:rPr lang="en-US" altLang="en-US" sz="3200" dirty="0"/>
              <a:t> </a:t>
            </a:r>
            <a:r>
              <a:rPr lang="en-US" altLang="en-US" sz="3200" b="1" dirty="0"/>
              <a:t>the value</a:t>
            </a:r>
          </a:p>
        </p:txBody>
      </p:sp>
    </p:spTree>
    <p:extLst>
      <p:ext uri="{BB962C8B-B14F-4D97-AF65-F5344CB8AC3E}">
        <p14:creationId xmlns:p14="http://schemas.microsoft.com/office/powerpoint/2010/main" val="26449379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A48CAD7-9596-6B8F-4390-68B91C5FD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Calling a method</a:t>
            </a:r>
            <a:endParaRPr lang="en-GB" altLang="en-US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A6B5030E-C28D-91D0-D376-9646C9A2710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BSc Business Information Systems</a:t>
            </a:r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E5BC0FE-D183-67C7-F7C6-FE47407B2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BF5F-D9F7-437E-8CF8-688EAF21A1C0}" type="slidenum">
              <a:rPr lang="ru-RU" smtClean="0"/>
              <a:pPr/>
              <a:t>11</a:t>
            </a:fld>
            <a:endParaRPr lang="ru-RU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D9F96A1-2AE3-49B3-A580-B61EF36B2A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1" y="1714500"/>
            <a:ext cx="11225168" cy="4174572"/>
          </a:xfrm>
        </p:spPr>
        <p:txBody>
          <a:bodyPr/>
          <a:lstStyle/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buClr>
                <a:schemeClr val="tx1"/>
              </a:buClr>
              <a:buNone/>
            </a:pPr>
            <a:r>
              <a:rPr lang="en-US" altLang="en-US" sz="3200" dirty="0"/>
              <a:t>You can call a method by specifying its name and parameters in parenthesis (or empty parenthesis):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E3BBEC9-1B25-4607-8E63-0249028C5CF2}"/>
              </a:ext>
            </a:extLst>
          </p:cNvPr>
          <p:cNvSpPr txBox="1"/>
          <p:nvPr/>
        </p:nvSpPr>
        <p:spPr>
          <a:xfrm>
            <a:off x="838201" y="3238701"/>
            <a:ext cx="10515598" cy="95410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sz="28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GB" sz="2800" dirty="0">
                <a:solidFill>
                  <a:srgbClr val="000000"/>
                </a:solidFill>
                <a:latin typeface="Consolas" panose="020B0609020204030204" pitchFamily="49" charset="0"/>
              </a:rPr>
              <a:t> (!</a:t>
            </a:r>
            <a:r>
              <a:rPr lang="en-GB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IsNumeric</a:t>
            </a:r>
            <a:r>
              <a:rPr lang="en-GB" sz="28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tbxInput.Text</a:t>
            </a:r>
            <a:r>
              <a:rPr lang="en-GB" sz="2800" dirty="0">
                <a:solidFill>
                  <a:srgbClr val="000000"/>
                </a:solidFill>
                <a:latin typeface="Consolas" panose="020B0609020204030204" pitchFamily="49" charset="0"/>
              </a:rPr>
              <a:t>))</a:t>
            </a:r>
          </a:p>
          <a:p>
            <a:r>
              <a:rPr lang="en-GB" sz="28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GB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ShowMessage</a:t>
            </a:r>
            <a:r>
              <a:rPr lang="en-GB" sz="28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sz="2800" dirty="0">
                <a:solidFill>
                  <a:srgbClr val="A31515"/>
                </a:solidFill>
                <a:latin typeface="Consolas" panose="020B0609020204030204" pitchFamily="49" charset="0"/>
              </a:rPr>
              <a:t>"Enter a valid number"</a:t>
            </a:r>
            <a:r>
              <a:rPr lang="en-GB" sz="28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en-US" altLang="en-US" sz="8000" b="1" dirty="0">
              <a:latin typeface="Courier New" panose="02070309020205020404" pitchFamily="49" charset="0"/>
              <a:ea typeface="Segoe UI" panose="020B0502040204020203" pitchFamily="34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91272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95D72AC-B176-B6FA-C292-B3C3C2B393B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By value vs. By reference</a:t>
            </a:r>
          </a:p>
        </p:txBody>
      </p:sp>
      <p:sp>
        <p:nvSpPr>
          <p:cNvPr id="10" name="Номер слайда 9">
            <a:extLst>
              <a:ext uri="{FF2B5EF4-FFF2-40B4-BE49-F238E27FC236}">
                <a16:creationId xmlns:a16="http://schemas.microsoft.com/office/drawing/2014/main" id="{5FAD64E5-0D38-95EE-E7BB-019A17627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8522" y="6356350"/>
            <a:ext cx="2035278" cy="365125"/>
          </a:xfrm>
        </p:spPr>
        <p:txBody>
          <a:bodyPr/>
          <a:lstStyle/>
          <a:p>
            <a:fld id="{24CFBF5F-D9F7-437E-8CF8-688EAF21A1C0}" type="slidenum">
              <a:rPr lang="ru-RU" smtClean="0"/>
              <a:pPr/>
              <a:t>12</a:t>
            </a:fld>
            <a:endParaRPr lang="ru-RU"/>
          </a:p>
        </p:txBody>
      </p:sp>
      <p:sp>
        <p:nvSpPr>
          <p:cNvPr id="7" name="Текст 5">
            <a:extLst>
              <a:ext uri="{FF2B5EF4-FFF2-40B4-BE49-F238E27FC236}">
                <a16:creationId xmlns:a16="http://schemas.microsoft.com/office/drawing/2014/main" id="{A6B5030E-C28D-91D0-D376-9646C9A2710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38201" y="6341397"/>
            <a:ext cx="3101410" cy="374650"/>
          </a:xfrm>
        </p:spPr>
        <p:txBody>
          <a:bodyPr/>
          <a:lstStyle/>
          <a:p>
            <a:r>
              <a:rPr lang="en-US" dirty="0"/>
              <a:t>BSc Business Information Systems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618867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A48CAD7-9596-6B8F-4390-68B91C5FD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will be printed?</a:t>
            </a:r>
            <a:endParaRPr lang="en-GB" altLang="en-US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A6B5030E-C28D-91D0-D376-9646C9A2710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BSc Business Information Systems</a:t>
            </a:r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E5BC0FE-D183-67C7-F7C6-FE47407B2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BF5F-D9F7-437E-8CF8-688EAF21A1C0}" type="slidenum">
              <a:rPr lang="ru-RU" smtClean="0"/>
              <a:pPr/>
              <a:t>13</a:t>
            </a:fld>
            <a:endParaRPr lang="ru-RU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10EF424-23E4-4453-BE72-818FE9B02E06}"/>
              </a:ext>
            </a:extLst>
          </p:cNvPr>
          <p:cNvSpPr txBox="1"/>
          <p:nvPr/>
        </p:nvSpPr>
        <p:spPr>
          <a:xfrm>
            <a:off x="838201" y="1331931"/>
            <a:ext cx="10515598" cy="415498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 Main()</a:t>
            </a:r>
          </a:p>
          <a:p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GB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 A = 5;</a:t>
            </a:r>
          </a:p>
          <a:p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GB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DoSmt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(A);</a:t>
            </a:r>
          </a:p>
          <a:p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GB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Debug.Write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(A); </a:t>
            </a:r>
            <a:r>
              <a:rPr lang="en-GB" sz="2400" dirty="0">
                <a:solidFill>
                  <a:srgbClr val="008000"/>
                </a:solidFill>
                <a:latin typeface="Consolas" panose="020B0609020204030204" pitchFamily="49" charset="0"/>
              </a:rPr>
              <a:t>// ?</a:t>
            </a:r>
            <a:endParaRPr lang="en-GB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en-GB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DoSmt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 B)</a:t>
            </a:r>
          </a:p>
          <a:p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	B = B + B;</a:t>
            </a:r>
          </a:p>
          <a:p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altLang="en-US" sz="6600" b="1" dirty="0">
              <a:solidFill>
                <a:srgbClr val="083FA4"/>
              </a:solidFill>
              <a:latin typeface="Courier New" panose="02070309020205020404" pitchFamily="49" charset="0"/>
              <a:ea typeface="Segoe UI" panose="020B0502040204020203" pitchFamily="34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90842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A48CAD7-9596-6B8F-4390-68B91C5FD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Sending parameters by value</a:t>
            </a:r>
            <a:endParaRPr lang="en-GB" altLang="en-US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A6B5030E-C28D-91D0-D376-9646C9A2710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BSc Business Information Systems</a:t>
            </a:r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E5BC0FE-D183-67C7-F7C6-FE47407B2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BF5F-D9F7-437E-8CF8-688EAF21A1C0}" type="slidenum">
              <a:rPr lang="ru-RU" smtClean="0"/>
              <a:pPr/>
              <a:t>14</a:t>
            </a:fld>
            <a:endParaRPr lang="ru-RU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D9F96A1-2AE3-49B3-A580-B61EF36B2A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1" y="1714500"/>
            <a:ext cx="11225168" cy="4174572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>
                <a:schemeClr val="tx1"/>
              </a:buClr>
            </a:pPr>
            <a:r>
              <a:rPr lang="en-US" altLang="en-US" sz="3200" dirty="0"/>
              <a:t>The called method creates a </a:t>
            </a:r>
            <a:r>
              <a:rPr lang="en-US" altLang="en-US" sz="3200" b="1" dirty="0"/>
              <a:t>local copy</a:t>
            </a:r>
            <a:r>
              <a:rPr lang="en-US" altLang="en-US" sz="3200" dirty="0"/>
              <a:t> of variable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>
                <a:schemeClr val="tx1"/>
              </a:buClr>
            </a:pPr>
            <a:r>
              <a:rPr lang="en-US" altLang="en-US" sz="3200" dirty="0"/>
              <a:t>Any changes to that variable will have </a:t>
            </a:r>
            <a:r>
              <a:rPr lang="en-US" altLang="en-US" sz="3200" b="1" dirty="0"/>
              <a:t>no effect on the original variable</a:t>
            </a:r>
            <a:endParaRPr lang="en-US" altLang="en-US" sz="3200" dirty="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>
                <a:schemeClr val="tx1"/>
              </a:buClr>
            </a:pPr>
            <a:r>
              <a:rPr lang="en-US" altLang="en-US" sz="3200" dirty="0"/>
              <a:t>It is safe to send by value to avoid accidental  change to the variable</a:t>
            </a:r>
          </a:p>
        </p:txBody>
      </p:sp>
    </p:spTree>
    <p:extLst>
      <p:ext uri="{BB962C8B-B14F-4D97-AF65-F5344CB8AC3E}">
        <p14:creationId xmlns:p14="http://schemas.microsoft.com/office/powerpoint/2010/main" val="23897091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A48CAD7-9596-6B8F-4390-68B91C5FD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will be printed?</a:t>
            </a:r>
            <a:endParaRPr lang="en-GB" altLang="en-US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A6B5030E-C28D-91D0-D376-9646C9A2710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BSc Business Information Systems</a:t>
            </a:r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E5BC0FE-D183-67C7-F7C6-FE47407B2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BF5F-D9F7-437E-8CF8-688EAF21A1C0}" type="slidenum">
              <a:rPr lang="ru-RU" smtClean="0"/>
              <a:pPr/>
              <a:t>15</a:t>
            </a:fld>
            <a:endParaRPr lang="ru-RU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D9F96A1-2AE3-49B3-A580-B61EF36B2A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1" y="1714500"/>
            <a:ext cx="11225168" cy="4174572"/>
          </a:xfrm>
        </p:spPr>
        <p:txBody>
          <a:bodyPr/>
          <a:lstStyle/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buClr>
                <a:schemeClr val="tx1"/>
              </a:buClr>
              <a:buNone/>
            </a:pPr>
            <a:r>
              <a:rPr lang="en-US" sz="3200" dirty="0"/>
              <a:t>The answer is 5. Why?</a:t>
            </a:r>
            <a:endParaRPr lang="en-US" altLang="en-US" sz="3200" dirty="0"/>
          </a:p>
        </p:txBody>
      </p:sp>
      <p:sp>
        <p:nvSpPr>
          <p:cNvPr id="8" name="Text Box 25">
            <a:extLst>
              <a:ext uri="{FF2B5EF4-FFF2-40B4-BE49-F238E27FC236}">
                <a16:creationId xmlns:a16="http://schemas.microsoft.com/office/drawing/2014/main" id="{DC0E26AC-30DE-4828-8F2F-BE561EB7C1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2756" y="2605718"/>
            <a:ext cx="151130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Main()</a:t>
            </a:r>
            <a:endParaRPr lang="ru-RU" sz="16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graphicFrame>
        <p:nvGraphicFramePr>
          <p:cNvPr id="9" name="Group 52">
            <a:extLst>
              <a:ext uri="{FF2B5EF4-FFF2-40B4-BE49-F238E27FC236}">
                <a16:creationId xmlns:a16="http://schemas.microsoft.com/office/drawing/2014/main" id="{1FAC231F-1CB3-41E8-8B40-4829B57CB9A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78188277"/>
              </p:ext>
            </p:extLst>
          </p:nvPr>
        </p:nvGraphicFramePr>
        <p:xfrm>
          <a:off x="4810650" y="3042698"/>
          <a:ext cx="1420277" cy="2087563"/>
        </p:xfrm>
        <a:graphic>
          <a:graphicData uri="http://schemas.openxmlformats.org/drawingml/2006/table">
            <a:tbl>
              <a:tblPr/>
              <a:tblGrid>
                <a:gridCol w="14202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953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69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  <a:endParaRPr kumimoji="0" lang="ru-RU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" name="Text Box 51">
            <a:extLst>
              <a:ext uri="{FF2B5EF4-FFF2-40B4-BE49-F238E27FC236}">
                <a16:creationId xmlns:a16="http://schemas.microsoft.com/office/drawing/2014/main" id="{3F46C0FC-66D2-4D95-946F-BEA1F69592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05875" y="2607306"/>
            <a:ext cx="263387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None/>
            </a:pPr>
            <a:r>
              <a:rPr lang="en-GB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DoSmt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B)</a:t>
            </a:r>
            <a:endParaRPr lang="ru-RU" sz="1600" dirty="0">
              <a:latin typeface="+mj-lt"/>
              <a:cs typeface="Courier New" panose="02070309020205020404" pitchFamily="49" charset="0"/>
            </a:endParaRPr>
          </a:p>
        </p:txBody>
      </p:sp>
      <p:graphicFrame>
        <p:nvGraphicFramePr>
          <p:cNvPr id="12" name="Group 66">
            <a:extLst>
              <a:ext uri="{FF2B5EF4-FFF2-40B4-BE49-F238E27FC236}">
                <a16:creationId xmlns:a16="http://schemas.microsoft.com/office/drawing/2014/main" id="{C808FE62-1244-45F2-A5FE-AC34502D51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4651838"/>
              </p:ext>
            </p:extLst>
          </p:nvPr>
        </p:nvGraphicFramePr>
        <p:xfrm>
          <a:off x="8940183" y="3041110"/>
          <a:ext cx="1515159" cy="2089151"/>
        </p:xfrm>
        <a:graphic>
          <a:graphicData uri="http://schemas.openxmlformats.org/drawingml/2006/table">
            <a:tbl>
              <a:tblPr/>
              <a:tblGrid>
                <a:gridCol w="15151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969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69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</a:t>
                      </a:r>
                      <a:endParaRPr kumimoji="0" lang="ru-RU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3" name="Group 52">
            <a:extLst>
              <a:ext uri="{FF2B5EF4-FFF2-40B4-BE49-F238E27FC236}">
                <a16:creationId xmlns:a16="http://schemas.microsoft.com/office/drawing/2014/main" id="{FF22A050-76FD-4CE8-936B-E45D86D097C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35565736"/>
              </p:ext>
            </p:extLst>
          </p:nvPr>
        </p:nvGraphicFramePr>
        <p:xfrm>
          <a:off x="1067532" y="3041110"/>
          <a:ext cx="1420277" cy="2087563"/>
        </p:xfrm>
        <a:graphic>
          <a:graphicData uri="http://schemas.openxmlformats.org/drawingml/2006/table">
            <a:tbl>
              <a:tblPr/>
              <a:tblGrid>
                <a:gridCol w="14202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953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…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69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  <a:endParaRPr kumimoji="0" lang="ru-RU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…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1D634E62-3FB5-4640-8E70-55DF0556998D}"/>
              </a:ext>
            </a:extLst>
          </p:cNvPr>
          <p:cNvSpPr txBox="1"/>
          <p:nvPr/>
        </p:nvSpPr>
        <p:spPr>
          <a:xfrm>
            <a:off x="2691990" y="4759341"/>
            <a:ext cx="3097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75EB0B4-8DEE-473C-8923-1700371CB387}"/>
              </a:ext>
            </a:extLst>
          </p:cNvPr>
          <p:cNvSpPr txBox="1"/>
          <p:nvPr/>
        </p:nvSpPr>
        <p:spPr>
          <a:xfrm>
            <a:off x="6508806" y="4759341"/>
            <a:ext cx="11473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  <a:r>
              <a:rPr lang="en-US" sz="1200" dirty="0"/>
              <a:t> (copy of A)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E993886-6ACF-418C-A9CF-C2B7E4BEF742}"/>
              </a:ext>
            </a:extLst>
          </p:cNvPr>
          <p:cNvSpPr txBox="1"/>
          <p:nvPr/>
        </p:nvSpPr>
        <p:spPr>
          <a:xfrm>
            <a:off x="10715465" y="4759341"/>
            <a:ext cx="3378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  <a:endParaRPr lang="en-US" sz="1200" dirty="0"/>
          </a:p>
        </p:txBody>
      </p:sp>
      <p:sp>
        <p:nvSpPr>
          <p:cNvPr id="17" name="Right Arrow 37">
            <a:extLst>
              <a:ext uri="{FF2B5EF4-FFF2-40B4-BE49-F238E27FC236}">
                <a16:creationId xmlns:a16="http://schemas.microsoft.com/office/drawing/2014/main" id="{A93F79C3-C3E6-4C97-8940-17E4C5F0F72F}"/>
              </a:ext>
            </a:extLst>
          </p:cNvPr>
          <p:cNvSpPr/>
          <p:nvPr/>
        </p:nvSpPr>
        <p:spPr>
          <a:xfrm>
            <a:off x="2691990" y="3575303"/>
            <a:ext cx="1912264" cy="1019175"/>
          </a:xfrm>
          <a:prstGeom prst="rightArrow">
            <a:avLst>
              <a:gd name="adj1" fmla="val 61215"/>
              <a:gd name="adj2" fmla="val 41589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tx1"/>
                </a:solidFill>
              </a:rPr>
              <a:t>Pass value of </a:t>
            </a:r>
            <a:r>
              <a:rPr lang="en-US" sz="1400" b="1" dirty="0">
                <a:solidFill>
                  <a:schemeClr val="tx1"/>
                </a:solidFill>
              </a:rPr>
              <a:t>A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</a:p>
          <a:p>
            <a:r>
              <a:rPr lang="en-US" sz="1400" dirty="0">
                <a:solidFill>
                  <a:schemeClr val="tx1"/>
                </a:solidFill>
              </a:rPr>
              <a:t>to new variable, </a:t>
            </a:r>
            <a:r>
              <a:rPr lang="en-US" sz="1400" b="1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18" name="Right Arrow 38">
            <a:extLst>
              <a:ext uri="{FF2B5EF4-FFF2-40B4-BE49-F238E27FC236}">
                <a16:creationId xmlns:a16="http://schemas.microsoft.com/office/drawing/2014/main" id="{BA3E484D-0B5C-4DF4-867A-86429EA34C60}"/>
              </a:ext>
            </a:extLst>
          </p:cNvPr>
          <p:cNvSpPr/>
          <p:nvPr/>
        </p:nvSpPr>
        <p:spPr>
          <a:xfrm>
            <a:off x="6508806" y="3575303"/>
            <a:ext cx="2266504" cy="1019175"/>
          </a:xfrm>
          <a:prstGeom prst="rightArrow">
            <a:avLst>
              <a:gd name="adj1" fmla="val 61215"/>
              <a:gd name="adj2" fmla="val 41589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tx1"/>
                </a:solidFill>
              </a:rPr>
              <a:t>Change the value of </a:t>
            </a:r>
            <a:r>
              <a:rPr lang="en-US" sz="1400" b="1" dirty="0">
                <a:solidFill>
                  <a:schemeClr val="tx1"/>
                </a:solidFill>
              </a:rPr>
              <a:t>B</a:t>
            </a:r>
            <a:r>
              <a:rPr lang="en-US" sz="1400" dirty="0">
                <a:solidFill>
                  <a:schemeClr val="tx1"/>
                </a:solidFill>
              </a:rPr>
              <a:t>;</a:t>
            </a:r>
          </a:p>
          <a:p>
            <a:r>
              <a:rPr lang="en-US" sz="1400" b="1" dirty="0">
                <a:solidFill>
                  <a:schemeClr val="tx1"/>
                </a:solidFill>
              </a:rPr>
              <a:t>A</a:t>
            </a:r>
            <a:r>
              <a:rPr lang="en-US" sz="1400" dirty="0">
                <a:solidFill>
                  <a:schemeClr val="tx1"/>
                </a:solidFill>
              </a:rPr>
              <a:t> remains unchanged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E75D987-0831-4C02-AA58-C4D99A3774C0}"/>
              </a:ext>
            </a:extLst>
          </p:cNvPr>
          <p:cNvCxnSpPr/>
          <p:nvPr/>
        </p:nvCxnSpPr>
        <p:spPr>
          <a:xfrm>
            <a:off x="2487809" y="4350653"/>
            <a:ext cx="204181" cy="408688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27579884-F5C6-448F-BED7-DF095AD6A156}"/>
              </a:ext>
            </a:extLst>
          </p:cNvPr>
          <p:cNvCxnSpPr/>
          <p:nvPr/>
        </p:nvCxnSpPr>
        <p:spPr>
          <a:xfrm>
            <a:off x="6230927" y="4293503"/>
            <a:ext cx="277879" cy="465838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ACE67DC-2AA6-49B7-BC56-FCEEDD6FD3C5}"/>
              </a:ext>
            </a:extLst>
          </p:cNvPr>
          <p:cNvCxnSpPr/>
          <p:nvPr/>
        </p:nvCxnSpPr>
        <p:spPr>
          <a:xfrm>
            <a:off x="10455342" y="4293503"/>
            <a:ext cx="260123" cy="465838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 Box 51">
            <a:extLst>
              <a:ext uri="{FF2B5EF4-FFF2-40B4-BE49-F238E27FC236}">
                <a16:creationId xmlns:a16="http://schemas.microsoft.com/office/drawing/2014/main" id="{D9D787FF-A5E9-4E12-AAE6-8365F57B69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95374" y="2540586"/>
            <a:ext cx="263387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None/>
            </a:pPr>
            <a:r>
              <a:rPr lang="en-GB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DoSmt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B)</a:t>
            </a:r>
            <a:endParaRPr lang="ru-RU" sz="1600" dirty="0">
              <a:latin typeface="+mj-lt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72251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A48CAD7-9596-6B8F-4390-68B91C5FD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Sending parameters by reference</a:t>
            </a:r>
            <a:endParaRPr lang="en-GB" altLang="en-US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A6B5030E-C28D-91D0-D376-9646C9A2710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BSc Business Information Systems</a:t>
            </a:r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E5BC0FE-D183-67C7-F7C6-FE47407B2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BF5F-D9F7-437E-8CF8-688EAF21A1C0}" type="slidenum">
              <a:rPr lang="ru-RU" smtClean="0"/>
              <a:pPr/>
              <a:t>16</a:t>
            </a:fld>
            <a:endParaRPr lang="ru-RU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D9F96A1-2AE3-49B3-A580-B61EF36B2A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1" y="1714500"/>
            <a:ext cx="11225168" cy="4174572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>
                <a:schemeClr val="tx1"/>
              </a:buClr>
            </a:pPr>
            <a:r>
              <a:rPr lang="en-US" altLang="en-US" sz="3200" dirty="0"/>
              <a:t>The called method creates the </a:t>
            </a:r>
            <a:r>
              <a:rPr lang="en-US" altLang="en-US" sz="3200" b="1" dirty="0"/>
              <a:t>reference</a:t>
            </a:r>
            <a:r>
              <a:rPr lang="en-US" altLang="en-US" sz="3200" dirty="0"/>
              <a:t> to it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>
                <a:schemeClr val="tx1"/>
              </a:buClr>
            </a:pPr>
            <a:r>
              <a:rPr lang="en-US" altLang="en-US" sz="3200" dirty="0"/>
              <a:t>Changes to variable in the called method </a:t>
            </a:r>
            <a:r>
              <a:rPr lang="en-US" altLang="en-US" sz="3200" b="1" dirty="0"/>
              <a:t>will affect the original variable </a:t>
            </a:r>
            <a:r>
              <a:rPr lang="en-US" altLang="en-US" sz="3200" dirty="0"/>
              <a:t>in the calling method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>
                <a:schemeClr val="tx1"/>
              </a:buClr>
            </a:pPr>
            <a:r>
              <a:rPr lang="en-US" altLang="en-US" sz="3200" dirty="0"/>
              <a:t>Used when we need to change the value of the variable in the method</a:t>
            </a:r>
          </a:p>
        </p:txBody>
      </p:sp>
    </p:spTree>
    <p:extLst>
      <p:ext uri="{BB962C8B-B14F-4D97-AF65-F5344CB8AC3E}">
        <p14:creationId xmlns:p14="http://schemas.microsoft.com/office/powerpoint/2010/main" val="33892746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A48CAD7-9596-6B8F-4390-68B91C5FD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will be printed?</a:t>
            </a:r>
            <a:endParaRPr lang="en-GB" altLang="en-US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A6B5030E-C28D-91D0-D376-9646C9A2710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BSc Business Information Systems</a:t>
            </a:r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E5BC0FE-D183-67C7-F7C6-FE47407B2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BF5F-D9F7-437E-8CF8-688EAF21A1C0}" type="slidenum">
              <a:rPr lang="ru-RU" smtClean="0"/>
              <a:pPr/>
              <a:t>17</a:t>
            </a:fld>
            <a:endParaRPr lang="ru-RU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B29B7A9-1515-4E12-ACD0-BE7F58575F1F}"/>
              </a:ext>
            </a:extLst>
          </p:cNvPr>
          <p:cNvSpPr txBox="1"/>
          <p:nvPr/>
        </p:nvSpPr>
        <p:spPr>
          <a:xfrm>
            <a:off x="838201" y="1331931"/>
            <a:ext cx="10515598" cy="415498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 Main()</a:t>
            </a:r>
          </a:p>
          <a:p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	</a:t>
            </a:r>
            <a:r>
              <a:rPr lang="en-GB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 A = 5;</a:t>
            </a:r>
          </a:p>
          <a:p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GB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DoSmt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(A);</a:t>
            </a:r>
          </a:p>
          <a:p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GB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Debug.Write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(A); </a:t>
            </a:r>
            <a:r>
              <a:rPr lang="en-GB" sz="2400" dirty="0">
                <a:solidFill>
                  <a:srgbClr val="008000"/>
                </a:solidFill>
                <a:latin typeface="Consolas" panose="020B0609020204030204" pitchFamily="49" charset="0"/>
              </a:rPr>
              <a:t>// ?</a:t>
            </a:r>
            <a:endParaRPr lang="en-GB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en-GB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DoSmt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sz="2400" dirty="0">
                <a:solidFill>
                  <a:srgbClr val="0000FF"/>
                </a:solidFill>
                <a:highlight>
                  <a:srgbClr val="00FF00"/>
                </a:highlight>
                <a:latin typeface="Consolas" panose="020B0609020204030204" pitchFamily="49" charset="0"/>
              </a:rPr>
              <a:t>ref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 B)</a:t>
            </a:r>
          </a:p>
          <a:p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	B = B + B;</a:t>
            </a:r>
          </a:p>
          <a:p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altLang="en-US" sz="6600" b="1" dirty="0">
              <a:solidFill>
                <a:srgbClr val="083FA4"/>
              </a:solidFill>
              <a:latin typeface="Courier New" panose="02070309020205020404" pitchFamily="49" charset="0"/>
              <a:ea typeface="Segoe UI" panose="020B0502040204020203" pitchFamily="34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02727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A48CAD7-9596-6B8F-4390-68B91C5FD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will be printed?</a:t>
            </a:r>
            <a:endParaRPr lang="en-GB" altLang="en-US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A6B5030E-C28D-91D0-D376-9646C9A2710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BSc Business Information Systems</a:t>
            </a:r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E5BC0FE-D183-67C7-F7C6-FE47407B2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BF5F-D9F7-437E-8CF8-688EAF21A1C0}" type="slidenum">
              <a:rPr lang="ru-RU" smtClean="0"/>
              <a:pPr/>
              <a:t>18</a:t>
            </a:fld>
            <a:endParaRPr lang="ru-RU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D9F96A1-2AE3-49B3-A580-B61EF36B2A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1" y="1714500"/>
            <a:ext cx="11225168" cy="4174572"/>
          </a:xfrm>
        </p:spPr>
        <p:txBody>
          <a:bodyPr/>
          <a:lstStyle/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buClr>
                <a:schemeClr val="tx1"/>
              </a:buClr>
              <a:buNone/>
            </a:pPr>
            <a:r>
              <a:rPr lang="en-US" sz="3200" dirty="0"/>
              <a:t>The answer is 10. Why?</a:t>
            </a:r>
            <a:endParaRPr lang="en-US" altLang="en-US" sz="3200" dirty="0"/>
          </a:p>
        </p:txBody>
      </p:sp>
      <p:sp>
        <p:nvSpPr>
          <p:cNvPr id="23" name="Text Box 25">
            <a:extLst>
              <a:ext uri="{FF2B5EF4-FFF2-40B4-BE49-F238E27FC236}">
                <a16:creationId xmlns:a16="http://schemas.microsoft.com/office/drawing/2014/main" id="{E23FCD9E-0086-4B00-ABBC-2A8132E543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49237" y="1375946"/>
            <a:ext cx="151130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None/>
            </a:pP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Main()</a:t>
            </a:r>
            <a:endParaRPr lang="ru-RU" sz="1600" dirty="0">
              <a:latin typeface="+mj-lt"/>
              <a:cs typeface="Courier New" panose="02070309020205020404" pitchFamily="49" charset="0"/>
            </a:endParaRPr>
          </a:p>
        </p:txBody>
      </p:sp>
      <p:sp>
        <p:nvSpPr>
          <p:cNvPr id="24" name="Text Box 51">
            <a:extLst>
              <a:ext uri="{FF2B5EF4-FFF2-40B4-BE49-F238E27FC236}">
                <a16:creationId xmlns:a16="http://schemas.microsoft.com/office/drawing/2014/main" id="{595A6CC3-378F-44CD-B588-AB338ABAE8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49237" y="3779140"/>
            <a:ext cx="266491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None/>
            </a:pPr>
            <a:r>
              <a:rPr lang="en-GB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DoSmt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ref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B)</a:t>
            </a:r>
            <a:endParaRPr lang="ru-RU" sz="1600" dirty="0">
              <a:latin typeface="+mj-lt"/>
              <a:cs typeface="Courier New" panose="02070309020205020404" pitchFamily="49" charset="0"/>
            </a:endParaRPr>
          </a:p>
        </p:txBody>
      </p:sp>
      <p:graphicFrame>
        <p:nvGraphicFramePr>
          <p:cNvPr id="25" name="Group 52">
            <a:extLst>
              <a:ext uri="{FF2B5EF4-FFF2-40B4-BE49-F238E27FC236}">
                <a16:creationId xmlns:a16="http://schemas.microsoft.com/office/drawing/2014/main" id="{C19A7A41-C012-433F-B212-FC0A160121E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73587910"/>
              </p:ext>
            </p:extLst>
          </p:nvPr>
        </p:nvGraphicFramePr>
        <p:xfrm>
          <a:off x="5854013" y="1811338"/>
          <a:ext cx="1420277" cy="1571897"/>
        </p:xfrm>
        <a:graphic>
          <a:graphicData uri="http://schemas.openxmlformats.org/drawingml/2006/table">
            <a:tbl>
              <a:tblPr/>
              <a:tblGrid>
                <a:gridCol w="14202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2356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…</a:t>
                      </a:r>
                    </a:p>
                  </a:txBody>
                  <a:tcPr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47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  <a:endParaRPr kumimoji="0" lang="ru-RU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356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…</a:t>
                      </a:r>
                    </a:p>
                  </a:txBody>
                  <a:tcPr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6" name="TextBox 25">
            <a:extLst>
              <a:ext uri="{FF2B5EF4-FFF2-40B4-BE49-F238E27FC236}">
                <a16:creationId xmlns:a16="http://schemas.microsoft.com/office/drawing/2014/main" id="{542F4DCE-D124-47FE-A8AB-47607B9A1DA7}"/>
              </a:ext>
            </a:extLst>
          </p:cNvPr>
          <p:cNvSpPr txBox="1"/>
          <p:nvPr/>
        </p:nvSpPr>
        <p:spPr>
          <a:xfrm>
            <a:off x="7590232" y="1777503"/>
            <a:ext cx="3097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43F07C1-A3DA-41CE-80FA-C24F8D59581B}"/>
              </a:ext>
            </a:extLst>
          </p:cNvPr>
          <p:cNvSpPr txBox="1"/>
          <p:nvPr/>
        </p:nvSpPr>
        <p:spPr>
          <a:xfrm>
            <a:off x="8749057" y="4457929"/>
            <a:ext cx="127832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B</a:t>
            </a:r>
          </a:p>
          <a:p>
            <a:pPr algn="ctr"/>
            <a:r>
              <a:rPr lang="en-US" sz="1200" dirty="0"/>
              <a:t>(reference to A) </a:t>
            </a:r>
          </a:p>
        </p:txBody>
      </p:sp>
      <p:graphicFrame>
        <p:nvGraphicFramePr>
          <p:cNvPr id="28" name="Group 52">
            <a:extLst>
              <a:ext uri="{FF2B5EF4-FFF2-40B4-BE49-F238E27FC236}">
                <a16:creationId xmlns:a16="http://schemas.microsoft.com/office/drawing/2014/main" id="{1949E30A-C6E6-42E4-8457-6364B196702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37602515"/>
              </p:ext>
            </p:extLst>
          </p:nvPr>
        </p:nvGraphicFramePr>
        <p:xfrm>
          <a:off x="5860345" y="4214260"/>
          <a:ext cx="1420277" cy="1571897"/>
        </p:xfrm>
        <a:graphic>
          <a:graphicData uri="http://schemas.openxmlformats.org/drawingml/2006/table">
            <a:tbl>
              <a:tblPr/>
              <a:tblGrid>
                <a:gridCol w="14202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2356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47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ru-RU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356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162C6ED0-E15F-4A9E-AFFB-B4DDD9316248}"/>
              </a:ext>
            </a:extLst>
          </p:cNvPr>
          <p:cNvCxnSpPr>
            <a:endCxn id="25" idx="3"/>
          </p:cNvCxnSpPr>
          <p:nvPr/>
        </p:nvCxnSpPr>
        <p:spPr>
          <a:xfrm flipH="1">
            <a:off x="7274290" y="2121036"/>
            <a:ext cx="315942" cy="47625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D4C9D414-31FD-47CB-A900-15195244BFE6}"/>
              </a:ext>
            </a:extLst>
          </p:cNvPr>
          <p:cNvSpPr txBox="1"/>
          <p:nvPr/>
        </p:nvSpPr>
        <p:spPr>
          <a:xfrm>
            <a:off x="8556064" y="2782669"/>
            <a:ext cx="25527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Any changes to </a:t>
            </a:r>
            <a:r>
              <a:rPr lang="en-US" b="1" dirty="0"/>
              <a:t>B</a:t>
            </a:r>
            <a:r>
              <a:rPr lang="en-US" dirty="0"/>
              <a:t> will be applied to </a:t>
            </a:r>
            <a:r>
              <a:rPr lang="en-US" b="1" dirty="0"/>
              <a:t>A</a:t>
            </a:r>
            <a:r>
              <a:rPr lang="en-US" dirty="0"/>
              <a:t> as well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FC722D17-77BA-40A1-B189-63A78E0639AF}"/>
              </a:ext>
            </a:extLst>
          </p:cNvPr>
          <p:cNvCxnSpPr/>
          <p:nvPr/>
        </p:nvCxnSpPr>
        <p:spPr>
          <a:xfrm flipH="1" flipV="1">
            <a:off x="7260538" y="2701476"/>
            <a:ext cx="1965256" cy="1929262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35510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A48CAD7-9596-6B8F-4390-68B91C5FD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Sending parameters by reference</a:t>
            </a:r>
            <a:endParaRPr lang="en-GB" altLang="en-US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A6B5030E-C28D-91D0-D376-9646C9A2710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BSc Business Information Systems</a:t>
            </a:r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E5BC0FE-D183-67C7-F7C6-FE47407B2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BF5F-D9F7-437E-8CF8-688EAF21A1C0}" type="slidenum">
              <a:rPr lang="ru-RU" smtClean="0"/>
              <a:pPr/>
              <a:t>19</a:t>
            </a:fld>
            <a:endParaRPr lang="ru-RU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D9F96A1-2AE3-49B3-A580-B61EF36B2A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1" y="1714500"/>
            <a:ext cx="11225168" cy="4174572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>
                <a:schemeClr val="tx1"/>
              </a:buClr>
            </a:pPr>
            <a:r>
              <a:rPr lang="en-US" altLang="en-US" sz="3200" dirty="0"/>
              <a:t>In C# there are two ways to send a parameters by reference: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>
                <a:schemeClr val="tx1"/>
              </a:buClr>
            </a:pPr>
            <a:r>
              <a:rPr lang="en-US" altLang="en-US" sz="3200" b="1" dirty="0">
                <a:solidFill>
                  <a:srgbClr val="0000FF"/>
                </a:solidFill>
              </a:rPr>
              <a:t>ref</a:t>
            </a:r>
            <a:r>
              <a:rPr lang="en-US" altLang="en-US" sz="3200" dirty="0">
                <a:solidFill>
                  <a:srgbClr val="0000FF"/>
                </a:solidFill>
              </a:rPr>
              <a:t> </a:t>
            </a:r>
            <a:r>
              <a:rPr lang="en-US" altLang="en-US" sz="3200" dirty="0"/>
              <a:t>– used when the parameter is expected to have some value passed to the function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>
                <a:schemeClr val="tx1"/>
              </a:buClr>
            </a:pPr>
            <a:r>
              <a:rPr lang="en-US" altLang="en-US" sz="3200" b="1" dirty="0">
                <a:solidFill>
                  <a:srgbClr val="0000FF"/>
                </a:solidFill>
              </a:rPr>
              <a:t>out</a:t>
            </a:r>
            <a:r>
              <a:rPr lang="en-US" altLang="en-US" sz="3200" dirty="0">
                <a:solidFill>
                  <a:srgbClr val="0000FF"/>
                </a:solidFill>
              </a:rPr>
              <a:t> </a:t>
            </a:r>
            <a:r>
              <a:rPr lang="en-US" altLang="en-US" sz="3200" dirty="0"/>
              <a:t>– used when you are only interested in the output value</a:t>
            </a:r>
          </a:p>
        </p:txBody>
      </p:sp>
    </p:spTree>
    <p:extLst>
      <p:ext uri="{BB962C8B-B14F-4D97-AF65-F5344CB8AC3E}">
        <p14:creationId xmlns:p14="http://schemas.microsoft.com/office/powerpoint/2010/main" val="21915486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95D72AC-B176-B6FA-C292-B3C3C2B393B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Variable scope</a:t>
            </a:r>
          </a:p>
        </p:txBody>
      </p:sp>
      <p:sp>
        <p:nvSpPr>
          <p:cNvPr id="10" name="Номер слайда 9">
            <a:extLst>
              <a:ext uri="{FF2B5EF4-FFF2-40B4-BE49-F238E27FC236}">
                <a16:creationId xmlns:a16="http://schemas.microsoft.com/office/drawing/2014/main" id="{5FAD64E5-0D38-95EE-E7BB-019A17627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8522" y="6356350"/>
            <a:ext cx="2035278" cy="365125"/>
          </a:xfrm>
        </p:spPr>
        <p:txBody>
          <a:bodyPr/>
          <a:lstStyle/>
          <a:p>
            <a:fld id="{24CFBF5F-D9F7-437E-8CF8-688EAF21A1C0}" type="slidenum">
              <a:rPr lang="ru-RU" smtClean="0"/>
              <a:pPr/>
              <a:t>20</a:t>
            </a:fld>
            <a:endParaRPr lang="ru-RU"/>
          </a:p>
        </p:txBody>
      </p:sp>
      <p:sp>
        <p:nvSpPr>
          <p:cNvPr id="7" name="Текст 5">
            <a:extLst>
              <a:ext uri="{FF2B5EF4-FFF2-40B4-BE49-F238E27FC236}">
                <a16:creationId xmlns:a16="http://schemas.microsoft.com/office/drawing/2014/main" id="{A6B5030E-C28D-91D0-D376-9646C9A2710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38201" y="6341397"/>
            <a:ext cx="3101410" cy="374650"/>
          </a:xfrm>
        </p:spPr>
        <p:txBody>
          <a:bodyPr/>
          <a:lstStyle/>
          <a:p>
            <a:r>
              <a:rPr lang="en-US" dirty="0"/>
              <a:t>BSc Business Information Systems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072600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A48CAD7-9596-6B8F-4390-68B91C5FD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Variable scope</a:t>
            </a:r>
            <a:endParaRPr lang="en-GB" altLang="en-US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A6B5030E-C28D-91D0-D376-9646C9A2710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BSc Business Information Systems</a:t>
            </a:r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E5BC0FE-D183-67C7-F7C6-FE47407B2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BF5F-D9F7-437E-8CF8-688EAF21A1C0}" type="slidenum">
              <a:rPr lang="ru-RU" smtClean="0"/>
              <a:pPr/>
              <a:t>21</a:t>
            </a:fld>
            <a:endParaRPr lang="ru-RU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D9F96A1-2AE3-49B3-A580-B61EF36B2A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1" y="1714500"/>
            <a:ext cx="11225168" cy="4174572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>
                <a:schemeClr val="tx1"/>
              </a:buClr>
            </a:pPr>
            <a:r>
              <a:rPr lang="en-US" altLang="en-US" sz="3200" dirty="0"/>
              <a:t>You can't define a variable at any spot in the program and use it at any spot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</a:pPr>
            <a:r>
              <a:rPr lang="en-US" altLang="en-US" sz="3200" dirty="0"/>
              <a:t>Scope of the variable is a relationship between 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</a:pPr>
            <a:r>
              <a:rPr lang="en-US" altLang="en-US" sz="3200" dirty="0"/>
              <a:t>where a variable </a:t>
            </a:r>
            <a:r>
              <a:rPr lang="en-US" altLang="en-US" sz="3200" b="1" dirty="0"/>
              <a:t>is defined</a:t>
            </a:r>
            <a:r>
              <a:rPr lang="en-US" altLang="en-US" sz="3200" dirty="0"/>
              <a:t> and 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>
                <a:schemeClr val="tx1"/>
              </a:buClr>
            </a:pPr>
            <a:r>
              <a:rPr lang="en-US" altLang="en-US" sz="3200" dirty="0"/>
              <a:t>where it </a:t>
            </a:r>
            <a:r>
              <a:rPr lang="en-US" altLang="en-US" sz="3200" b="1" dirty="0"/>
              <a:t>can be used</a:t>
            </a:r>
          </a:p>
        </p:txBody>
      </p:sp>
    </p:spTree>
    <p:extLst>
      <p:ext uri="{BB962C8B-B14F-4D97-AF65-F5344CB8AC3E}">
        <p14:creationId xmlns:p14="http://schemas.microsoft.com/office/powerpoint/2010/main" val="39932568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A48CAD7-9596-6B8F-4390-68B91C5FD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Variable scope – blocks</a:t>
            </a:r>
            <a:endParaRPr lang="en-GB" altLang="en-US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A6B5030E-C28D-91D0-D376-9646C9A2710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BSc Business Information Systems</a:t>
            </a:r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E5BC0FE-D183-67C7-F7C6-FE47407B2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BF5F-D9F7-437E-8CF8-688EAF21A1C0}" type="slidenum">
              <a:rPr lang="ru-RU" smtClean="0"/>
              <a:pPr/>
              <a:t>22</a:t>
            </a:fld>
            <a:endParaRPr lang="ru-RU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D9F96A1-2AE3-49B3-A580-B61EF36B2A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1" y="1714500"/>
            <a:ext cx="11225168" cy="4174572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>
                <a:schemeClr val="tx1"/>
              </a:buClr>
            </a:pPr>
            <a:r>
              <a:rPr lang="en-US" altLang="en-US" sz="3200" dirty="0"/>
              <a:t>Block defines a scope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>
                <a:schemeClr val="tx1"/>
              </a:buClr>
            </a:pPr>
            <a:r>
              <a:rPr lang="en-US" altLang="en-US" sz="3200" dirty="0"/>
              <a:t>Block begins with an opening bracket ( </a:t>
            </a:r>
            <a:r>
              <a:rPr lang="en-US" altLang="en-US" sz="3200" b="1" dirty="0"/>
              <a:t>{</a:t>
            </a:r>
            <a:r>
              <a:rPr lang="en-US" altLang="en-US" sz="3200" dirty="0"/>
              <a:t> )and ends with a closing one ( </a:t>
            </a:r>
            <a:r>
              <a:rPr lang="en-US" altLang="en-US" sz="3200" b="1" dirty="0"/>
              <a:t>}</a:t>
            </a:r>
            <a:r>
              <a:rPr lang="en-US" altLang="en-US" sz="3200" dirty="0"/>
              <a:t> 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>
                <a:schemeClr val="tx1"/>
              </a:buClr>
            </a:pPr>
            <a:r>
              <a:rPr lang="en-US" altLang="en-US" sz="3200" dirty="0"/>
              <a:t>Variable declared inside the outer block will be visible in the inner block, but not vice versa.</a:t>
            </a:r>
          </a:p>
        </p:txBody>
      </p:sp>
    </p:spTree>
    <p:extLst>
      <p:ext uri="{BB962C8B-B14F-4D97-AF65-F5344CB8AC3E}">
        <p14:creationId xmlns:p14="http://schemas.microsoft.com/office/powerpoint/2010/main" val="183704577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A48CAD7-9596-6B8F-4390-68B91C5FD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Variable scope – example</a:t>
            </a:r>
            <a:endParaRPr lang="en-GB" altLang="en-US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A6B5030E-C28D-91D0-D376-9646C9A2710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BSc Business Information Systems</a:t>
            </a:r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E5BC0FE-D183-67C7-F7C6-FE47407B2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BF5F-D9F7-437E-8CF8-688EAF21A1C0}" type="slidenum">
              <a:rPr lang="ru-RU" smtClean="0"/>
              <a:pPr/>
              <a:t>23</a:t>
            </a:fld>
            <a:endParaRPr lang="ru-R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89EB5B7-F553-4F5A-BE12-881EB763F10B}"/>
              </a:ext>
            </a:extLst>
          </p:cNvPr>
          <p:cNvSpPr txBox="1"/>
          <p:nvPr/>
        </p:nvSpPr>
        <p:spPr>
          <a:xfrm>
            <a:off x="838201" y="1531604"/>
            <a:ext cx="10361102" cy="40934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sz="2000" dirty="0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y = 56;</a:t>
            </a:r>
          </a:p>
          <a:p>
            <a:r>
              <a:rPr lang="nn-NO" sz="20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nn-NO" sz="20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nn-NO" sz="2000" dirty="0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nn-NO" sz="2000" dirty="0">
                <a:solidFill>
                  <a:srgbClr val="000000"/>
                </a:solidFill>
                <a:latin typeface="Consolas" panose="020B0609020204030204" pitchFamily="49" charset="0"/>
              </a:rPr>
              <a:t> i = 0; i &lt;= 9; i++)</a:t>
            </a:r>
          </a:p>
          <a:p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	y = y - 1; </a:t>
            </a:r>
            <a:r>
              <a:rPr lang="en-GB" sz="2000" dirty="0">
                <a:solidFill>
                  <a:srgbClr val="008000"/>
                </a:solidFill>
                <a:latin typeface="Consolas" panose="020B0609020204030204" pitchFamily="49" charset="0"/>
              </a:rPr>
              <a:t>// possible - y is visible in the inner block</a:t>
            </a:r>
            <a:endParaRPr lang="en-GB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en-GB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20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(y &lt; 3)</a:t>
            </a:r>
          </a:p>
          <a:p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GB" sz="2000" dirty="0">
                <a:solidFill>
                  <a:srgbClr val="0000FF"/>
                </a:solidFill>
                <a:latin typeface="Consolas" panose="020B0609020204030204" pitchFamily="49" charset="0"/>
              </a:rPr>
              <a:t>	</a:t>
            </a:r>
            <a:r>
              <a:rPr lang="en-GB" sz="20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x = 9;</a:t>
            </a:r>
          </a:p>
          <a:p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en-GB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2000" dirty="0">
                <a:solidFill>
                  <a:srgbClr val="FF0000"/>
                </a:solidFill>
                <a:latin typeface="Consolas" panose="020B0609020204030204" pitchFamily="49" charset="0"/>
              </a:rPr>
              <a:t>x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= 8; </a:t>
            </a:r>
            <a:r>
              <a:rPr lang="en-GB" sz="2000" dirty="0">
                <a:solidFill>
                  <a:srgbClr val="008000"/>
                </a:solidFill>
                <a:latin typeface="Consolas" panose="020B0609020204030204" pitchFamily="49" charset="0"/>
              </a:rPr>
              <a:t>// impossible - x is defined in the inner block and is not 							accessible in the outer block </a:t>
            </a:r>
            <a:endParaRPr lang="en-US" altLang="en-US" sz="5400" b="1" dirty="0">
              <a:solidFill>
                <a:schemeClr val="accent6"/>
              </a:solidFill>
              <a:latin typeface="Courier New" panose="02070309020205020404" pitchFamily="49" charset="0"/>
              <a:ea typeface="Segoe UI" panose="020B0502040204020203" pitchFamily="34" charset="0"/>
              <a:cs typeface="Courier New" panose="020703090202050204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4C9E2F-C0A9-41DD-ADBE-5A93125871D9}"/>
              </a:ext>
            </a:extLst>
          </p:cNvPr>
          <p:cNvSpPr txBox="1"/>
          <p:nvPr/>
        </p:nvSpPr>
        <p:spPr>
          <a:xfrm>
            <a:off x="1467374" y="1586309"/>
            <a:ext cx="153888" cy="30777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altLang="en-US" sz="2000" b="1" dirty="0">
                <a:latin typeface="Courier New" panose="02070309020205020404" pitchFamily="49" charset="0"/>
                <a:ea typeface="Segoe UI" panose="020B0502040204020203" pitchFamily="34" charset="0"/>
                <a:cs typeface="Courier New" panose="02070309020205020404" pitchFamily="49" charset="0"/>
              </a:rPr>
              <a:t>y</a:t>
            </a:r>
            <a:endParaRPr lang="en-US" sz="20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FF37268-DC95-4F14-ADF6-C1BA86D42F4A}"/>
              </a:ext>
            </a:extLst>
          </p:cNvPr>
          <p:cNvSpPr txBox="1"/>
          <p:nvPr/>
        </p:nvSpPr>
        <p:spPr>
          <a:xfrm>
            <a:off x="1835908" y="2505029"/>
            <a:ext cx="153888" cy="30777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altLang="en-US" sz="2000" b="1" dirty="0">
                <a:latin typeface="Courier New" panose="02070309020205020404" pitchFamily="49" charset="0"/>
                <a:ea typeface="Segoe UI" panose="020B0502040204020203" pitchFamily="34" charset="0"/>
                <a:cs typeface="Courier New" panose="02070309020205020404" pitchFamily="49" charset="0"/>
              </a:rPr>
              <a:t>y</a:t>
            </a:r>
            <a:endParaRPr lang="en-US" sz="20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F8BAF45-219C-45DA-9BAB-10E34E9D4183}"/>
              </a:ext>
            </a:extLst>
          </p:cNvPr>
          <p:cNvSpPr txBox="1"/>
          <p:nvPr/>
        </p:nvSpPr>
        <p:spPr>
          <a:xfrm>
            <a:off x="2382980" y="4029038"/>
            <a:ext cx="153888" cy="307777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sz="2000" b="1" dirty="0">
                <a:latin typeface="Courier New" panose="02070309020205020404" pitchFamily="49" charset="0"/>
                <a:ea typeface="Segoe UI" panose="020B0502040204020203" pitchFamily="34" charset="0"/>
                <a:cs typeface="Courier New" panose="02070309020205020404" pitchFamily="49" charset="0"/>
              </a:rPr>
              <a:t>x</a:t>
            </a:r>
            <a:endParaRPr lang="en-US" sz="20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5404E6E-5803-44F4-A375-507E577F0FD8}"/>
              </a:ext>
            </a:extLst>
          </p:cNvPr>
          <p:cNvSpPr txBox="1"/>
          <p:nvPr/>
        </p:nvSpPr>
        <p:spPr>
          <a:xfrm>
            <a:off x="921506" y="4935621"/>
            <a:ext cx="153888" cy="307777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sz="2000" b="1" dirty="0">
                <a:latin typeface="Courier New" panose="02070309020205020404" pitchFamily="49" charset="0"/>
                <a:ea typeface="Segoe UI" panose="020B0502040204020203" pitchFamily="34" charset="0"/>
                <a:cs typeface="Courier New" panose="02070309020205020404" pitchFamily="49" charset="0"/>
              </a:rPr>
              <a:t>x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22005611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A48CAD7-9596-6B8F-4390-68B91C5FD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Variable lifetime</a:t>
            </a:r>
            <a:endParaRPr lang="en-GB" altLang="en-US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A6B5030E-C28D-91D0-D376-9646C9A2710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BSc Business Information Systems</a:t>
            </a:r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E5BC0FE-D183-67C7-F7C6-FE47407B2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BF5F-D9F7-437E-8CF8-688EAF21A1C0}" type="slidenum">
              <a:rPr lang="ru-RU" smtClean="0"/>
              <a:pPr/>
              <a:t>24</a:t>
            </a:fld>
            <a:endParaRPr lang="ru-RU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D9F96A1-2AE3-49B3-A580-B61EF36B2A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1" y="1714500"/>
            <a:ext cx="11225168" cy="4174572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>
                <a:schemeClr val="tx1"/>
              </a:buClr>
            </a:pPr>
            <a:r>
              <a:rPr lang="en-US" altLang="en-US" sz="3200" dirty="0"/>
              <a:t>Variables are valid only after their declaration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>
                <a:schemeClr val="tx1"/>
              </a:buClr>
            </a:pPr>
            <a:r>
              <a:rPr lang="en-US" altLang="en-US" sz="3200" dirty="0"/>
              <a:t>Variables are destroyed when their scope is finished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>
                <a:schemeClr val="tx1"/>
              </a:buClr>
            </a:pPr>
            <a:r>
              <a:rPr lang="en-US" altLang="en-US" sz="3200" dirty="0"/>
              <a:t>Variables declared within a block will be destroyed when their block finishes execution</a:t>
            </a:r>
          </a:p>
        </p:txBody>
      </p:sp>
    </p:spTree>
    <p:extLst>
      <p:ext uri="{BB962C8B-B14F-4D97-AF65-F5344CB8AC3E}">
        <p14:creationId xmlns:p14="http://schemas.microsoft.com/office/powerpoint/2010/main" val="380862202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A48CAD7-9596-6B8F-4390-68B91C5FD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Variable lifetime – example</a:t>
            </a:r>
            <a:endParaRPr lang="en-GB" altLang="en-US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A6B5030E-C28D-91D0-D376-9646C9A2710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BSc Business Information Systems</a:t>
            </a:r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E5BC0FE-D183-67C7-F7C6-FE47407B2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BF5F-D9F7-437E-8CF8-688EAF21A1C0}" type="slidenum">
              <a:rPr lang="ru-RU" smtClean="0"/>
              <a:pPr/>
              <a:t>25</a:t>
            </a:fld>
            <a:endParaRPr lang="ru-RU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3A7E6C0-40A2-4642-A56C-DFAC963EF05D}"/>
              </a:ext>
            </a:extLst>
          </p:cNvPr>
          <p:cNvSpPr txBox="1"/>
          <p:nvPr/>
        </p:nvSpPr>
        <p:spPr>
          <a:xfrm>
            <a:off x="838200" y="1690062"/>
            <a:ext cx="10515599" cy="347787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sz="2000" dirty="0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y = 56;</a:t>
            </a:r>
          </a:p>
          <a:p>
            <a:r>
              <a:rPr lang="en-GB" sz="20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GB" sz="2000" dirty="0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= 0; </a:t>
            </a:r>
            <a:r>
              <a:rPr lang="en-GB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&lt;= 9; </a:t>
            </a:r>
            <a:r>
              <a:rPr lang="en-GB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++) </a:t>
            </a:r>
            <a:r>
              <a:rPr lang="en-GB" sz="20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en-GB" sz="2000" dirty="0" err="1">
                <a:solidFill>
                  <a:srgbClr val="008000"/>
                </a:solidFill>
                <a:latin typeface="Consolas" panose="020B0609020204030204" pitchFamily="49" charset="0"/>
              </a:rPr>
              <a:t>i</a:t>
            </a:r>
            <a:r>
              <a:rPr lang="en-GB" sz="2000" dirty="0">
                <a:solidFill>
                  <a:srgbClr val="008000"/>
                </a:solidFill>
                <a:latin typeface="Consolas" panose="020B0609020204030204" pitchFamily="49" charset="0"/>
              </a:rPr>
              <a:t> is created here</a:t>
            </a:r>
            <a:endParaRPr lang="en-GB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	y = y - </a:t>
            </a:r>
            <a:r>
              <a:rPr lang="en-GB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} </a:t>
            </a:r>
            <a:r>
              <a:rPr lang="en-GB" sz="20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en-GB" sz="2000" dirty="0" err="1">
                <a:solidFill>
                  <a:srgbClr val="008000"/>
                </a:solidFill>
                <a:latin typeface="Consolas" panose="020B0609020204030204" pitchFamily="49" charset="0"/>
              </a:rPr>
              <a:t>i</a:t>
            </a:r>
            <a:r>
              <a:rPr lang="en-GB" sz="2000" dirty="0">
                <a:solidFill>
                  <a:srgbClr val="008000"/>
                </a:solidFill>
                <a:latin typeface="Consolas" panose="020B0609020204030204" pitchFamily="49" charset="0"/>
              </a:rPr>
              <a:t> is destroyed at this point </a:t>
            </a:r>
            <a:endParaRPr lang="en-GB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GB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20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(y &lt; 3)</a:t>
            </a:r>
          </a:p>
          <a:p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GB" sz="2000" dirty="0">
                <a:solidFill>
                  <a:srgbClr val="0000FF"/>
                </a:solidFill>
                <a:latin typeface="Consolas" panose="020B0609020204030204" pitchFamily="49" charset="0"/>
              </a:rPr>
              <a:t>	var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x = 9; </a:t>
            </a:r>
            <a:r>
              <a:rPr lang="en-GB" sz="2000" dirty="0">
                <a:solidFill>
                  <a:srgbClr val="008000"/>
                </a:solidFill>
                <a:latin typeface="Consolas" panose="020B0609020204030204" pitchFamily="49" charset="0"/>
              </a:rPr>
              <a:t>// x is created here</a:t>
            </a:r>
            <a:endParaRPr lang="en-GB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GB" sz="2000">
                <a:solidFill>
                  <a:srgbClr val="000000"/>
                </a:solidFill>
                <a:latin typeface="Consolas" panose="020B0609020204030204" pitchFamily="49" charset="0"/>
              </a:rPr>
              <a:t>MessageBox</a:t>
            </a:r>
            <a:r>
              <a:rPr lang="en-GB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.Show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sz="2000" dirty="0">
                <a:solidFill>
                  <a:srgbClr val="A31515"/>
                </a:solidFill>
                <a:latin typeface="Consolas" panose="020B0609020204030204" pitchFamily="49" charset="0"/>
              </a:rPr>
              <a:t>"X = "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+ x);</a:t>
            </a:r>
          </a:p>
          <a:p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} </a:t>
            </a:r>
            <a:r>
              <a:rPr lang="en-GB" sz="2000" dirty="0">
                <a:solidFill>
                  <a:srgbClr val="008000"/>
                </a:solidFill>
                <a:latin typeface="Consolas" panose="020B0609020204030204" pitchFamily="49" charset="0"/>
              </a:rPr>
              <a:t>// x is destroyed at this point </a:t>
            </a:r>
            <a:endParaRPr lang="en-US" altLang="en-US" sz="5400" b="1" dirty="0">
              <a:latin typeface="Courier New" panose="02070309020205020404" pitchFamily="49" charset="0"/>
              <a:ea typeface="Segoe UI" panose="020B0502040204020203" pitchFamily="34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537692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450F9B-C91F-8251-DBB6-902A113A009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The end</a:t>
            </a:r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D585132-5E6B-6252-979D-81557B974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8522" y="6356350"/>
            <a:ext cx="2035278" cy="365125"/>
          </a:xfrm>
        </p:spPr>
        <p:txBody>
          <a:bodyPr/>
          <a:lstStyle/>
          <a:p>
            <a:fld id="{24CFBF5F-D9F7-437E-8CF8-688EAF21A1C0}" type="slidenum">
              <a:rPr lang="ru-RU" smtClean="0"/>
              <a:pPr/>
              <a:t>26</a:t>
            </a:fld>
            <a:endParaRPr lang="ru-RU"/>
          </a:p>
        </p:txBody>
      </p:sp>
      <p:sp>
        <p:nvSpPr>
          <p:cNvPr id="7" name="Текст 5">
            <a:extLst>
              <a:ext uri="{FF2B5EF4-FFF2-40B4-BE49-F238E27FC236}">
                <a16:creationId xmlns:a16="http://schemas.microsoft.com/office/drawing/2014/main" id="{A6B5030E-C28D-91D0-D376-9646C9A2710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38201" y="6341397"/>
            <a:ext cx="3101410" cy="374650"/>
          </a:xfrm>
        </p:spPr>
        <p:txBody>
          <a:bodyPr/>
          <a:lstStyle/>
          <a:p>
            <a:r>
              <a:rPr lang="en-US"/>
              <a:t>BSc Business Information Systems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8479187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Custom 8">
      <a:dk1>
        <a:sysClr val="windowText" lastClr="000000"/>
      </a:dk1>
      <a:lt1>
        <a:sysClr val="window" lastClr="FFFFFF"/>
      </a:lt1>
      <a:dk2>
        <a:srgbClr val="07428C"/>
      </a:dk2>
      <a:lt2>
        <a:srgbClr val="EDEDED"/>
      </a:lt2>
      <a:accent1>
        <a:srgbClr val="083FA4"/>
      </a:accent1>
      <a:accent2>
        <a:srgbClr val="ED7D31"/>
      </a:accent2>
      <a:accent3>
        <a:srgbClr val="35A8E0"/>
      </a:accent3>
      <a:accent4>
        <a:srgbClr val="FFC000"/>
      </a:accent4>
      <a:accent5>
        <a:srgbClr val="4472C4"/>
      </a:accent5>
      <a:accent6>
        <a:srgbClr val="70AD47"/>
      </a:accent6>
      <a:hlink>
        <a:srgbClr val="358A7C"/>
      </a:hlink>
      <a:folHlink>
        <a:srgbClr val="B7283C"/>
      </a:folHlink>
    </a:clrScheme>
    <a:fontScheme name="Другая 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Другая 13">
      <a:dk1>
        <a:sysClr val="windowText" lastClr="000000"/>
      </a:dk1>
      <a:lt1>
        <a:sysClr val="window" lastClr="FFFFFF"/>
      </a:lt1>
      <a:dk2>
        <a:srgbClr val="264C94"/>
      </a:dk2>
      <a:lt2>
        <a:srgbClr val="35A8E0"/>
      </a:lt2>
      <a:accent1>
        <a:srgbClr val="7CB4E2"/>
      </a:accent1>
      <a:accent2>
        <a:srgbClr val="358A7C"/>
      </a:accent2>
      <a:accent3>
        <a:srgbClr val="A5A5A5"/>
      </a:accent3>
      <a:accent4>
        <a:srgbClr val="26693A"/>
      </a:accent4>
      <a:accent5>
        <a:srgbClr val="F6AC10"/>
      </a:accent5>
      <a:accent6>
        <a:srgbClr val="B7283C"/>
      </a:accent6>
      <a:hlink>
        <a:srgbClr val="358A7C"/>
      </a:hlink>
      <a:folHlink>
        <a:srgbClr val="B7283C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1556</TotalTime>
  <Words>1062</Words>
  <Application>Microsoft Office PowerPoint</Application>
  <PresentationFormat>Widescreen</PresentationFormat>
  <Paragraphs>211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2" baseType="lpstr">
      <vt:lpstr>Arial</vt:lpstr>
      <vt:lpstr>Calibri</vt:lpstr>
      <vt:lpstr>Consolas</vt:lpstr>
      <vt:lpstr>Courier New</vt:lpstr>
      <vt:lpstr>Wingdings</vt:lpstr>
      <vt:lpstr>Тема Office</vt:lpstr>
      <vt:lpstr>Fundamentals of Programming</vt:lpstr>
      <vt:lpstr>Agenda</vt:lpstr>
      <vt:lpstr>What is a method?</vt:lpstr>
      <vt:lpstr>Why use methods?</vt:lpstr>
      <vt:lpstr>Why use methods?</vt:lpstr>
      <vt:lpstr>Why use methods?</vt:lpstr>
      <vt:lpstr>Methods in C#</vt:lpstr>
      <vt:lpstr>Methods in C#</vt:lpstr>
      <vt:lpstr>Methods in C#</vt:lpstr>
      <vt:lpstr>Methods in C#</vt:lpstr>
      <vt:lpstr>Calling a method</vt:lpstr>
      <vt:lpstr>By value vs. By reference</vt:lpstr>
      <vt:lpstr>What will be printed?</vt:lpstr>
      <vt:lpstr>Sending parameters by value</vt:lpstr>
      <vt:lpstr>What will be printed?</vt:lpstr>
      <vt:lpstr>Sending parameters by reference</vt:lpstr>
      <vt:lpstr>What will be printed?</vt:lpstr>
      <vt:lpstr>What will be printed?</vt:lpstr>
      <vt:lpstr>Sending parameters by reference</vt:lpstr>
      <vt:lpstr>Variable scope</vt:lpstr>
      <vt:lpstr>Variable scope</vt:lpstr>
      <vt:lpstr>Variable scope – blocks</vt:lpstr>
      <vt:lpstr>Variable scope – example</vt:lpstr>
      <vt:lpstr>Variable lifetime</vt:lpstr>
      <vt:lpstr>Variable lifetime – example</vt:lpstr>
      <vt:lpstr>The end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User</dc:creator>
  <cp:lastModifiedBy>Vasiliy Kuznetsov</cp:lastModifiedBy>
  <cp:revision>138</cp:revision>
  <dcterms:created xsi:type="dcterms:W3CDTF">2022-06-28T05:50:22Z</dcterms:created>
  <dcterms:modified xsi:type="dcterms:W3CDTF">2024-09-14T18:24:11Z</dcterms:modified>
</cp:coreProperties>
</file>