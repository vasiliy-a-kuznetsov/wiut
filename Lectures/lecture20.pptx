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57" r:id="rId3"/>
    <p:sldId id="284" r:id="rId4"/>
    <p:sldId id="285" r:id="rId5"/>
    <p:sldId id="286" r:id="rId6"/>
    <p:sldId id="301" r:id="rId7"/>
    <p:sldId id="288" r:id="rId8"/>
    <p:sldId id="302" r:id="rId9"/>
    <p:sldId id="290" r:id="rId10"/>
    <p:sldId id="303" r:id="rId11"/>
    <p:sldId id="292" r:id="rId12"/>
    <p:sldId id="294" r:id="rId13"/>
    <p:sldId id="295" r:id="rId14"/>
    <p:sldId id="296" r:id="rId15"/>
    <p:sldId id="297" r:id="rId16"/>
    <p:sldId id="298" r:id="rId17"/>
    <p:sldId id="299" r:id="rId18"/>
    <p:sldId id="300" r:id="rId19"/>
    <p:sldId id="274" r:id="rId20"/>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660066"/>
    <a:srgbClr val="006600"/>
    <a:srgbClr val="18055F"/>
    <a:srgbClr val="FF0000"/>
    <a:srgbClr val="800000"/>
    <a:srgbClr val="FF7C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8" d="100"/>
          <a:sy n="108" d="100"/>
        </p:scale>
        <p:origin x="1704" y="102"/>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290B33-FBAA-4D67-AB4C-DF246DE85BA5}" type="datetimeFigureOut">
              <a:rPr lang="en-US" smtClean="0"/>
              <a:t>2024-02-23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73BE83-8DEF-4B08-9260-E3C6DC6BAD0D}" type="slidenum">
              <a:rPr lang="en-US" smtClean="0"/>
              <a:t>‹#›</a:t>
            </a:fld>
            <a:endParaRPr lang="en-US"/>
          </a:p>
        </p:txBody>
      </p:sp>
    </p:spTree>
    <p:extLst>
      <p:ext uri="{BB962C8B-B14F-4D97-AF65-F5344CB8AC3E}">
        <p14:creationId xmlns:p14="http://schemas.microsoft.com/office/powerpoint/2010/main" val="4185854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73BE83-8DEF-4B08-9260-E3C6DC6BAD0D}" type="slidenum">
              <a:rPr lang="en-US" smtClean="0"/>
              <a:t>1</a:t>
            </a:fld>
            <a:endParaRPr lang="en-US"/>
          </a:p>
        </p:txBody>
      </p:sp>
    </p:spTree>
    <p:extLst>
      <p:ext uri="{BB962C8B-B14F-4D97-AF65-F5344CB8AC3E}">
        <p14:creationId xmlns:p14="http://schemas.microsoft.com/office/powerpoint/2010/main" val="749773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73BE83-8DEF-4B08-9260-E3C6DC6BAD0D}" type="slidenum">
              <a:rPr lang="en-US" smtClean="0"/>
              <a:t>2</a:t>
            </a:fld>
            <a:endParaRPr lang="en-US"/>
          </a:p>
        </p:txBody>
      </p:sp>
    </p:spTree>
    <p:extLst>
      <p:ext uri="{BB962C8B-B14F-4D97-AF65-F5344CB8AC3E}">
        <p14:creationId xmlns:p14="http://schemas.microsoft.com/office/powerpoint/2010/main" val="18020333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73BE83-8DEF-4B08-9260-E3C6DC6BAD0D}" type="slidenum">
              <a:rPr lang="en-US" smtClean="0"/>
              <a:t>3</a:t>
            </a:fld>
            <a:endParaRPr lang="en-US"/>
          </a:p>
        </p:txBody>
      </p:sp>
    </p:spTree>
    <p:extLst>
      <p:ext uri="{BB962C8B-B14F-4D97-AF65-F5344CB8AC3E}">
        <p14:creationId xmlns:p14="http://schemas.microsoft.com/office/powerpoint/2010/main" val="12169536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73BE83-8DEF-4B08-9260-E3C6DC6BAD0D}" type="slidenum">
              <a:rPr lang="en-US" smtClean="0"/>
              <a:t>4</a:t>
            </a:fld>
            <a:endParaRPr lang="en-US"/>
          </a:p>
        </p:txBody>
      </p:sp>
    </p:spTree>
    <p:extLst>
      <p:ext uri="{BB962C8B-B14F-4D97-AF65-F5344CB8AC3E}">
        <p14:creationId xmlns:p14="http://schemas.microsoft.com/office/powerpoint/2010/main" val="27896474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73BE83-8DEF-4B08-9260-E3C6DC6BAD0D}" type="slidenum">
              <a:rPr lang="en-US" smtClean="0"/>
              <a:t>5</a:t>
            </a:fld>
            <a:endParaRPr lang="en-US"/>
          </a:p>
        </p:txBody>
      </p:sp>
    </p:spTree>
    <p:extLst>
      <p:ext uri="{BB962C8B-B14F-4D97-AF65-F5344CB8AC3E}">
        <p14:creationId xmlns:p14="http://schemas.microsoft.com/office/powerpoint/2010/main" val="5774373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73BE83-8DEF-4B08-9260-E3C6DC6BAD0D}" type="slidenum">
              <a:rPr lang="en-US" smtClean="0"/>
              <a:t>6</a:t>
            </a:fld>
            <a:endParaRPr lang="en-US"/>
          </a:p>
        </p:txBody>
      </p:sp>
    </p:spTree>
    <p:extLst>
      <p:ext uri="{BB962C8B-B14F-4D97-AF65-F5344CB8AC3E}">
        <p14:creationId xmlns:p14="http://schemas.microsoft.com/office/powerpoint/2010/main" val="15260830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73BE83-8DEF-4B08-9260-E3C6DC6BAD0D}" type="slidenum">
              <a:rPr lang="en-US" smtClean="0"/>
              <a:t>7</a:t>
            </a:fld>
            <a:endParaRPr lang="en-US"/>
          </a:p>
        </p:txBody>
      </p:sp>
    </p:spTree>
    <p:extLst>
      <p:ext uri="{BB962C8B-B14F-4D97-AF65-F5344CB8AC3E}">
        <p14:creationId xmlns:p14="http://schemas.microsoft.com/office/powerpoint/2010/main" val="30373749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73BE83-8DEF-4B08-9260-E3C6DC6BAD0D}" type="slidenum">
              <a:rPr lang="en-US" smtClean="0"/>
              <a:t>8</a:t>
            </a:fld>
            <a:endParaRPr lang="en-US"/>
          </a:p>
        </p:txBody>
      </p:sp>
    </p:spTree>
    <p:extLst>
      <p:ext uri="{BB962C8B-B14F-4D97-AF65-F5344CB8AC3E}">
        <p14:creationId xmlns:p14="http://schemas.microsoft.com/office/powerpoint/2010/main" val="9827324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73BE83-8DEF-4B08-9260-E3C6DC6BAD0D}" type="slidenum">
              <a:rPr lang="en-US" smtClean="0"/>
              <a:t>9</a:t>
            </a:fld>
            <a:endParaRPr lang="en-US"/>
          </a:p>
        </p:txBody>
      </p:sp>
    </p:spTree>
    <p:extLst>
      <p:ext uri="{BB962C8B-B14F-4D97-AF65-F5344CB8AC3E}">
        <p14:creationId xmlns:p14="http://schemas.microsoft.com/office/powerpoint/2010/main" val="26833975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73BE83-8DEF-4B08-9260-E3C6DC6BAD0D}" type="slidenum">
              <a:rPr lang="en-US" smtClean="0"/>
              <a:t>10</a:t>
            </a:fld>
            <a:endParaRPr lang="en-US"/>
          </a:p>
        </p:txBody>
      </p:sp>
    </p:spTree>
    <p:extLst>
      <p:ext uri="{BB962C8B-B14F-4D97-AF65-F5344CB8AC3E}">
        <p14:creationId xmlns:p14="http://schemas.microsoft.com/office/powerpoint/2010/main" val="26716363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73BE83-8DEF-4B08-9260-E3C6DC6BAD0D}" type="slidenum">
              <a:rPr lang="en-US" smtClean="0"/>
              <a:t>11</a:t>
            </a:fld>
            <a:endParaRPr lang="en-US"/>
          </a:p>
        </p:txBody>
      </p:sp>
    </p:spTree>
    <p:extLst>
      <p:ext uri="{BB962C8B-B14F-4D97-AF65-F5344CB8AC3E}">
        <p14:creationId xmlns:p14="http://schemas.microsoft.com/office/powerpoint/2010/main" val="22022006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73BE83-8DEF-4B08-9260-E3C6DC6BAD0D}" type="slidenum">
              <a:rPr lang="en-US" smtClean="0"/>
              <a:t>12</a:t>
            </a:fld>
            <a:endParaRPr lang="en-US"/>
          </a:p>
        </p:txBody>
      </p:sp>
    </p:spTree>
    <p:extLst>
      <p:ext uri="{BB962C8B-B14F-4D97-AF65-F5344CB8AC3E}">
        <p14:creationId xmlns:p14="http://schemas.microsoft.com/office/powerpoint/2010/main" val="15839791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73BE83-8DEF-4B08-9260-E3C6DC6BAD0D}" type="slidenum">
              <a:rPr lang="en-US" smtClean="0"/>
              <a:t>13</a:t>
            </a:fld>
            <a:endParaRPr lang="en-US"/>
          </a:p>
        </p:txBody>
      </p:sp>
    </p:spTree>
    <p:extLst>
      <p:ext uri="{BB962C8B-B14F-4D97-AF65-F5344CB8AC3E}">
        <p14:creationId xmlns:p14="http://schemas.microsoft.com/office/powerpoint/2010/main" val="34755427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73BE83-8DEF-4B08-9260-E3C6DC6BAD0D}" type="slidenum">
              <a:rPr lang="en-US" smtClean="0"/>
              <a:t>14</a:t>
            </a:fld>
            <a:endParaRPr lang="en-US"/>
          </a:p>
        </p:txBody>
      </p:sp>
    </p:spTree>
    <p:extLst>
      <p:ext uri="{BB962C8B-B14F-4D97-AF65-F5344CB8AC3E}">
        <p14:creationId xmlns:p14="http://schemas.microsoft.com/office/powerpoint/2010/main" val="23015385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73BE83-8DEF-4B08-9260-E3C6DC6BAD0D}" type="slidenum">
              <a:rPr lang="en-US" smtClean="0"/>
              <a:t>15</a:t>
            </a:fld>
            <a:endParaRPr lang="en-US"/>
          </a:p>
        </p:txBody>
      </p:sp>
    </p:spTree>
    <p:extLst>
      <p:ext uri="{BB962C8B-B14F-4D97-AF65-F5344CB8AC3E}">
        <p14:creationId xmlns:p14="http://schemas.microsoft.com/office/powerpoint/2010/main" val="29679819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73BE83-8DEF-4B08-9260-E3C6DC6BAD0D}" type="slidenum">
              <a:rPr lang="en-US" smtClean="0"/>
              <a:t>16</a:t>
            </a:fld>
            <a:endParaRPr lang="en-US"/>
          </a:p>
        </p:txBody>
      </p:sp>
    </p:spTree>
    <p:extLst>
      <p:ext uri="{BB962C8B-B14F-4D97-AF65-F5344CB8AC3E}">
        <p14:creationId xmlns:p14="http://schemas.microsoft.com/office/powerpoint/2010/main" val="15560412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73BE83-8DEF-4B08-9260-E3C6DC6BAD0D}" type="slidenum">
              <a:rPr lang="en-US" smtClean="0"/>
              <a:t>17</a:t>
            </a:fld>
            <a:endParaRPr lang="en-US"/>
          </a:p>
        </p:txBody>
      </p:sp>
    </p:spTree>
    <p:extLst>
      <p:ext uri="{BB962C8B-B14F-4D97-AF65-F5344CB8AC3E}">
        <p14:creationId xmlns:p14="http://schemas.microsoft.com/office/powerpoint/2010/main" val="15567263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73BE83-8DEF-4B08-9260-E3C6DC6BAD0D}" type="slidenum">
              <a:rPr lang="en-US" smtClean="0"/>
              <a:t>18</a:t>
            </a:fld>
            <a:endParaRPr lang="en-US"/>
          </a:p>
        </p:txBody>
      </p:sp>
    </p:spTree>
    <p:extLst>
      <p:ext uri="{BB962C8B-B14F-4D97-AF65-F5344CB8AC3E}">
        <p14:creationId xmlns:p14="http://schemas.microsoft.com/office/powerpoint/2010/main" val="38276672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73BE83-8DEF-4B08-9260-E3C6DC6BAD0D}" type="slidenum">
              <a:rPr lang="en-US" smtClean="0"/>
              <a:t>19</a:t>
            </a:fld>
            <a:endParaRPr lang="en-US"/>
          </a:p>
        </p:txBody>
      </p:sp>
    </p:spTree>
    <p:extLst>
      <p:ext uri="{BB962C8B-B14F-4D97-AF65-F5344CB8AC3E}">
        <p14:creationId xmlns:p14="http://schemas.microsoft.com/office/powerpoint/2010/main" val="27935142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defRPr/>
              </a:pPr>
              <a:endParaRPr lang="en-US" sz="2400">
                <a:latin typeface="Times New Roman" panose="02020603050405020304"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sz="2400">
                <a:latin typeface="Times New Roman" panose="02020603050405020304"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sz="2400">
                  <a:latin typeface="Times New Roman" panose="02020603050405020304"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sz="2400">
                  <a:latin typeface="Times New Roman" panose="02020603050405020304"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sz="2400">
                  <a:latin typeface="Times New Roman" panose="02020603050405020304"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sz="2400">
                  <a:latin typeface="Times New Roman" panose="02020603050405020304"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sz="2400">
                  <a:latin typeface="Times New Roman" panose="02020603050405020304"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sz="2400">
                  <a:latin typeface="Times New Roman" panose="02020603050405020304"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sz="2400">
                  <a:latin typeface="Times New Roman" panose="02020603050405020304"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sz="2400">
                  <a:latin typeface="Times New Roman" panose="02020603050405020304"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sz="2400">
                  <a:latin typeface="Times New Roman" panose="02020603050405020304"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sz="2400">
                  <a:latin typeface="Times New Roman" panose="02020603050405020304" pitchFamily="18" charset="0"/>
                </a:endParaRPr>
              </a:p>
            </p:txBody>
          </p:sp>
        </p:grpSp>
      </p:grpSp>
      <p:pic>
        <p:nvPicPr>
          <p:cNvPr id="18" name="Picture 21" descr="PP_WIUT_Attach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524750" cy="65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9"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en-US"/>
              <a:t>Click to edit Master title style</a:t>
            </a:r>
            <a:endParaRPr lang="ru-RU"/>
          </a:p>
        </p:txBody>
      </p:sp>
      <p:sp>
        <p:nvSpPr>
          <p:cNvPr id="5140"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r>
              <a:rPr lang="en-US"/>
              <a:t>Click to edit Master subtitle style</a:t>
            </a:r>
            <a:endParaRPr lang="ru-RU"/>
          </a:p>
        </p:txBody>
      </p:sp>
      <p:sp>
        <p:nvSpPr>
          <p:cNvPr id="19"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en-US"/>
          </a:p>
        </p:txBody>
      </p:sp>
      <p:sp>
        <p:nvSpPr>
          <p:cNvPr id="20" name="Rectangle 17"/>
          <p:cNvSpPr>
            <a:spLocks noGrp="1" noChangeArrowheads="1"/>
          </p:cNvSpPr>
          <p:nvPr>
            <p:ph type="ftr" sz="quarter" idx="11"/>
          </p:nvPr>
        </p:nvSpPr>
        <p:spPr/>
        <p:txBody>
          <a:bodyPr/>
          <a:lstStyle>
            <a:lvl1pPr>
              <a:defRPr/>
            </a:lvl1pPr>
          </a:lstStyle>
          <a:p>
            <a:pPr>
              <a:defRPr/>
            </a:pPr>
            <a:endParaRPr lang="en-US"/>
          </a:p>
        </p:txBody>
      </p:sp>
      <p:sp>
        <p:nvSpPr>
          <p:cNvPr id="21" name="Rectangle 18"/>
          <p:cNvSpPr>
            <a:spLocks noGrp="1" noChangeArrowheads="1"/>
          </p:cNvSpPr>
          <p:nvPr>
            <p:ph type="sldNum" sz="quarter" idx="12"/>
          </p:nvPr>
        </p:nvSpPr>
        <p:spPr/>
        <p:txBody>
          <a:bodyPr/>
          <a:lstStyle>
            <a:lvl1pPr>
              <a:defRPr/>
            </a:lvl1pPr>
          </a:lstStyle>
          <a:p>
            <a:pPr>
              <a:defRPr/>
            </a:pPr>
            <a:fld id="{BB092931-1455-42D2-93DD-8268B7FD38B6}" type="slidenum">
              <a:rPr lang="en-US"/>
              <a:pPr>
                <a:defRPr/>
              </a:pPr>
              <a:t>‹#›</a:t>
            </a:fld>
            <a:endParaRPr lang="en-US"/>
          </a:p>
        </p:txBody>
      </p:sp>
    </p:spTree>
    <p:extLst>
      <p:ext uri="{BB962C8B-B14F-4D97-AF65-F5344CB8AC3E}">
        <p14:creationId xmlns:p14="http://schemas.microsoft.com/office/powerpoint/2010/main" val="3148819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51716FAE-4EE6-43CC-809E-44366ADB1215}" type="slidenum">
              <a:rPr lang="en-US"/>
              <a:pPr>
                <a:defRPr/>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032745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FD64DB98-30E4-4205-809C-AC5E145C8B76}" type="slidenum">
              <a:rPr lang="en-US"/>
              <a:pPr>
                <a:defRPr/>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412732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73238"/>
            <a:ext cx="4038600" cy="42481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73238"/>
            <a:ext cx="4038600" cy="42481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pPr>
              <a:defRPr/>
            </a:pPr>
            <a:fld id="{17D77D37-3B3D-49A6-BF2D-BD5BA4C557F1}" type="slidenum">
              <a:rPr lang="en-US"/>
              <a:pPr>
                <a:defRPr/>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4113573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p:cNvSpPr>
            <a:spLocks noGrp="1" noChangeArrowheads="1"/>
          </p:cNvSpPr>
          <p:nvPr>
            <p:ph type="ftr" sz="quarter" idx="10"/>
          </p:nvPr>
        </p:nvSpPr>
        <p:spPr>
          <a:ln/>
        </p:spPr>
        <p:txBody>
          <a:bodyPr/>
          <a:lstStyle>
            <a:lvl1pPr>
              <a:defRPr/>
            </a:lvl1pPr>
          </a:lstStyle>
          <a:p>
            <a:pPr>
              <a:defRPr/>
            </a:pPr>
            <a:endParaRPr lang="en-US"/>
          </a:p>
        </p:txBody>
      </p:sp>
      <p:sp>
        <p:nvSpPr>
          <p:cNvPr id="8" name="Rectangle 3"/>
          <p:cNvSpPr>
            <a:spLocks noGrp="1" noChangeArrowheads="1"/>
          </p:cNvSpPr>
          <p:nvPr>
            <p:ph type="sldNum" sz="quarter" idx="11"/>
          </p:nvPr>
        </p:nvSpPr>
        <p:spPr>
          <a:ln/>
        </p:spPr>
        <p:txBody>
          <a:bodyPr/>
          <a:lstStyle>
            <a:lvl1pPr>
              <a:defRPr/>
            </a:lvl1pPr>
          </a:lstStyle>
          <a:p>
            <a:pPr>
              <a:defRPr/>
            </a:pPr>
            <a:fld id="{64BB98AD-7214-4F0D-84AD-E29B69EF2D1D}" type="slidenum">
              <a:rPr lang="en-US"/>
              <a:pPr>
                <a:defRPr/>
              </a:pPr>
              <a:t>‹#›</a:t>
            </a:fld>
            <a:endParaRPr lang="en-US"/>
          </a:p>
        </p:txBody>
      </p:sp>
      <p:sp>
        <p:nvSpPr>
          <p:cNvPr id="9"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621725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p>
        </p:txBody>
      </p:sp>
      <p:sp>
        <p:nvSpPr>
          <p:cNvPr id="4" name="Rectangle 3"/>
          <p:cNvSpPr>
            <a:spLocks noGrp="1" noChangeArrowheads="1"/>
          </p:cNvSpPr>
          <p:nvPr>
            <p:ph type="sldNum" sz="quarter" idx="11"/>
          </p:nvPr>
        </p:nvSpPr>
        <p:spPr>
          <a:ln/>
        </p:spPr>
        <p:txBody>
          <a:bodyPr/>
          <a:lstStyle>
            <a:lvl1pPr>
              <a:defRPr/>
            </a:lvl1pPr>
          </a:lstStyle>
          <a:p>
            <a:pPr>
              <a:defRPr/>
            </a:pPr>
            <a:fld id="{15ED1AFD-BECC-44C0-8A2D-403C557DB55F}" type="slidenum">
              <a:rPr lang="en-US"/>
              <a:pPr>
                <a:defRPr/>
              </a:pPr>
              <a:t>‹#›</a:t>
            </a:fld>
            <a:endParaRPr lang="en-US"/>
          </a:p>
        </p:txBody>
      </p:sp>
      <p:sp>
        <p:nvSpPr>
          <p:cNvPr id="5"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911681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p>
        </p:txBody>
      </p:sp>
      <p:sp>
        <p:nvSpPr>
          <p:cNvPr id="3" name="Rectangle 3"/>
          <p:cNvSpPr>
            <a:spLocks noGrp="1" noChangeArrowheads="1"/>
          </p:cNvSpPr>
          <p:nvPr>
            <p:ph type="sldNum" sz="quarter" idx="11"/>
          </p:nvPr>
        </p:nvSpPr>
        <p:spPr>
          <a:ln/>
        </p:spPr>
        <p:txBody>
          <a:bodyPr/>
          <a:lstStyle>
            <a:lvl1pPr>
              <a:defRPr/>
            </a:lvl1pPr>
          </a:lstStyle>
          <a:p>
            <a:pPr>
              <a:defRPr/>
            </a:pPr>
            <a:fld id="{C3628A49-95E9-4769-8E55-3A9C189A974A}" type="slidenum">
              <a:rPr lang="en-US"/>
              <a:pPr>
                <a:defRPr/>
              </a:pPr>
              <a:t>‹#›</a:t>
            </a:fld>
            <a:endParaRPr lang="en-US"/>
          </a:p>
        </p:txBody>
      </p:sp>
      <p:sp>
        <p:nvSpPr>
          <p:cNvPr id="4"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654656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pPr>
              <a:defRPr/>
            </a:pPr>
            <a:fld id="{1E466BD5-8EBC-4F4A-9C60-39FE61BC5ADB}" type="slidenum">
              <a:rPr lang="en-US"/>
              <a:pPr>
                <a:defRPr/>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304164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pPr>
              <a:defRPr/>
            </a:pPr>
            <a:fld id="{F2AB5B7A-F045-4E9A-9451-46ABEF72B346}" type="slidenum">
              <a:rPr lang="en-US"/>
              <a:pPr>
                <a:defRPr/>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773437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E7B04554-3964-49BA-9C43-63FD8F66C108}" type="slidenum">
              <a:rPr lang="en-US"/>
              <a:pPr>
                <a:defRPr/>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6108911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765175"/>
            <a:ext cx="2057400" cy="52562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765175"/>
            <a:ext cx="6019800" cy="52562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7286E2AD-BACC-47DD-B282-69CCC4DE4E11}" type="slidenum">
              <a:rPr lang="en-US"/>
              <a:pPr>
                <a:defRPr/>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3294375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765175"/>
            <a:ext cx="8229600" cy="52562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p>
        </p:txBody>
      </p:sp>
      <p:sp>
        <p:nvSpPr>
          <p:cNvPr id="4" name="Rectangle 3"/>
          <p:cNvSpPr>
            <a:spLocks noGrp="1" noChangeArrowheads="1"/>
          </p:cNvSpPr>
          <p:nvPr>
            <p:ph type="sldNum" sz="quarter" idx="11"/>
          </p:nvPr>
        </p:nvSpPr>
        <p:spPr>
          <a:ln/>
        </p:spPr>
        <p:txBody>
          <a:bodyPr/>
          <a:lstStyle>
            <a:lvl1pPr>
              <a:defRPr/>
            </a:lvl1pPr>
          </a:lstStyle>
          <a:p>
            <a:pPr>
              <a:defRPr/>
            </a:pPr>
            <a:fld id="{66EDF36C-B34A-483D-846A-9A4344FE003A}" type="slidenum">
              <a:rPr lang="en-US"/>
              <a:pPr>
                <a:defRPr/>
              </a:pPr>
              <a:t>‹#›</a:t>
            </a:fld>
            <a:endParaRPr lang="en-US"/>
          </a:p>
        </p:txBody>
      </p:sp>
      <p:sp>
        <p:nvSpPr>
          <p:cNvPr id="5"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0500524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5175"/>
            <a:ext cx="8229600" cy="935038"/>
          </a:xfrm>
        </p:spPr>
        <p:txBody>
          <a:bodyPr/>
          <a:lstStyle/>
          <a:p>
            <a:r>
              <a:rPr lang="en-US"/>
              <a:t>Click to edit Master title style</a:t>
            </a:r>
          </a:p>
        </p:txBody>
      </p:sp>
      <p:sp>
        <p:nvSpPr>
          <p:cNvPr id="3" name="Text Placeholder 2"/>
          <p:cNvSpPr>
            <a:spLocks noGrp="1"/>
          </p:cNvSpPr>
          <p:nvPr>
            <p:ph type="body" sz="half" idx="1"/>
          </p:nvPr>
        </p:nvSpPr>
        <p:spPr>
          <a:xfrm>
            <a:off x="457200" y="1773238"/>
            <a:ext cx="4038600" cy="4248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73238"/>
            <a:ext cx="4038600" cy="4248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pPr>
              <a:defRPr/>
            </a:pPr>
            <a:fld id="{73F0E657-57B9-4DB0-9F40-D64DCDE7523D}" type="slidenum">
              <a:rPr lang="en-US"/>
              <a:pPr>
                <a:defRPr/>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476466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0" hangingPunct="0">
              <a:defRPr sz="1200">
                <a:latin typeface="Arial" charset="0"/>
                <a:cs typeface="+mn-cs"/>
              </a:defRPr>
            </a:lvl1pPr>
          </a:lstStyle>
          <a:p>
            <a:pPr>
              <a:defRPr/>
            </a:pPr>
            <a:endParaRPr lang="en-US"/>
          </a:p>
        </p:txBody>
      </p:sp>
      <p:sp>
        <p:nvSpPr>
          <p:cNvPr id="4099" name="Rectangle 3"/>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Black" panose="020B0A04020102020204" pitchFamily="34" charset="0"/>
              </a:defRPr>
            </a:lvl1pPr>
          </a:lstStyle>
          <a:p>
            <a:pPr>
              <a:defRPr/>
            </a:pPr>
            <a:fld id="{E0592C3A-B9E6-4C85-8DCD-3ACB49EFD069}" type="slidenum">
              <a:rPr lang="en-US"/>
              <a:pPr>
                <a:defRPr/>
              </a:pPr>
              <a:t>‹#›</a:t>
            </a:fld>
            <a:endParaRPr lang="en-US"/>
          </a:p>
        </p:txBody>
      </p:sp>
      <p:grpSp>
        <p:nvGrpSpPr>
          <p:cNvPr id="1028" name="Group 4"/>
          <p:cNvGrpSpPr>
            <a:grpSpLocks/>
          </p:cNvGrpSpPr>
          <p:nvPr/>
        </p:nvGrpSpPr>
        <p:grpSpPr bwMode="auto">
          <a:xfrm>
            <a:off x="0" y="0"/>
            <a:ext cx="9144000" cy="546100"/>
            <a:chOff x="0" y="0"/>
            <a:chExt cx="5760" cy="344"/>
          </a:xfrm>
        </p:grpSpPr>
        <p:sp>
          <p:nvSpPr>
            <p:cNvPr id="1033"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defRPr/>
              </a:pPr>
              <a:endParaRPr lang="en-US" sz="2400">
                <a:latin typeface="Times New Roman" panose="02020603050405020304" pitchFamily="18" charset="0"/>
              </a:endParaRPr>
            </a:p>
          </p:txBody>
        </p:sp>
        <p:sp>
          <p:nvSpPr>
            <p:cNvPr id="1034"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sz="2400">
                <a:latin typeface="Times New Roman" panose="02020603050405020304" pitchFamily="18" charset="0"/>
              </a:endParaRPr>
            </a:p>
          </p:txBody>
        </p:sp>
        <p:sp>
          <p:nvSpPr>
            <p:cNvPr id="1035"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solidFill>
                  <a:schemeClr val="hlink"/>
                </a:solidFill>
              </a:endParaRPr>
            </a:p>
          </p:txBody>
        </p:sp>
        <p:sp>
          <p:nvSpPr>
            <p:cNvPr id="1036"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solidFill>
                  <a:schemeClr val="hlink"/>
                </a:solidFill>
              </a:endParaRPr>
            </a:p>
          </p:txBody>
        </p:sp>
        <p:sp>
          <p:nvSpPr>
            <p:cNvPr id="1037"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solidFill>
                  <a:schemeClr val="accent2"/>
                </a:solidFill>
              </a:endParaRPr>
            </a:p>
          </p:txBody>
        </p:sp>
        <p:sp>
          <p:nvSpPr>
            <p:cNvPr id="1038"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solidFill>
                  <a:schemeClr val="hlink"/>
                </a:solidFill>
              </a:endParaRPr>
            </a:p>
          </p:txBody>
        </p:sp>
        <p:sp>
          <p:nvSpPr>
            <p:cNvPr id="1039"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sz="2400">
                <a:latin typeface="Times New Roman" panose="02020603050405020304" pitchFamily="18" charset="0"/>
              </a:endParaRPr>
            </a:p>
          </p:txBody>
        </p:sp>
        <p:sp>
          <p:nvSpPr>
            <p:cNvPr id="1040"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solidFill>
                  <a:schemeClr val="accent2"/>
                </a:solidFill>
              </a:endParaRPr>
            </a:p>
          </p:txBody>
        </p:sp>
        <p:sp>
          <p:nvSpPr>
            <p:cNvPr id="1041"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solidFill>
                  <a:schemeClr val="accent2"/>
                </a:solidFill>
              </a:endParaRPr>
            </a:p>
          </p:txBody>
        </p:sp>
      </p:grpSp>
      <p:sp>
        <p:nvSpPr>
          <p:cNvPr id="1029" name="Rectangle 14"/>
          <p:cNvSpPr>
            <a:spLocks noGrp="1" noChangeArrowheads="1"/>
          </p:cNvSpPr>
          <p:nvPr>
            <p:ph type="title"/>
          </p:nvPr>
        </p:nvSpPr>
        <p:spPr bwMode="auto">
          <a:xfrm>
            <a:off x="457200" y="765175"/>
            <a:ext cx="8229600"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ru-RU"/>
          </a:p>
        </p:txBody>
      </p:sp>
      <p:sp>
        <p:nvSpPr>
          <p:cNvPr id="1030" name="Rectangle 15"/>
          <p:cNvSpPr>
            <a:spLocks noGrp="1" noChangeArrowheads="1"/>
          </p:cNvSpPr>
          <p:nvPr>
            <p:ph type="body" idx="1"/>
          </p:nvPr>
        </p:nvSpPr>
        <p:spPr bwMode="auto">
          <a:xfrm>
            <a:off x="457200" y="1773238"/>
            <a:ext cx="8229600"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112" name="Rectangle 16"/>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Arial" charset="0"/>
                <a:cs typeface="+mn-cs"/>
              </a:defRPr>
            </a:lvl1pPr>
          </a:lstStyle>
          <a:p>
            <a:pPr>
              <a:defRPr/>
            </a:pPr>
            <a:endParaRPr lang="en-US"/>
          </a:p>
        </p:txBody>
      </p:sp>
      <p:pic>
        <p:nvPicPr>
          <p:cNvPr id="1032" name="Picture 17" descr="PP_WIUT_Attachment"/>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75247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57"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 id="2147483755" r:id="rId12"/>
    <p:sldLayoutId id="2147483756" r:id="rId13"/>
  </p:sldLayoutIdLst>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defRPr>
      </a:lvl2pPr>
      <a:lvl3pPr algn="l" rtl="0" eaLnBrk="0" fontAlgn="base" hangingPunct="0">
        <a:spcBef>
          <a:spcPct val="0"/>
        </a:spcBef>
        <a:spcAft>
          <a:spcPct val="0"/>
        </a:spcAft>
        <a:defRPr sz="4400">
          <a:solidFill>
            <a:schemeClr val="tx1"/>
          </a:solidFill>
          <a:latin typeface="Arial" charset="0"/>
        </a:defRPr>
      </a:lvl3pPr>
      <a:lvl4pPr algn="l" rtl="0" eaLnBrk="0" fontAlgn="base" hangingPunct="0">
        <a:spcBef>
          <a:spcPct val="0"/>
        </a:spcBef>
        <a:spcAft>
          <a:spcPct val="0"/>
        </a:spcAft>
        <a:defRPr sz="4400">
          <a:solidFill>
            <a:schemeClr val="tx1"/>
          </a:solidFill>
          <a:latin typeface="Arial" charset="0"/>
        </a:defRPr>
      </a:lvl4pPr>
      <a:lvl5pPr algn="l" rtl="0" eaLnBrk="0" fontAlgn="base" hangingPunct="0">
        <a:spcBef>
          <a:spcPct val="0"/>
        </a:spcBef>
        <a:spcAft>
          <a:spcPct val="0"/>
        </a:spcAft>
        <a:defRPr sz="4400">
          <a:solidFill>
            <a:schemeClr val="tx1"/>
          </a:solidFill>
          <a:latin typeface="Arial" charset="0"/>
        </a:defRPr>
      </a:lvl5pPr>
      <a:lvl6pPr marL="457200" algn="l" rtl="0" eaLnBrk="1" fontAlgn="base" hangingPunct="1">
        <a:spcBef>
          <a:spcPct val="0"/>
        </a:spcBef>
        <a:spcAft>
          <a:spcPct val="0"/>
        </a:spcAft>
        <a:defRPr sz="4400">
          <a:solidFill>
            <a:schemeClr val="tx1"/>
          </a:solidFill>
          <a:latin typeface="Arial" charset="0"/>
        </a:defRPr>
      </a:lvl6pPr>
      <a:lvl7pPr marL="914400" algn="l" rtl="0" eaLnBrk="1" fontAlgn="base" hangingPunct="1">
        <a:spcBef>
          <a:spcPct val="0"/>
        </a:spcBef>
        <a:spcAft>
          <a:spcPct val="0"/>
        </a:spcAft>
        <a:defRPr sz="4400">
          <a:solidFill>
            <a:schemeClr val="tx1"/>
          </a:solidFill>
          <a:latin typeface="Arial" charset="0"/>
        </a:defRPr>
      </a:lvl7pPr>
      <a:lvl8pPr marL="1371600" algn="l" rtl="0" eaLnBrk="1" fontAlgn="base" hangingPunct="1">
        <a:spcBef>
          <a:spcPct val="0"/>
        </a:spcBef>
        <a:spcAft>
          <a:spcPct val="0"/>
        </a:spcAft>
        <a:defRPr sz="4400">
          <a:solidFill>
            <a:schemeClr val="tx1"/>
          </a:solidFill>
          <a:latin typeface="Arial" charset="0"/>
        </a:defRPr>
      </a:lvl8pPr>
      <a:lvl9pPr marL="1828800" algn="l" rtl="0" eaLnBrk="1" fontAlgn="base" hangingPunct="1">
        <a:spcBef>
          <a:spcPct val="0"/>
        </a:spcBef>
        <a:spcAft>
          <a:spcPct val="0"/>
        </a:spcAft>
        <a:defRPr sz="4400">
          <a:solidFill>
            <a:schemeClr val="tx1"/>
          </a:solidFill>
          <a:latin typeface="Arial" charset="0"/>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en-US" dirty="0"/>
              <a:t>Lecture 20</a:t>
            </a:r>
          </a:p>
        </p:txBody>
      </p:sp>
      <p:sp>
        <p:nvSpPr>
          <p:cNvPr id="3075" name="Rectangle 3"/>
          <p:cNvSpPr>
            <a:spLocks noGrp="1" noChangeArrowheads="1"/>
          </p:cNvSpPr>
          <p:nvPr>
            <p:ph type="subTitle" idx="1"/>
          </p:nvPr>
        </p:nvSpPr>
        <p:spPr/>
        <p:txBody>
          <a:bodyPr/>
          <a:lstStyle/>
          <a:p>
            <a:pPr eaLnBrk="1" hangingPunct="1"/>
            <a:r>
              <a:rPr lang="en-US" dirty="0"/>
              <a:t>Binary and Hexadecimal numeral systems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a:t>Outcomes</a:t>
            </a:r>
          </a:p>
        </p:txBody>
      </p:sp>
      <p:sp>
        <p:nvSpPr>
          <p:cNvPr id="4099" name="Rectangle 3"/>
          <p:cNvSpPr>
            <a:spLocks noGrp="1" noChangeArrowheads="1"/>
          </p:cNvSpPr>
          <p:nvPr>
            <p:ph idx="1"/>
          </p:nvPr>
        </p:nvSpPr>
        <p:spPr/>
        <p:txBody>
          <a:bodyPr/>
          <a:lstStyle/>
          <a:p>
            <a:pPr eaLnBrk="1" hangingPunct="1"/>
            <a:r>
              <a:rPr lang="en-US" dirty="0"/>
              <a:t>Understand Binary numbers</a:t>
            </a:r>
          </a:p>
          <a:p>
            <a:pPr eaLnBrk="1" hangingPunct="1"/>
            <a:r>
              <a:rPr lang="en-US" dirty="0"/>
              <a:t>Understand Hexadecimal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sz="5000"/>
              <a:t>Binary</a:t>
            </a:r>
          </a:p>
        </p:txBody>
      </p:sp>
      <p:sp>
        <p:nvSpPr>
          <p:cNvPr id="12291" name="Rectangle 3"/>
          <p:cNvSpPr>
            <a:spLocks noGrp="1" noChangeArrowheads="1"/>
          </p:cNvSpPr>
          <p:nvPr>
            <p:ph type="body" idx="1"/>
          </p:nvPr>
        </p:nvSpPr>
        <p:spPr/>
        <p:txBody>
          <a:bodyPr/>
          <a:lstStyle/>
          <a:p>
            <a:pPr eaLnBrk="1" hangingPunct="1"/>
            <a:r>
              <a:rPr lang="en-US" sz="3600" dirty="0"/>
              <a:t>Binary numbers and arithmetic let you represent any amount you want using just two digits: 0 and 1. </a:t>
            </a:r>
          </a:p>
          <a:p>
            <a:pPr eaLnBrk="1" hangingPunct="1"/>
            <a:r>
              <a:rPr lang="en-US" sz="3600" dirty="0"/>
              <a:t>Binary numbers is the core for any computer system since they represent the only states possible:</a:t>
            </a:r>
          </a:p>
          <a:p>
            <a:pPr lvl="1" eaLnBrk="1" hangingPunct="1"/>
            <a:r>
              <a:rPr lang="en-US" dirty="0"/>
              <a:t>presence and </a:t>
            </a:r>
          </a:p>
          <a:p>
            <a:pPr lvl="1" eaLnBrk="1" hangingPunct="1"/>
            <a:r>
              <a:rPr lang="en-US" dirty="0"/>
              <a:t>absence of electrical charge/light</a:t>
            </a:r>
          </a:p>
        </p:txBody>
      </p:sp>
    </p:spTree>
    <p:extLst>
      <p:ext uri="{BB962C8B-B14F-4D97-AF65-F5344CB8AC3E}">
        <p14:creationId xmlns:p14="http://schemas.microsoft.com/office/powerpoint/2010/main" val="535305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sz="5000"/>
              <a:t>Conversion to decimal</a:t>
            </a:r>
          </a:p>
        </p:txBody>
      </p:sp>
      <p:sp>
        <p:nvSpPr>
          <p:cNvPr id="12291" name="Rectangle 3"/>
          <p:cNvSpPr>
            <a:spLocks noGrp="1" noChangeArrowheads="1"/>
          </p:cNvSpPr>
          <p:nvPr>
            <p:ph type="body" idx="1"/>
          </p:nvPr>
        </p:nvSpPr>
        <p:spPr/>
        <p:txBody>
          <a:bodyPr/>
          <a:lstStyle/>
          <a:p>
            <a:pPr eaLnBrk="1" hangingPunct="1">
              <a:defRPr/>
            </a:pPr>
            <a:r>
              <a:rPr lang="en-US" dirty="0"/>
              <a:t>Each digit in a binary number represents 2 in the corresponding power:</a:t>
            </a:r>
          </a:p>
          <a:p>
            <a:pPr marL="0" indent="0">
              <a:buFontTx/>
              <a:buNone/>
              <a:defRPr/>
            </a:pPr>
            <a:r>
              <a:rPr lang="en-US" dirty="0"/>
              <a:t>		2</a:t>
            </a:r>
            <a:r>
              <a:rPr lang="en-US" baseline="30000" dirty="0"/>
              <a:t>7 </a:t>
            </a:r>
            <a:r>
              <a:rPr lang="en-US" dirty="0"/>
              <a:t>2</a:t>
            </a:r>
            <a:r>
              <a:rPr lang="en-US" baseline="30000" dirty="0"/>
              <a:t>6 </a:t>
            </a:r>
            <a:r>
              <a:rPr lang="en-US" dirty="0"/>
              <a:t>2</a:t>
            </a:r>
            <a:r>
              <a:rPr lang="en-US" baseline="30000" dirty="0"/>
              <a:t>5 </a:t>
            </a:r>
            <a:r>
              <a:rPr lang="en-US" dirty="0"/>
              <a:t>2</a:t>
            </a:r>
            <a:r>
              <a:rPr lang="en-US" baseline="30000" dirty="0"/>
              <a:t>4 </a:t>
            </a:r>
            <a:r>
              <a:rPr lang="en-US" dirty="0"/>
              <a:t>2</a:t>
            </a:r>
            <a:r>
              <a:rPr lang="en-US" baseline="30000" dirty="0"/>
              <a:t>3 </a:t>
            </a:r>
            <a:r>
              <a:rPr lang="en-US" dirty="0"/>
              <a:t>2</a:t>
            </a:r>
            <a:r>
              <a:rPr lang="en-US" baseline="30000" dirty="0"/>
              <a:t>2 </a:t>
            </a:r>
            <a:r>
              <a:rPr lang="en-US" dirty="0"/>
              <a:t>2</a:t>
            </a:r>
            <a:r>
              <a:rPr lang="en-US" baseline="30000" dirty="0"/>
              <a:t>1 </a:t>
            </a:r>
            <a:r>
              <a:rPr lang="en-US" dirty="0"/>
              <a:t>2</a:t>
            </a:r>
            <a:r>
              <a:rPr lang="en-US" baseline="30000" dirty="0"/>
              <a:t>0</a:t>
            </a:r>
            <a:endParaRPr lang="en-US" sz="2000" dirty="0"/>
          </a:p>
          <a:p>
            <a:pPr marL="0" indent="0">
              <a:buFontTx/>
              <a:buNone/>
              <a:defRPr/>
            </a:pPr>
            <a:r>
              <a:rPr lang="en-US" sz="2000" baseline="30000" dirty="0">
                <a:sym typeface="Wingdings" panose="05000000000000000000" pitchFamily="2" charset="2"/>
              </a:rPr>
              <a:t>		</a:t>
            </a:r>
            <a:r>
              <a:rPr lang="en-US" sz="3800" baseline="30000" dirty="0">
                <a:sym typeface="Wingdings" panose="05000000000000000000" pitchFamily="2" charset="2"/>
              </a:rPr>
              <a:t></a:t>
            </a:r>
            <a:r>
              <a:rPr lang="en-US" sz="3800" baseline="30000" dirty="0"/>
              <a:t> </a:t>
            </a:r>
            <a:r>
              <a:rPr lang="en-US" sz="3800" baseline="30000" dirty="0">
                <a:sym typeface="Wingdings" panose="05000000000000000000" pitchFamily="2" charset="2"/>
              </a:rPr>
              <a:t></a:t>
            </a:r>
            <a:r>
              <a:rPr lang="en-US" sz="3800" baseline="30000" dirty="0"/>
              <a:t>  </a:t>
            </a:r>
            <a:r>
              <a:rPr lang="en-US" sz="3800" baseline="30000" dirty="0">
                <a:sym typeface="Wingdings" panose="05000000000000000000" pitchFamily="2" charset="2"/>
              </a:rPr>
              <a:t></a:t>
            </a:r>
            <a:r>
              <a:rPr lang="en-US" sz="3800" baseline="30000" dirty="0"/>
              <a:t>  </a:t>
            </a:r>
            <a:r>
              <a:rPr lang="en-US" sz="3800" baseline="30000" dirty="0">
                <a:sym typeface="Wingdings" panose="05000000000000000000" pitchFamily="2" charset="2"/>
              </a:rPr>
              <a:t></a:t>
            </a:r>
            <a:r>
              <a:rPr lang="en-US" sz="3800" baseline="30000" dirty="0"/>
              <a:t>  </a:t>
            </a:r>
            <a:r>
              <a:rPr lang="en-US" sz="3800" baseline="30000" dirty="0">
                <a:sym typeface="Wingdings" panose="05000000000000000000" pitchFamily="2" charset="2"/>
              </a:rPr>
              <a:t></a:t>
            </a:r>
            <a:r>
              <a:rPr lang="en-US" sz="3800" baseline="30000" dirty="0"/>
              <a:t> </a:t>
            </a:r>
            <a:r>
              <a:rPr lang="en-US" sz="3800" baseline="30000" dirty="0">
                <a:sym typeface="Wingdings" panose="05000000000000000000" pitchFamily="2" charset="2"/>
              </a:rPr>
              <a:t></a:t>
            </a:r>
            <a:r>
              <a:rPr lang="en-US" sz="3800" baseline="30000" dirty="0"/>
              <a:t>  </a:t>
            </a:r>
            <a:r>
              <a:rPr lang="en-US" sz="3800" baseline="30000" dirty="0">
                <a:sym typeface="Wingdings" panose="05000000000000000000" pitchFamily="2" charset="2"/>
              </a:rPr>
              <a:t></a:t>
            </a:r>
            <a:r>
              <a:rPr lang="en-US" sz="3800" baseline="30000" dirty="0"/>
              <a:t>  </a:t>
            </a:r>
            <a:r>
              <a:rPr lang="en-US" sz="3800" baseline="30000" dirty="0">
                <a:sym typeface="Wingdings" panose="05000000000000000000" pitchFamily="2" charset="2"/>
              </a:rPr>
              <a:t></a:t>
            </a:r>
            <a:endParaRPr lang="en-US" sz="3800" dirty="0">
              <a:sym typeface="Wingdings" panose="05000000000000000000" pitchFamily="2" charset="2"/>
            </a:endParaRPr>
          </a:p>
          <a:p>
            <a:pPr marL="0" indent="0">
              <a:buFontTx/>
              <a:buNone/>
              <a:defRPr/>
            </a:pPr>
            <a:r>
              <a:rPr lang="en-US" sz="1200" dirty="0">
                <a:sym typeface="Wingdings" panose="05000000000000000000" pitchFamily="2" charset="2"/>
              </a:rPr>
              <a:t>		</a:t>
            </a:r>
            <a:r>
              <a:rPr lang="en-US" sz="6000" dirty="0"/>
              <a:t>11111111</a:t>
            </a:r>
            <a:r>
              <a:rPr lang="en-US" sz="6000" baseline="-25000" dirty="0"/>
              <a:t>2</a:t>
            </a:r>
            <a:endParaRPr lang="en-US" sz="1400" dirty="0"/>
          </a:p>
          <a:p>
            <a:pPr eaLnBrk="1" hangingPunct="1">
              <a:defRPr/>
            </a:pPr>
            <a:r>
              <a:rPr lang="en-US" dirty="0"/>
              <a:t>In order to convert a binary number to decimal you just have to sum up the numbers </a:t>
            </a:r>
          </a:p>
        </p:txBody>
      </p:sp>
    </p:spTree>
    <p:extLst>
      <p:ext uri="{BB962C8B-B14F-4D97-AF65-F5344CB8AC3E}">
        <p14:creationId xmlns:p14="http://schemas.microsoft.com/office/powerpoint/2010/main" val="3047369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291">
                                            <p:txEl>
                                              <p:pRg st="1" end="1"/>
                                            </p:txEl>
                                          </p:spTgt>
                                        </p:tgtEl>
                                        <p:attrNameLst>
                                          <p:attrName>style.visibility</p:attrName>
                                        </p:attrNameLst>
                                      </p:cBhvr>
                                      <p:to>
                                        <p:strVal val="visible"/>
                                      </p:to>
                                    </p:set>
                                    <p:animEffect transition="in" filter="fade">
                                      <p:cBhvr>
                                        <p:cTn id="7" dur="500"/>
                                        <p:tgtEl>
                                          <p:spTgt spid="1229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291">
                                            <p:txEl>
                                              <p:pRg st="2" end="2"/>
                                            </p:txEl>
                                          </p:spTgt>
                                        </p:tgtEl>
                                        <p:attrNameLst>
                                          <p:attrName>style.visibility</p:attrName>
                                        </p:attrNameLst>
                                      </p:cBhvr>
                                      <p:to>
                                        <p:strVal val="visible"/>
                                      </p:to>
                                    </p:set>
                                    <p:animEffect transition="in" filter="fade">
                                      <p:cBhvr>
                                        <p:cTn id="12" dur="500"/>
                                        <p:tgtEl>
                                          <p:spTgt spid="12291">
                                            <p:txEl>
                                              <p:pRg st="2" end="2"/>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2291">
                                            <p:txEl>
                                              <p:pRg st="3" end="3"/>
                                            </p:txEl>
                                          </p:spTgt>
                                        </p:tgtEl>
                                        <p:attrNameLst>
                                          <p:attrName>style.visibility</p:attrName>
                                        </p:attrNameLst>
                                      </p:cBhvr>
                                      <p:to>
                                        <p:strVal val="visible"/>
                                      </p:to>
                                    </p:set>
                                    <p:animEffect transition="in" filter="fade">
                                      <p:cBhvr>
                                        <p:cTn id="16" dur="500"/>
                                        <p:tgtEl>
                                          <p:spTgt spid="12291">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291">
                                            <p:txEl>
                                              <p:pRg st="4" end="4"/>
                                            </p:txEl>
                                          </p:spTgt>
                                        </p:tgtEl>
                                        <p:attrNameLst>
                                          <p:attrName>style.visibility</p:attrName>
                                        </p:attrNameLst>
                                      </p:cBhvr>
                                      <p:to>
                                        <p:strVal val="visible"/>
                                      </p:to>
                                    </p:set>
                                    <p:animEffect transition="in" filter="fade">
                                      <p:cBhvr>
                                        <p:cTn id="21" dur="500"/>
                                        <p:tgtEl>
                                          <p:spTgt spid="1229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sz="5000"/>
              <a:t>Conversion to decimal</a:t>
            </a:r>
          </a:p>
        </p:txBody>
      </p:sp>
      <p:sp>
        <p:nvSpPr>
          <p:cNvPr id="12291" name="Rectangle 3"/>
          <p:cNvSpPr>
            <a:spLocks noGrp="1" noChangeArrowheads="1"/>
          </p:cNvSpPr>
          <p:nvPr>
            <p:ph type="body" idx="1"/>
          </p:nvPr>
        </p:nvSpPr>
        <p:spPr>
          <a:xfrm>
            <a:off x="457200" y="1600200"/>
            <a:ext cx="8458200" cy="4525963"/>
          </a:xfrm>
        </p:spPr>
        <p:txBody>
          <a:bodyPr/>
          <a:lstStyle/>
          <a:p>
            <a:pPr marL="0" indent="0" eaLnBrk="1" hangingPunct="1">
              <a:buFontTx/>
              <a:buNone/>
              <a:defRPr/>
            </a:pPr>
            <a:r>
              <a:rPr lang="en-US" sz="2800" dirty="0"/>
              <a:t>11111111</a:t>
            </a:r>
            <a:r>
              <a:rPr lang="en-US" sz="2800" baseline="-25000" dirty="0"/>
              <a:t>2</a:t>
            </a:r>
            <a:r>
              <a:rPr lang="en-US" sz="2800" dirty="0"/>
              <a:t> = </a:t>
            </a:r>
          </a:p>
          <a:p>
            <a:pPr marL="0" indent="0" eaLnBrk="1" hangingPunct="1">
              <a:buFontTx/>
              <a:buNone/>
              <a:defRPr/>
            </a:pPr>
            <a:r>
              <a:rPr lang="en-US" sz="2800" dirty="0"/>
              <a:t>1*2</a:t>
            </a:r>
            <a:r>
              <a:rPr lang="en-US" sz="2800" baseline="30000" dirty="0"/>
              <a:t>7</a:t>
            </a:r>
            <a:r>
              <a:rPr lang="en-US" sz="2800" dirty="0"/>
              <a:t> +</a:t>
            </a:r>
            <a:r>
              <a:rPr lang="en-US" sz="2800" baseline="30000" dirty="0"/>
              <a:t> </a:t>
            </a:r>
            <a:r>
              <a:rPr lang="en-US" sz="2800" dirty="0"/>
              <a:t>1*2</a:t>
            </a:r>
            <a:r>
              <a:rPr lang="en-US" sz="2800" baseline="30000" dirty="0"/>
              <a:t>6</a:t>
            </a:r>
            <a:r>
              <a:rPr lang="en-US" sz="2800" dirty="0"/>
              <a:t> +</a:t>
            </a:r>
            <a:r>
              <a:rPr lang="en-US" sz="2800" baseline="30000" dirty="0"/>
              <a:t> </a:t>
            </a:r>
            <a:r>
              <a:rPr lang="en-US" sz="2800" dirty="0"/>
              <a:t>1*2</a:t>
            </a:r>
            <a:r>
              <a:rPr lang="en-US" sz="2800" baseline="30000" dirty="0"/>
              <a:t>5</a:t>
            </a:r>
            <a:r>
              <a:rPr lang="en-US" sz="2800" dirty="0"/>
              <a:t> +</a:t>
            </a:r>
            <a:r>
              <a:rPr lang="en-US" sz="2800" baseline="30000" dirty="0"/>
              <a:t> </a:t>
            </a:r>
            <a:r>
              <a:rPr lang="en-US" sz="2800" dirty="0"/>
              <a:t>1*2</a:t>
            </a:r>
            <a:r>
              <a:rPr lang="en-US" sz="2800" baseline="30000" dirty="0"/>
              <a:t>4</a:t>
            </a:r>
            <a:r>
              <a:rPr lang="en-US" sz="2800" dirty="0"/>
              <a:t> +</a:t>
            </a:r>
            <a:r>
              <a:rPr lang="en-US" sz="2800" baseline="30000" dirty="0"/>
              <a:t> </a:t>
            </a:r>
            <a:r>
              <a:rPr lang="en-US" sz="2800" dirty="0"/>
              <a:t>1*2</a:t>
            </a:r>
            <a:r>
              <a:rPr lang="en-US" sz="2800" baseline="30000" dirty="0"/>
              <a:t>3</a:t>
            </a:r>
            <a:r>
              <a:rPr lang="en-US" sz="2800" dirty="0"/>
              <a:t> +</a:t>
            </a:r>
            <a:r>
              <a:rPr lang="en-US" sz="2800" baseline="30000" dirty="0"/>
              <a:t> </a:t>
            </a:r>
            <a:r>
              <a:rPr lang="en-US" sz="2800" dirty="0"/>
              <a:t>1*2</a:t>
            </a:r>
            <a:r>
              <a:rPr lang="en-US" sz="2800" baseline="30000" dirty="0"/>
              <a:t>2</a:t>
            </a:r>
            <a:r>
              <a:rPr lang="en-US" sz="2800" dirty="0"/>
              <a:t> +</a:t>
            </a:r>
            <a:r>
              <a:rPr lang="en-US" sz="2800" baseline="30000" dirty="0"/>
              <a:t> </a:t>
            </a:r>
            <a:r>
              <a:rPr lang="en-US" sz="2800" dirty="0"/>
              <a:t>1*2</a:t>
            </a:r>
            <a:r>
              <a:rPr lang="en-US" sz="2800" baseline="30000" dirty="0"/>
              <a:t>1</a:t>
            </a:r>
            <a:r>
              <a:rPr lang="en-US" sz="2800" dirty="0"/>
              <a:t> +</a:t>
            </a:r>
            <a:r>
              <a:rPr lang="en-US" sz="2800" baseline="30000" dirty="0"/>
              <a:t> </a:t>
            </a:r>
            <a:r>
              <a:rPr lang="en-US" sz="2800" dirty="0"/>
              <a:t>1*2</a:t>
            </a:r>
            <a:r>
              <a:rPr lang="en-US" sz="2800" baseline="30000" dirty="0"/>
              <a:t>0</a:t>
            </a:r>
            <a:r>
              <a:rPr lang="en-US" sz="1800" dirty="0"/>
              <a:t> </a:t>
            </a:r>
            <a:r>
              <a:rPr lang="en-US" sz="2800" dirty="0"/>
              <a:t>= </a:t>
            </a:r>
          </a:p>
          <a:p>
            <a:pPr marL="0" indent="0" eaLnBrk="1" hangingPunct="1">
              <a:buFontTx/>
              <a:buNone/>
              <a:defRPr/>
            </a:pPr>
            <a:r>
              <a:rPr lang="en-US" sz="2800" dirty="0"/>
              <a:t>128 + 64 + 32 + 16 + 8 + 4 + 2 + 1 = 255</a:t>
            </a:r>
          </a:p>
          <a:p>
            <a:pPr eaLnBrk="1" hangingPunct="1">
              <a:defRPr/>
            </a:pPr>
            <a:endParaRPr lang="en-US" dirty="0"/>
          </a:p>
          <a:p>
            <a:pPr eaLnBrk="1" hangingPunct="1">
              <a:defRPr/>
            </a:pPr>
            <a:r>
              <a:rPr lang="en-US" dirty="0"/>
              <a:t>If a number is 0, just ignore corresponding power of two as 0*2</a:t>
            </a:r>
            <a:r>
              <a:rPr lang="en-US" baseline="30000" dirty="0"/>
              <a:t>N</a:t>
            </a:r>
            <a:r>
              <a:rPr lang="en-US" dirty="0"/>
              <a:t> = 0</a:t>
            </a:r>
          </a:p>
          <a:p>
            <a:pPr marL="0" indent="0" eaLnBrk="1" hangingPunct="1">
              <a:buFontTx/>
              <a:buNone/>
              <a:defRPr/>
            </a:pPr>
            <a:r>
              <a:rPr lang="en-US" dirty="0"/>
              <a:t>1010</a:t>
            </a:r>
            <a:r>
              <a:rPr lang="en-US" baseline="-25000" dirty="0"/>
              <a:t>2</a:t>
            </a:r>
            <a:r>
              <a:rPr lang="en-US" dirty="0"/>
              <a:t> = </a:t>
            </a:r>
          </a:p>
          <a:p>
            <a:pPr marL="0" indent="0" eaLnBrk="1" hangingPunct="1">
              <a:buFontTx/>
              <a:buNone/>
              <a:defRPr/>
            </a:pPr>
            <a:r>
              <a:rPr lang="en-US" dirty="0"/>
              <a:t>1*2</a:t>
            </a:r>
            <a:r>
              <a:rPr lang="en-US" baseline="30000" dirty="0"/>
              <a:t>3</a:t>
            </a:r>
            <a:r>
              <a:rPr lang="en-US" dirty="0"/>
              <a:t> +</a:t>
            </a:r>
            <a:r>
              <a:rPr lang="en-US" baseline="30000" dirty="0"/>
              <a:t> </a:t>
            </a:r>
            <a:r>
              <a:rPr lang="en-US" dirty="0"/>
              <a:t>0*2</a:t>
            </a:r>
            <a:r>
              <a:rPr lang="en-US" baseline="30000" dirty="0"/>
              <a:t>2</a:t>
            </a:r>
            <a:r>
              <a:rPr lang="en-US" dirty="0"/>
              <a:t> +</a:t>
            </a:r>
            <a:r>
              <a:rPr lang="en-US" baseline="30000" dirty="0"/>
              <a:t> </a:t>
            </a:r>
            <a:r>
              <a:rPr lang="en-US" dirty="0"/>
              <a:t>1*2</a:t>
            </a:r>
            <a:r>
              <a:rPr lang="en-US" baseline="30000" dirty="0"/>
              <a:t>1</a:t>
            </a:r>
            <a:r>
              <a:rPr lang="en-US" dirty="0"/>
              <a:t> +</a:t>
            </a:r>
            <a:r>
              <a:rPr lang="en-US" baseline="30000" dirty="0"/>
              <a:t> </a:t>
            </a:r>
            <a:r>
              <a:rPr lang="en-US" dirty="0"/>
              <a:t>0*2</a:t>
            </a:r>
            <a:r>
              <a:rPr lang="en-US" baseline="30000" dirty="0"/>
              <a:t>0</a:t>
            </a:r>
            <a:r>
              <a:rPr lang="en-US" dirty="0"/>
              <a:t> = 8 + 0 + 2 + 0 = 10</a:t>
            </a:r>
          </a:p>
          <a:p>
            <a:pPr eaLnBrk="1" hangingPunct="1">
              <a:defRPr/>
            </a:pPr>
            <a:endParaRPr lang="en-US" dirty="0"/>
          </a:p>
        </p:txBody>
      </p:sp>
    </p:spTree>
    <p:extLst>
      <p:ext uri="{BB962C8B-B14F-4D97-AF65-F5344CB8AC3E}">
        <p14:creationId xmlns:p14="http://schemas.microsoft.com/office/powerpoint/2010/main" val="3230759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291">
                                            <p:txEl>
                                              <p:pRg st="1" end="1"/>
                                            </p:txEl>
                                          </p:spTgt>
                                        </p:tgtEl>
                                        <p:attrNameLst>
                                          <p:attrName>style.visibility</p:attrName>
                                        </p:attrNameLst>
                                      </p:cBhvr>
                                      <p:to>
                                        <p:strVal val="visible"/>
                                      </p:to>
                                    </p:set>
                                    <p:animEffect transition="in" filter="fade">
                                      <p:cBhvr>
                                        <p:cTn id="7" dur="500"/>
                                        <p:tgtEl>
                                          <p:spTgt spid="1229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291">
                                            <p:txEl>
                                              <p:pRg st="2" end="2"/>
                                            </p:txEl>
                                          </p:spTgt>
                                        </p:tgtEl>
                                        <p:attrNameLst>
                                          <p:attrName>style.visibility</p:attrName>
                                        </p:attrNameLst>
                                      </p:cBhvr>
                                      <p:to>
                                        <p:strVal val="visible"/>
                                      </p:to>
                                    </p:set>
                                    <p:animEffect transition="in" filter="fade">
                                      <p:cBhvr>
                                        <p:cTn id="12" dur="500"/>
                                        <p:tgtEl>
                                          <p:spTgt spid="1229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291">
                                            <p:txEl>
                                              <p:pRg st="4" end="4"/>
                                            </p:txEl>
                                          </p:spTgt>
                                        </p:tgtEl>
                                        <p:attrNameLst>
                                          <p:attrName>style.visibility</p:attrName>
                                        </p:attrNameLst>
                                      </p:cBhvr>
                                      <p:to>
                                        <p:strVal val="visible"/>
                                      </p:to>
                                    </p:set>
                                    <p:animEffect transition="in" filter="fade">
                                      <p:cBhvr>
                                        <p:cTn id="17" dur="500"/>
                                        <p:tgtEl>
                                          <p:spTgt spid="12291">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291">
                                            <p:txEl>
                                              <p:pRg st="5" end="5"/>
                                            </p:txEl>
                                          </p:spTgt>
                                        </p:tgtEl>
                                        <p:attrNameLst>
                                          <p:attrName>style.visibility</p:attrName>
                                        </p:attrNameLst>
                                      </p:cBhvr>
                                      <p:to>
                                        <p:strVal val="visible"/>
                                      </p:to>
                                    </p:set>
                                    <p:animEffect transition="in" filter="fade">
                                      <p:cBhvr>
                                        <p:cTn id="22" dur="500"/>
                                        <p:tgtEl>
                                          <p:spTgt spid="12291">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291">
                                            <p:txEl>
                                              <p:pRg st="6" end="6"/>
                                            </p:txEl>
                                          </p:spTgt>
                                        </p:tgtEl>
                                        <p:attrNameLst>
                                          <p:attrName>style.visibility</p:attrName>
                                        </p:attrNameLst>
                                      </p:cBhvr>
                                      <p:to>
                                        <p:strVal val="visible"/>
                                      </p:to>
                                    </p:set>
                                    <p:animEffect transition="in" filter="fade">
                                      <p:cBhvr>
                                        <p:cTn id="27" dur="500"/>
                                        <p:tgtEl>
                                          <p:spTgt spid="1229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sz="5000" dirty="0"/>
              <a:t>Addition</a:t>
            </a:r>
          </a:p>
        </p:txBody>
      </p:sp>
      <p:sp>
        <p:nvSpPr>
          <p:cNvPr id="12291" name="Rectangle 3"/>
          <p:cNvSpPr>
            <a:spLocks noGrp="1" noChangeArrowheads="1"/>
          </p:cNvSpPr>
          <p:nvPr>
            <p:ph type="body" idx="1"/>
          </p:nvPr>
        </p:nvSpPr>
        <p:spPr/>
        <p:txBody>
          <a:bodyPr/>
          <a:lstStyle/>
          <a:p>
            <a:pPr eaLnBrk="1" hangingPunct="1"/>
            <a:r>
              <a:rPr lang="en-US" sz="3600" b="1" dirty="0"/>
              <a:t>0 + 0 = 0 </a:t>
            </a:r>
          </a:p>
          <a:p>
            <a:pPr eaLnBrk="1" hangingPunct="1"/>
            <a:r>
              <a:rPr lang="en-US" sz="3600" b="1" dirty="0"/>
              <a:t>0 + 1 = 1 </a:t>
            </a:r>
          </a:p>
          <a:p>
            <a:pPr eaLnBrk="1" hangingPunct="1"/>
            <a:r>
              <a:rPr lang="en-US" sz="3600" b="1" dirty="0"/>
              <a:t>1 + 0 = 1 </a:t>
            </a:r>
          </a:p>
          <a:p>
            <a:pPr eaLnBrk="1" hangingPunct="1"/>
            <a:r>
              <a:rPr lang="en-US" sz="3600" b="1" dirty="0"/>
              <a:t>1 + 1 = 0, and carry 1 to the next more significant bit </a:t>
            </a:r>
          </a:p>
        </p:txBody>
      </p:sp>
    </p:spTree>
    <p:extLst>
      <p:ext uri="{BB962C8B-B14F-4D97-AF65-F5344CB8AC3E}">
        <p14:creationId xmlns:p14="http://schemas.microsoft.com/office/powerpoint/2010/main" val="3508210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sz="5000" dirty="0"/>
              <a:t>Addition</a:t>
            </a:r>
          </a:p>
        </p:txBody>
      </p:sp>
      <p:sp>
        <p:nvSpPr>
          <p:cNvPr id="15363" name="Rectangle 6"/>
          <p:cNvSpPr>
            <a:spLocks noGrp="1" noChangeArrowheads="1"/>
          </p:cNvSpPr>
          <p:nvPr>
            <p:ph idx="1"/>
          </p:nvPr>
        </p:nvSpPr>
        <p:spPr/>
        <p:txBody>
          <a:bodyPr/>
          <a:lstStyle/>
          <a:p>
            <a:pPr marL="0" indent="0" algn="l" eaLnBrk="1" hangingPunct="1">
              <a:buNone/>
            </a:pPr>
            <a:r>
              <a:rPr lang="en-US" sz="5000" b="1" dirty="0"/>
              <a:t>		</a:t>
            </a:r>
            <a:r>
              <a:rPr lang="en-US" sz="2400" b="1" dirty="0"/>
              <a:t>11101	</a:t>
            </a:r>
          </a:p>
          <a:p>
            <a:pPr marL="0" indent="0" algn="l" eaLnBrk="1" hangingPunct="1">
              <a:buNone/>
            </a:pPr>
            <a:r>
              <a:rPr lang="en-US" sz="2400" b="1" dirty="0"/>
              <a:t>	  </a:t>
            </a:r>
            <a:r>
              <a:rPr lang="en-US" sz="2400" b="1" u="sng" dirty="0"/>
              <a:t>       +  1001</a:t>
            </a:r>
          </a:p>
          <a:p>
            <a:pPr marL="0" indent="0" algn="l" eaLnBrk="1" hangingPunct="1">
              <a:buNone/>
            </a:pPr>
            <a:r>
              <a:rPr lang="en-US" sz="2400" b="1" dirty="0"/>
              <a:t>	</a:t>
            </a:r>
          </a:p>
        </p:txBody>
      </p:sp>
      <p:sp>
        <p:nvSpPr>
          <p:cNvPr id="2" name="TextBox 1"/>
          <p:cNvSpPr txBox="1"/>
          <p:nvPr/>
        </p:nvSpPr>
        <p:spPr>
          <a:xfrm>
            <a:off x="2971800" y="2931197"/>
            <a:ext cx="304800" cy="381541"/>
          </a:xfrm>
          <a:prstGeom prst="rect">
            <a:avLst/>
          </a:prstGeom>
          <a:noFill/>
        </p:spPr>
        <p:txBody>
          <a:bodyPr wrap="square" rtlCol="0">
            <a:spAutoFit/>
          </a:bodyPr>
          <a:lstStyle/>
          <a:p>
            <a:r>
              <a:rPr lang="en-US" sz="2400" b="1" dirty="0">
                <a:latin typeface="+mn-lt"/>
              </a:rPr>
              <a:t>0</a:t>
            </a:r>
          </a:p>
        </p:txBody>
      </p:sp>
      <p:sp>
        <p:nvSpPr>
          <p:cNvPr id="5" name="TextBox 4"/>
          <p:cNvSpPr txBox="1"/>
          <p:nvPr/>
        </p:nvSpPr>
        <p:spPr>
          <a:xfrm>
            <a:off x="2819400" y="2931197"/>
            <a:ext cx="304800" cy="381541"/>
          </a:xfrm>
          <a:prstGeom prst="rect">
            <a:avLst/>
          </a:prstGeom>
          <a:noFill/>
        </p:spPr>
        <p:txBody>
          <a:bodyPr wrap="square" rtlCol="0">
            <a:spAutoFit/>
          </a:bodyPr>
          <a:lstStyle/>
          <a:p>
            <a:r>
              <a:rPr lang="en-US" sz="2400" b="1" dirty="0">
                <a:latin typeface="+mn-lt"/>
              </a:rPr>
              <a:t>1</a:t>
            </a:r>
          </a:p>
        </p:txBody>
      </p:sp>
      <p:sp>
        <p:nvSpPr>
          <p:cNvPr id="6" name="TextBox 5"/>
          <p:cNvSpPr txBox="1"/>
          <p:nvPr/>
        </p:nvSpPr>
        <p:spPr>
          <a:xfrm>
            <a:off x="2475780" y="2926672"/>
            <a:ext cx="304800" cy="381541"/>
          </a:xfrm>
          <a:prstGeom prst="rect">
            <a:avLst/>
          </a:prstGeom>
          <a:noFill/>
        </p:spPr>
        <p:txBody>
          <a:bodyPr wrap="square" rtlCol="0">
            <a:spAutoFit/>
          </a:bodyPr>
          <a:lstStyle/>
          <a:p>
            <a:r>
              <a:rPr lang="en-US" sz="2400" b="1" dirty="0">
                <a:latin typeface="+mn-lt"/>
              </a:rPr>
              <a:t>0</a:t>
            </a:r>
          </a:p>
        </p:txBody>
      </p:sp>
      <p:sp>
        <p:nvSpPr>
          <p:cNvPr id="7" name="TextBox 6"/>
          <p:cNvSpPr txBox="1"/>
          <p:nvPr/>
        </p:nvSpPr>
        <p:spPr>
          <a:xfrm>
            <a:off x="2306128" y="2926672"/>
            <a:ext cx="304800" cy="381541"/>
          </a:xfrm>
          <a:prstGeom prst="rect">
            <a:avLst/>
          </a:prstGeom>
          <a:noFill/>
        </p:spPr>
        <p:txBody>
          <a:bodyPr wrap="square" rtlCol="0">
            <a:spAutoFit/>
          </a:bodyPr>
          <a:lstStyle/>
          <a:p>
            <a:r>
              <a:rPr lang="en-US" sz="2400" b="1" dirty="0">
                <a:latin typeface="+mn-lt"/>
              </a:rPr>
              <a:t>0</a:t>
            </a:r>
          </a:p>
        </p:txBody>
      </p:sp>
      <p:sp>
        <p:nvSpPr>
          <p:cNvPr id="8" name="TextBox 7"/>
          <p:cNvSpPr txBox="1"/>
          <p:nvPr/>
        </p:nvSpPr>
        <p:spPr>
          <a:xfrm>
            <a:off x="2139710" y="2926672"/>
            <a:ext cx="304800" cy="381541"/>
          </a:xfrm>
          <a:prstGeom prst="rect">
            <a:avLst/>
          </a:prstGeom>
          <a:noFill/>
        </p:spPr>
        <p:txBody>
          <a:bodyPr wrap="square" rtlCol="0">
            <a:spAutoFit/>
          </a:bodyPr>
          <a:lstStyle/>
          <a:p>
            <a:r>
              <a:rPr lang="en-US" sz="2400" b="1" dirty="0">
                <a:latin typeface="+mn-lt"/>
              </a:rPr>
              <a:t>1</a:t>
            </a:r>
          </a:p>
        </p:txBody>
      </p:sp>
      <p:sp>
        <p:nvSpPr>
          <p:cNvPr id="9" name="TextBox 8"/>
          <p:cNvSpPr txBox="1"/>
          <p:nvPr/>
        </p:nvSpPr>
        <p:spPr>
          <a:xfrm>
            <a:off x="2638964" y="2926672"/>
            <a:ext cx="304800" cy="381541"/>
          </a:xfrm>
          <a:prstGeom prst="rect">
            <a:avLst/>
          </a:prstGeom>
          <a:noFill/>
        </p:spPr>
        <p:txBody>
          <a:bodyPr wrap="square" rtlCol="0">
            <a:spAutoFit/>
          </a:bodyPr>
          <a:lstStyle/>
          <a:p>
            <a:r>
              <a:rPr lang="en-US" sz="2400" b="1" dirty="0">
                <a:latin typeface="+mn-lt"/>
              </a:rPr>
              <a:t>1</a:t>
            </a:r>
          </a:p>
        </p:txBody>
      </p:sp>
    </p:spTree>
    <p:extLst>
      <p:ext uri="{BB962C8B-B14F-4D97-AF65-F5344CB8AC3E}">
        <p14:creationId xmlns:p14="http://schemas.microsoft.com/office/powerpoint/2010/main" val="1998421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P spid="8"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sz="5000" dirty="0"/>
              <a:t>Subtraction</a:t>
            </a:r>
          </a:p>
        </p:txBody>
      </p:sp>
      <p:sp>
        <p:nvSpPr>
          <p:cNvPr id="12291" name="Rectangle 3"/>
          <p:cNvSpPr>
            <a:spLocks noGrp="1" noChangeArrowheads="1"/>
          </p:cNvSpPr>
          <p:nvPr>
            <p:ph type="body" idx="1"/>
          </p:nvPr>
        </p:nvSpPr>
        <p:spPr/>
        <p:txBody>
          <a:bodyPr/>
          <a:lstStyle/>
          <a:p>
            <a:pPr eaLnBrk="1" hangingPunct="1"/>
            <a:r>
              <a:rPr lang="en-US" sz="3600" b="1" dirty="0"/>
              <a:t>0 - 0 = 0 </a:t>
            </a:r>
          </a:p>
          <a:p>
            <a:pPr eaLnBrk="1" hangingPunct="1"/>
            <a:r>
              <a:rPr lang="en-US" sz="3600" b="1" dirty="0"/>
              <a:t>0 - 1 = 1, and borrow 1 from the next more significant bit </a:t>
            </a:r>
          </a:p>
          <a:p>
            <a:pPr eaLnBrk="1" hangingPunct="1"/>
            <a:r>
              <a:rPr lang="en-US" sz="3600" b="1" dirty="0"/>
              <a:t>1 - 0 = 1 </a:t>
            </a:r>
          </a:p>
          <a:p>
            <a:pPr eaLnBrk="1" hangingPunct="1"/>
            <a:r>
              <a:rPr lang="en-US" sz="3600" b="1" dirty="0"/>
              <a:t>1 - 1 = 0</a:t>
            </a:r>
          </a:p>
        </p:txBody>
      </p:sp>
    </p:spTree>
    <p:extLst>
      <p:ext uri="{BB962C8B-B14F-4D97-AF65-F5344CB8AC3E}">
        <p14:creationId xmlns:p14="http://schemas.microsoft.com/office/powerpoint/2010/main" val="1083098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sz="5000" dirty="0"/>
              <a:t>Subtraction</a:t>
            </a:r>
          </a:p>
        </p:txBody>
      </p:sp>
      <p:sp>
        <p:nvSpPr>
          <p:cNvPr id="15363" name="Rectangle 6"/>
          <p:cNvSpPr>
            <a:spLocks noGrp="1" noChangeArrowheads="1"/>
          </p:cNvSpPr>
          <p:nvPr>
            <p:ph idx="1"/>
          </p:nvPr>
        </p:nvSpPr>
        <p:spPr/>
        <p:txBody>
          <a:bodyPr/>
          <a:lstStyle/>
          <a:p>
            <a:pPr marL="0" indent="0" algn="l" eaLnBrk="1" hangingPunct="1">
              <a:buNone/>
            </a:pPr>
            <a:r>
              <a:rPr lang="en-US" sz="5000" b="1" dirty="0"/>
              <a:t>		</a:t>
            </a:r>
            <a:r>
              <a:rPr lang="en-US" sz="2400" b="1" dirty="0"/>
              <a:t>11101	</a:t>
            </a:r>
          </a:p>
          <a:p>
            <a:pPr marL="0" indent="0" algn="l" eaLnBrk="1" hangingPunct="1">
              <a:buNone/>
            </a:pPr>
            <a:r>
              <a:rPr lang="en-US" sz="2400" b="1" dirty="0"/>
              <a:t>	  </a:t>
            </a:r>
            <a:r>
              <a:rPr lang="en-US" sz="2400" b="1" u="sng" dirty="0"/>
              <a:t>       -   1011</a:t>
            </a:r>
          </a:p>
          <a:p>
            <a:pPr marL="0" indent="0" algn="l" eaLnBrk="1" hangingPunct="1">
              <a:buNone/>
            </a:pPr>
            <a:r>
              <a:rPr lang="en-US" sz="2400" b="1" dirty="0"/>
              <a:t>	</a:t>
            </a:r>
          </a:p>
        </p:txBody>
      </p:sp>
      <p:sp>
        <p:nvSpPr>
          <p:cNvPr id="2" name="TextBox 1"/>
          <p:cNvSpPr txBox="1"/>
          <p:nvPr/>
        </p:nvSpPr>
        <p:spPr>
          <a:xfrm>
            <a:off x="2971800" y="2944251"/>
            <a:ext cx="304800" cy="507832"/>
          </a:xfrm>
          <a:prstGeom prst="rect">
            <a:avLst/>
          </a:prstGeom>
          <a:noFill/>
        </p:spPr>
        <p:txBody>
          <a:bodyPr wrap="square" rtlCol="0">
            <a:spAutoFit/>
          </a:bodyPr>
          <a:lstStyle/>
          <a:p>
            <a:r>
              <a:rPr lang="en-US" sz="2400" b="1" dirty="0">
                <a:latin typeface="+mn-lt"/>
              </a:rPr>
              <a:t>0</a:t>
            </a:r>
          </a:p>
        </p:txBody>
      </p:sp>
      <p:sp>
        <p:nvSpPr>
          <p:cNvPr id="5" name="TextBox 4"/>
          <p:cNvSpPr txBox="1"/>
          <p:nvPr/>
        </p:nvSpPr>
        <p:spPr>
          <a:xfrm>
            <a:off x="2819400" y="2944251"/>
            <a:ext cx="304800" cy="507832"/>
          </a:xfrm>
          <a:prstGeom prst="rect">
            <a:avLst/>
          </a:prstGeom>
          <a:noFill/>
        </p:spPr>
        <p:txBody>
          <a:bodyPr wrap="square" rtlCol="0">
            <a:spAutoFit/>
          </a:bodyPr>
          <a:lstStyle/>
          <a:p>
            <a:r>
              <a:rPr lang="en-US" sz="2400" b="1" dirty="0">
                <a:latin typeface="+mn-lt"/>
              </a:rPr>
              <a:t>1</a:t>
            </a:r>
          </a:p>
        </p:txBody>
      </p:sp>
      <p:sp>
        <p:nvSpPr>
          <p:cNvPr id="6" name="TextBox 5"/>
          <p:cNvSpPr txBox="1"/>
          <p:nvPr/>
        </p:nvSpPr>
        <p:spPr>
          <a:xfrm>
            <a:off x="2475780" y="2939726"/>
            <a:ext cx="304800" cy="507832"/>
          </a:xfrm>
          <a:prstGeom prst="rect">
            <a:avLst/>
          </a:prstGeom>
          <a:noFill/>
        </p:spPr>
        <p:txBody>
          <a:bodyPr wrap="square" rtlCol="0">
            <a:spAutoFit/>
          </a:bodyPr>
          <a:lstStyle/>
          <a:p>
            <a:r>
              <a:rPr lang="en-US" sz="2400" b="1" dirty="0">
                <a:latin typeface="+mn-lt"/>
              </a:rPr>
              <a:t>0</a:t>
            </a:r>
          </a:p>
        </p:txBody>
      </p:sp>
      <p:sp>
        <p:nvSpPr>
          <p:cNvPr id="7" name="TextBox 6"/>
          <p:cNvSpPr txBox="1"/>
          <p:nvPr/>
        </p:nvSpPr>
        <p:spPr>
          <a:xfrm>
            <a:off x="2306128" y="2939726"/>
            <a:ext cx="304800" cy="507832"/>
          </a:xfrm>
          <a:prstGeom prst="rect">
            <a:avLst/>
          </a:prstGeom>
          <a:noFill/>
        </p:spPr>
        <p:txBody>
          <a:bodyPr wrap="square" rtlCol="0">
            <a:spAutoFit/>
          </a:bodyPr>
          <a:lstStyle/>
          <a:p>
            <a:r>
              <a:rPr lang="en-US" sz="2400" b="1" dirty="0">
                <a:latin typeface="+mn-lt"/>
              </a:rPr>
              <a:t>1</a:t>
            </a:r>
          </a:p>
        </p:txBody>
      </p:sp>
      <p:sp>
        <p:nvSpPr>
          <p:cNvPr id="9" name="TextBox 8"/>
          <p:cNvSpPr txBox="1"/>
          <p:nvPr/>
        </p:nvSpPr>
        <p:spPr>
          <a:xfrm>
            <a:off x="2638964" y="2939726"/>
            <a:ext cx="304800" cy="507832"/>
          </a:xfrm>
          <a:prstGeom prst="rect">
            <a:avLst/>
          </a:prstGeom>
          <a:noFill/>
        </p:spPr>
        <p:txBody>
          <a:bodyPr wrap="square" rtlCol="0">
            <a:spAutoFit/>
          </a:bodyPr>
          <a:lstStyle/>
          <a:p>
            <a:r>
              <a:rPr lang="en-US" sz="2400" b="1" dirty="0">
                <a:latin typeface="+mn-lt"/>
              </a:rPr>
              <a:t>0</a:t>
            </a:r>
          </a:p>
        </p:txBody>
      </p:sp>
    </p:spTree>
    <p:extLst>
      <p:ext uri="{BB962C8B-B14F-4D97-AF65-F5344CB8AC3E}">
        <p14:creationId xmlns:p14="http://schemas.microsoft.com/office/powerpoint/2010/main" val="4023958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sz="5000" dirty="0"/>
              <a:t>Multiplication</a:t>
            </a:r>
          </a:p>
        </p:txBody>
      </p:sp>
      <p:sp>
        <p:nvSpPr>
          <p:cNvPr id="12291" name="Rectangle 3"/>
          <p:cNvSpPr>
            <a:spLocks noGrp="1" noChangeArrowheads="1"/>
          </p:cNvSpPr>
          <p:nvPr>
            <p:ph type="body" idx="1"/>
          </p:nvPr>
        </p:nvSpPr>
        <p:spPr/>
        <p:txBody>
          <a:bodyPr/>
          <a:lstStyle/>
          <a:p>
            <a:pPr eaLnBrk="1" hangingPunct="1"/>
            <a:r>
              <a:rPr lang="en-US" sz="3600" b="1" dirty="0"/>
              <a:t>0 x 0 = 0 </a:t>
            </a:r>
          </a:p>
          <a:p>
            <a:pPr eaLnBrk="1" hangingPunct="1"/>
            <a:r>
              <a:rPr lang="en-US" sz="3600" b="1" dirty="0"/>
              <a:t>0 x 1 = 0 </a:t>
            </a:r>
          </a:p>
          <a:p>
            <a:pPr eaLnBrk="1" hangingPunct="1"/>
            <a:r>
              <a:rPr lang="en-US" sz="3600" b="1" dirty="0"/>
              <a:t>1 x 0 = 0 </a:t>
            </a:r>
          </a:p>
          <a:p>
            <a:pPr eaLnBrk="1" hangingPunct="1"/>
            <a:r>
              <a:rPr lang="en-US" sz="3600" b="1" dirty="0"/>
              <a:t>1 x 1 = 1, and no carry or borrow bits</a:t>
            </a:r>
          </a:p>
        </p:txBody>
      </p:sp>
    </p:spTree>
    <p:extLst>
      <p:ext uri="{BB962C8B-B14F-4D97-AF65-F5344CB8AC3E}">
        <p14:creationId xmlns:p14="http://schemas.microsoft.com/office/powerpoint/2010/main" val="2244474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sz="5000" dirty="0"/>
              <a:t>Multiplication</a:t>
            </a:r>
          </a:p>
        </p:txBody>
      </p:sp>
      <p:sp>
        <p:nvSpPr>
          <p:cNvPr id="15363" name="Rectangle 6"/>
          <p:cNvSpPr>
            <a:spLocks noGrp="1" noChangeArrowheads="1"/>
          </p:cNvSpPr>
          <p:nvPr>
            <p:ph idx="1"/>
          </p:nvPr>
        </p:nvSpPr>
        <p:spPr/>
        <p:txBody>
          <a:bodyPr/>
          <a:lstStyle/>
          <a:p>
            <a:pPr marL="0" indent="0" algn="l" eaLnBrk="1" hangingPunct="1">
              <a:buNone/>
            </a:pPr>
            <a:r>
              <a:rPr lang="en-US" sz="5000" b="1" dirty="0"/>
              <a:t>		 </a:t>
            </a:r>
            <a:r>
              <a:rPr lang="en-US" sz="2400" b="1" dirty="0"/>
              <a:t>1101	</a:t>
            </a:r>
          </a:p>
          <a:p>
            <a:pPr marL="0" indent="0" algn="l" eaLnBrk="1" hangingPunct="1">
              <a:buNone/>
            </a:pPr>
            <a:r>
              <a:rPr lang="en-US" sz="2400" b="1" dirty="0"/>
              <a:t>	  </a:t>
            </a:r>
            <a:r>
              <a:rPr lang="en-US" sz="2400" b="1" u="sng" dirty="0"/>
              <a:t>       *	    101	</a:t>
            </a:r>
          </a:p>
          <a:p>
            <a:pPr marL="0" indent="0" algn="l" eaLnBrk="1" hangingPunct="1">
              <a:buNone/>
            </a:pPr>
            <a:r>
              <a:rPr lang="en-US" sz="2400" b="1" dirty="0"/>
              <a:t> 		  1101</a:t>
            </a:r>
          </a:p>
          <a:p>
            <a:pPr marL="0" indent="0" algn="l" eaLnBrk="1" hangingPunct="1">
              <a:buNone/>
            </a:pPr>
            <a:r>
              <a:rPr lang="en-US" sz="2400" b="1" dirty="0"/>
              <a:t>		0000</a:t>
            </a:r>
          </a:p>
          <a:p>
            <a:pPr marL="0" indent="0" algn="l" eaLnBrk="1" hangingPunct="1">
              <a:buNone/>
            </a:pPr>
            <a:r>
              <a:rPr lang="en-US" sz="2400" b="1" dirty="0"/>
              <a:t>	  </a:t>
            </a:r>
            <a:r>
              <a:rPr lang="en-US" sz="2400" b="1" u="sng" dirty="0"/>
              <a:t>       1101	</a:t>
            </a:r>
          </a:p>
          <a:p>
            <a:pPr marL="0" indent="0" algn="l" eaLnBrk="1" hangingPunct="1">
              <a:buNone/>
            </a:pPr>
            <a:r>
              <a:rPr lang="en-US" sz="2400" b="1" dirty="0"/>
              <a:t>	       1000001</a:t>
            </a:r>
            <a:r>
              <a:rPr lang="en-US" sz="2400" b="1" u="sng" dirty="0"/>
              <a:t>   </a:t>
            </a:r>
            <a:r>
              <a:rPr lang="en-US" sz="2400" b="1" dirty="0"/>
              <a:t>              </a:t>
            </a:r>
          </a:p>
        </p:txBody>
      </p:sp>
    </p:spTree>
    <p:extLst>
      <p:ext uri="{BB962C8B-B14F-4D97-AF65-F5344CB8AC3E}">
        <p14:creationId xmlns:p14="http://schemas.microsoft.com/office/powerpoint/2010/main" val="1546026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sz="5000" dirty="0"/>
              <a:t>Decimal to binary</a:t>
            </a:r>
          </a:p>
        </p:txBody>
      </p:sp>
      <p:sp>
        <p:nvSpPr>
          <p:cNvPr id="15363" name="Rectangle 6"/>
          <p:cNvSpPr>
            <a:spLocks noGrp="1" noChangeArrowheads="1"/>
          </p:cNvSpPr>
          <p:nvPr>
            <p:ph idx="1"/>
          </p:nvPr>
        </p:nvSpPr>
        <p:spPr/>
        <p:txBody>
          <a:bodyPr/>
          <a:lstStyle/>
          <a:p>
            <a:pPr marL="0" indent="0" algn="l" eaLnBrk="1" hangingPunct="1">
              <a:spcBef>
                <a:spcPts val="0"/>
              </a:spcBef>
              <a:buNone/>
            </a:pPr>
            <a:r>
              <a:rPr lang="en-US" sz="5000" b="1" dirty="0"/>
              <a:t>	</a:t>
            </a:r>
            <a:r>
              <a:rPr lang="en-US" sz="2400" b="1" dirty="0"/>
              <a:t>   	   100</a:t>
            </a:r>
          </a:p>
          <a:p>
            <a:pPr marL="0" indent="0" algn="l" eaLnBrk="1" hangingPunct="1">
              <a:spcBef>
                <a:spcPts val="0"/>
              </a:spcBef>
              <a:buNone/>
            </a:pPr>
            <a:r>
              <a:rPr lang="en-US" sz="2400" b="1" dirty="0"/>
              <a:t>		     50	</a:t>
            </a:r>
          </a:p>
          <a:p>
            <a:pPr marL="0" indent="0" algn="l" eaLnBrk="1" hangingPunct="1">
              <a:spcBef>
                <a:spcPts val="0"/>
              </a:spcBef>
              <a:buNone/>
            </a:pPr>
            <a:r>
              <a:rPr lang="en-US" sz="2400" b="1" dirty="0"/>
              <a:t>		     25	</a:t>
            </a:r>
          </a:p>
          <a:p>
            <a:pPr marL="0" indent="0" algn="l" eaLnBrk="1" hangingPunct="1">
              <a:spcBef>
                <a:spcPts val="0"/>
              </a:spcBef>
              <a:buNone/>
            </a:pPr>
            <a:r>
              <a:rPr lang="en-US" sz="2400" b="1" dirty="0"/>
              <a:t>		     12	</a:t>
            </a:r>
          </a:p>
          <a:p>
            <a:pPr marL="0" indent="0" algn="l" eaLnBrk="1" hangingPunct="1">
              <a:spcBef>
                <a:spcPts val="0"/>
              </a:spcBef>
              <a:buNone/>
            </a:pPr>
            <a:r>
              <a:rPr lang="en-US" sz="2400" b="1" dirty="0"/>
              <a:t>		       6	</a:t>
            </a:r>
          </a:p>
          <a:p>
            <a:pPr marL="0" indent="0" algn="l" eaLnBrk="1" hangingPunct="1">
              <a:spcBef>
                <a:spcPts val="0"/>
              </a:spcBef>
              <a:buNone/>
            </a:pPr>
            <a:r>
              <a:rPr lang="en-US" sz="2400" b="1" dirty="0"/>
              <a:t>		       3	</a:t>
            </a:r>
          </a:p>
          <a:p>
            <a:pPr marL="0" indent="0" algn="l" eaLnBrk="1" hangingPunct="1">
              <a:spcBef>
                <a:spcPts val="0"/>
              </a:spcBef>
              <a:buNone/>
            </a:pPr>
            <a:r>
              <a:rPr lang="en-US" sz="2400" b="1" dirty="0"/>
              <a:t>		    </a:t>
            </a:r>
            <a:r>
              <a:rPr lang="en-US" sz="2400" b="1" u="sng" dirty="0"/>
              <a:t>   1	   	</a:t>
            </a:r>
          </a:p>
          <a:p>
            <a:pPr marL="0" indent="0" algn="l" eaLnBrk="1" hangingPunct="1">
              <a:buNone/>
            </a:pPr>
            <a:endParaRPr lang="en-US" sz="2400" b="1" dirty="0"/>
          </a:p>
          <a:p>
            <a:pPr marL="0" indent="0" algn="l" eaLnBrk="1" hangingPunct="1">
              <a:buNone/>
            </a:pPr>
            <a:r>
              <a:rPr lang="en-US" sz="2400" b="1" dirty="0"/>
              <a:t>			1100100</a:t>
            </a:r>
          </a:p>
        </p:txBody>
      </p:sp>
      <p:cxnSp>
        <p:nvCxnSpPr>
          <p:cNvPr id="3" name="Straight Connector 2"/>
          <p:cNvCxnSpPr/>
          <p:nvPr/>
        </p:nvCxnSpPr>
        <p:spPr bwMode="auto">
          <a:xfrm>
            <a:off x="3200400" y="2092035"/>
            <a:ext cx="0" cy="297180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sp>
        <p:nvSpPr>
          <p:cNvPr id="6" name="TextBox 5"/>
          <p:cNvSpPr txBox="1"/>
          <p:nvPr/>
        </p:nvSpPr>
        <p:spPr>
          <a:xfrm>
            <a:off x="3204519" y="2083722"/>
            <a:ext cx="304800" cy="461665"/>
          </a:xfrm>
          <a:prstGeom prst="rect">
            <a:avLst/>
          </a:prstGeom>
          <a:noFill/>
        </p:spPr>
        <p:txBody>
          <a:bodyPr wrap="square" rtlCol="0">
            <a:spAutoFit/>
          </a:bodyPr>
          <a:lstStyle/>
          <a:p>
            <a:r>
              <a:rPr lang="en-US" sz="2400" b="1" dirty="0">
                <a:latin typeface="+mn-lt"/>
              </a:rPr>
              <a:t>0</a:t>
            </a:r>
          </a:p>
        </p:txBody>
      </p:sp>
      <p:sp>
        <p:nvSpPr>
          <p:cNvPr id="7" name="TextBox 6"/>
          <p:cNvSpPr txBox="1"/>
          <p:nvPr/>
        </p:nvSpPr>
        <p:spPr>
          <a:xfrm>
            <a:off x="3200400" y="2530820"/>
            <a:ext cx="304800" cy="461665"/>
          </a:xfrm>
          <a:prstGeom prst="rect">
            <a:avLst/>
          </a:prstGeom>
          <a:noFill/>
        </p:spPr>
        <p:txBody>
          <a:bodyPr wrap="square" rtlCol="0">
            <a:spAutoFit/>
          </a:bodyPr>
          <a:lstStyle/>
          <a:p>
            <a:r>
              <a:rPr lang="en-US" sz="2400" b="1" dirty="0">
                <a:latin typeface="+mn-lt"/>
              </a:rPr>
              <a:t>0</a:t>
            </a:r>
          </a:p>
        </p:txBody>
      </p:sp>
      <p:sp>
        <p:nvSpPr>
          <p:cNvPr id="8" name="TextBox 7"/>
          <p:cNvSpPr txBox="1"/>
          <p:nvPr/>
        </p:nvSpPr>
        <p:spPr>
          <a:xfrm>
            <a:off x="3200400" y="3264082"/>
            <a:ext cx="304800" cy="461665"/>
          </a:xfrm>
          <a:prstGeom prst="rect">
            <a:avLst/>
          </a:prstGeom>
          <a:noFill/>
        </p:spPr>
        <p:txBody>
          <a:bodyPr wrap="square" rtlCol="0">
            <a:spAutoFit/>
          </a:bodyPr>
          <a:lstStyle/>
          <a:p>
            <a:r>
              <a:rPr lang="en-US" sz="2400" b="1" dirty="0">
                <a:latin typeface="+mn-lt"/>
              </a:rPr>
              <a:t>0</a:t>
            </a:r>
          </a:p>
        </p:txBody>
      </p:sp>
      <p:sp>
        <p:nvSpPr>
          <p:cNvPr id="9" name="TextBox 8"/>
          <p:cNvSpPr txBox="1"/>
          <p:nvPr/>
        </p:nvSpPr>
        <p:spPr>
          <a:xfrm>
            <a:off x="3200399" y="3613403"/>
            <a:ext cx="304800" cy="461665"/>
          </a:xfrm>
          <a:prstGeom prst="rect">
            <a:avLst/>
          </a:prstGeom>
          <a:noFill/>
        </p:spPr>
        <p:txBody>
          <a:bodyPr wrap="square" rtlCol="0">
            <a:spAutoFit/>
          </a:bodyPr>
          <a:lstStyle/>
          <a:p>
            <a:r>
              <a:rPr lang="en-US" sz="2400" b="1" dirty="0">
                <a:latin typeface="+mn-lt"/>
              </a:rPr>
              <a:t>0</a:t>
            </a:r>
          </a:p>
        </p:txBody>
      </p:sp>
      <p:sp>
        <p:nvSpPr>
          <p:cNvPr id="11" name="TextBox 10"/>
          <p:cNvSpPr txBox="1"/>
          <p:nvPr/>
        </p:nvSpPr>
        <p:spPr>
          <a:xfrm>
            <a:off x="3204519" y="3989282"/>
            <a:ext cx="304800" cy="461665"/>
          </a:xfrm>
          <a:prstGeom prst="rect">
            <a:avLst/>
          </a:prstGeom>
          <a:noFill/>
        </p:spPr>
        <p:txBody>
          <a:bodyPr wrap="square" rtlCol="0">
            <a:spAutoFit/>
          </a:bodyPr>
          <a:lstStyle/>
          <a:p>
            <a:r>
              <a:rPr lang="en-US" sz="2400" b="1" dirty="0">
                <a:latin typeface="+mn-lt"/>
              </a:rPr>
              <a:t>1</a:t>
            </a:r>
          </a:p>
        </p:txBody>
      </p:sp>
      <p:sp>
        <p:nvSpPr>
          <p:cNvPr id="14" name="TextBox 13"/>
          <p:cNvSpPr txBox="1"/>
          <p:nvPr/>
        </p:nvSpPr>
        <p:spPr>
          <a:xfrm>
            <a:off x="3208637" y="4360958"/>
            <a:ext cx="304800" cy="461665"/>
          </a:xfrm>
          <a:prstGeom prst="rect">
            <a:avLst/>
          </a:prstGeom>
          <a:noFill/>
        </p:spPr>
        <p:txBody>
          <a:bodyPr wrap="square" rtlCol="0">
            <a:spAutoFit/>
          </a:bodyPr>
          <a:lstStyle/>
          <a:p>
            <a:r>
              <a:rPr lang="en-US" sz="2400" b="1" dirty="0">
                <a:latin typeface="+mn-lt"/>
              </a:rPr>
              <a:t>1</a:t>
            </a:r>
          </a:p>
        </p:txBody>
      </p:sp>
      <p:sp>
        <p:nvSpPr>
          <p:cNvPr id="15" name="TextBox 14"/>
          <p:cNvSpPr txBox="1"/>
          <p:nvPr/>
        </p:nvSpPr>
        <p:spPr>
          <a:xfrm>
            <a:off x="3196281" y="2885320"/>
            <a:ext cx="304800" cy="461665"/>
          </a:xfrm>
          <a:prstGeom prst="rect">
            <a:avLst/>
          </a:prstGeom>
          <a:noFill/>
        </p:spPr>
        <p:txBody>
          <a:bodyPr wrap="square" rtlCol="0">
            <a:spAutoFit/>
          </a:bodyPr>
          <a:lstStyle/>
          <a:p>
            <a:r>
              <a:rPr lang="en-US" sz="2400" b="1" dirty="0">
                <a:latin typeface="+mn-lt"/>
              </a:rPr>
              <a:t>1</a:t>
            </a:r>
          </a:p>
        </p:txBody>
      </p:sp>
      <p:cxnSp>
        <p:nvCxnSpPr>
          <p:cNvPr id="5" name="Straight Arrow Connector 4"/>
          <p:cNvCxnSpPr/>
          <p:nvPr/>
        </p:nvCxnSpPr>
        <p:spPr bwMode="auto">
          <a:xfrm flipV="1">
            <a:off x="4038600" y="2168235"/>
            <a:ext cx="0" cy="2438400"/>
          </a:xfrm>
          <a:prstGeom prst="straightConnector1">
            <a:avLst/>
          </a:prstGeom>
          <a:solidFill>
            <a:schemeClr val="accent1"/>
          </a:solidFill>
          <a:ln w="76200"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493085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363">
                                            <p:txEl>
                                              <p:pRg st="1" end="1"/>
                                            </p:txEl>
                                          </p:spTgt>
                                        </p:tgtEl>
                                        <p:attrNameLst>
                                          <p:attrName>style.visibility</p:attrName>
                                        </p:attrNameLst>
                                      </p:cBhvr>
                                      <p:to>
                                        <p:strVal val="visible"/>
                                      </p:to>
                                    </p:set>
                                    <p:animEffect transition="in" filter="fade">
                                      <p:cBhvr>
                                        <p:cTn id="12" dur="500"/>
                                        <p:tgtEl>
                                          <p:spTgt spid="153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363">
                                            <p:txEl>
                                              <p:pRg st="2" end="2"/>
                                            </p:txEl>
                                          </p:spTgt>
                                        </p:tgtEl>
                                        <p:attrNameLst>
                                          <p:attrName>style.visibility</p:attrName>
                                        </p:attrNameLst>
                                      </p:cBhvr>
                                      <p:to>
                                        <p:strVal val="visible"/>
                                      </p:to>
                                    </p:set>
                                    <p:animEffect transition="in" filter="fade">
                                      <p:cBhvr>
                                        <p:cTn id="22" dur="500"/>
                                        <p:tgtEl>
                                          <p:spTgt spid="1536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363">
                                            <p:txEl>
                                              <p:pRg st="3" end="3"/>
                                            </p:txEl>
                                          </p:spTgt>
                                        </p:tgtEl>
                                        <p:attrNameLst>
                                          <p:attrName>style.visibility</p:attrName>
                                        </p:attrNameLst>
                                      </p:cBhvr>
                                      <p:to>
                                        <p:strVal val="visible"/>
                                      </p:to>
                                    </p:set>
                                    <p:animEffect transition="in" filter="fade">
                                      <p:cBhvr>
                                        <p:cTn id="32" dur="500"/>
                                        <p:tgtEl>
                                          <p:spTgt spid="1536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5363">
                                            <p:txEl>
                                              <p:pRg st="4" end="4"/>
                                            </p:txEl>
                                          </p:spTgt>
                                        </p:tgtEl>
                                        <p:attrNameLst>
                                          <p:attrName>style.visibility</p:attrName>
                                        </p:attrNameLst>
                                      </p:cBhvr>
                                      <p:to>
                                        <p:strVal val="visible"/>
                                      </p:to>
                                    </p:set>
                                    <p:animEffect transition="in" filter="fade">
                                      <p:cBhvr>
                                        <p:cTn id="42" dur="500"/>
                                        <p:tgtEl>
                                          <p:spTgt spid="15363">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5363">
                                            <p:txEl>
                                              <p:pRg st="5" end="5"/>
                                            </p:txEl>
                                          </p:spTgt>
                                        </p:tgtEl>
                                        <p:attrNameLst>
                                          <p:attrName>style.visibility</p:attrName>
                                        </p:attrNameLst>
                                      </p:cBhvr>
                                      <p:to>
                                        <p:strVal val="visible"/>
                                      </p:to>
                                    </p:set>
                                    <p:animEffect transition="in" filter="fade">
                                      <p:cBhvr>
                                        <p:cTn id="52" dur="500"/>
                                        <p:tgtEl>
                                          <p:spTgt spid="15363">
                                            <p:txEl>
                                              <p:pRg st="5" end="5"/>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fade">
                                      <p:cBhvr>
                                        <p:cTn id="57" dur="500"/>
                                        <p:tgtEl>
                                          <p:spTgt spid="11"/>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5363">
                                            <p:txEl>
                                              <p:pRg st="6" end="6"/>
                                            </p:txEl>
                                          </p:spTgt>
                                        </p:tgtEl>
                                        <p:attrNameLst>
                                          <p:attrName>style.visibility</p:attrName>
                                        </p:attrNameLst>
                                      </p:cBhvr>
                                      <p:to>
                                        <p:strVal val="visible"/>
                                      </p:to>
                                    </p:set>
                                    <p:animEffect transition="in" filter="fade">
                                      <p:cBhvr>
                                        <p:cTn id="62" dur="500"/>
                                        <p:tgtEl>
                                          <p:spTgt spid="15363">
                                            <p:txEl>
                                              <p:pRg st="6" end="6"/>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500"/>
                                        <p:tgtEl>
                                          <p:spTgt spid="1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5"/>
                                        </p:tgtEl>
                                        <p:attrNameLst>
                                          <p:attrName>style.visibility</p:attrName>
                                        </p:attrNameLst>
                                      </p:cBhvr>
                                      <p:to>
                                        <p:strVal val="visible"/>
                                      </p:to>
                                    </p:set>
                                    <p:animEffect transition="in" filter="fade">
                                      <p:cBhvr>
                                        <p:cTn id="72" dur="500"/>
                                        <p:tgtEl>
                                          <p:spTgt spid="5"/>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5363">
                                            <p:txEl>
                                              <p:pRg st="8" end="8"/>
                                            </p:txEl>
                                          </p:spTgt>
                                        </p:tgtEl>
                                        <p:attrNameLst>
                                          <p:attrName>style.visibility</p:attrName>
                                        </p:attrNameLst>
                                      </p:cBhvr>
                                      <p:to>
                                        <p:strVal val="visible"/>
                                      </p:to>
                                    </p:set>
                                    <p:animEffect transition="in" filter="fade">
                                      <p:cBhvr>
                                        <p:cTn id="77" dur="500"/>
                                        <p:tgtEl>
                                          <p:spTgt spid="1536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1" grpId="0"/>
      <p:bldP spid="14" grpId="0"/>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t>Hexadecimal</a:t>
            </a:r>
          </a:p>
        </p:txBody>
      </p:sp>
      <p:sp>
        <p:nvSpPr>
          <p:cNvPr id="19459" name="Rectangle 3"/>
          <p:cNvSpPr>
            <a:spLocks noGrp="1" noChangeArrowheads="1"/>
          </p:cNvSpPr>
          <p:nvPr>
            <p:ph type="body" idx="1"/>
          </p:nvPr>
        </p:nvSpPr>
        <p:spPr/>
        <p:txBody>
          <a:bodyPr/>
          <a:lstStyle/>
          <a:p>
            <a:pPr eaLnBrk="1" hangingPunct="1"/>
            <a:r>
              <a:rPr lang="en-US"/>
              <a:t>Because binary numbers are rather unwieldy, programmers prefer to use a more compact way to represent them.  Historically, octal (base 8) and hexadecimal (base 16, or hex) have been used.</a:t>
            </a:r>
          </a:p>
          <a:p>
            <a:pPr eaLnBrk="1" hangingPunct="1"/>
            <a:endParaRPr lang="ru-RU"/>
          </a:p>
        </p:txBody>
      </p:sp>
    </p:spTree>
    <p:extLst>
      <p:ext uri="{BB962C8B-B14F-4D97-AF65-F5344CB8AC3E}">
        <p14:creationId xmlns:p14="http://schemas.microsoft.com/office/powerpoint/2010/main" val="2881126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t>Hexadecimal</a:t>
            </a:r>
          </a:p>
        </p:txBody>
      </p:sp>
      <p:sp>
        <p:nvSpPr>
          <p:cNvPr id="20483" name="Rectangle 3"/>
          <p:cNvSpPr>
            <a:spLocks noGrp="1" noChangeArrowheads="1"/>
          </p:cNvSpPr>
          <p:nvPr>
            <p:ph type="body" idx="1"/>
          </p:nvPr>
        </p:nvSpPr>
        <p:spPr/>
        <p:txBody>
          <a:bodyPr/>
          <a:lstStyle/>
          <a:p>
            <a:pPr eaLnBrk="1" hangingPunct="1"/>
            <a:r>
              <a:rPr lang="en-US" sz="3400" dirty="0"/>
              <a:t>Octal has the advantage that it uses only familiar digits, but it groups digits by threes, which is inconvenient for word sizes that are multiples of 4. Therefore, it is seldom used nowadays.</a:t>
            </a:r>
          </a:p>
          <a:p>
            <a:pPr eaLnBrk="1" hangingPunct="1"/>
            <a:r>
              <a:rPr lang="en-US" sz="3400" dirty="0"/>
              <a:t>Hexadecimal works nicely for bytes and for word sizes that are multiples of 4 but requires the introduction of 6 new digits.</a:t>
            </a:r>
            <a:endParaRPr lang="ru-RU" dirty="0"/>
          </a:p>
        </p:txBody>
      </p:sp>
    </p:spTree>
    <p:extLst>
      <p:ext uri="{BB962C8B-B14F-4D97-AF65-F5344CB8AC3E}">
        <p14:creationId xmlns:p14="http://schemas.microsoft.com/office/powerpoint/2010/main" val="3771175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t>Binary and Hexadecimal</a:t>
            </a:r>
          </a:p>
        </p:txBody>
      </p:sp>
      <p:sp>
        <p:nvSpPr>
          <p:cNvPr id="21507" name="Text Box 3"/>
          <p:cNvSpPr txBox="1">
            <a:spLocks noChangeArrowheads="1"/>
          </p:cNvSpPr>
          <p:nvPr/>
        </p:nvSpPr>
        <p:spPr bwMode="auto">
          <a:xfrm>
            <a:off x="1736725" y="3700463"/>
            <a:ext cx="18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ru-RU" sz="2000"/>
          </a:p>
        </p:txBody>
      </p:sp>
      <p:graphicFrame>
        <p:nvGraphicFramePr>
          <p:cNvPr id="26628" name="Group 4"/>
          <p:cNvGraphicFramePr>
            <a:graphicFrameLocks noGrp="1"/>
          </p:cNvGraphicFramePr>
          <p:nvPr>
            <p:extLst>
              <p:ext uri="{D42A27DB-BD31-4B8C-83A1-F6EECF244321}">
                <p14:modId xmlns:p14="http://schemas.microsoft.com/office/powerpoint/2010/main" val="1443573870"/>
              </p:ext>
            </p:extLst>
          </p:nvPr>
        </p:nvGraphicFramePr>
        <p:xfrm>
          <a:off x="685800" y="3003550"/>
          <a:ext cx="3962400" cy="3702050"/>
        </p:xfrm>
        <a:graphic>
          <a:graphicData uri="http://schemas.openxmlformats.org/drawingml/2006/table">
            <a:tbl>
              <a:tblPr/>
              <a:tblGrid>
                <a:gridCol w="1981200">
                  <a:extLst>
                    <a:ext uri="{9D8B030D-6E8A-4147-A177-3AD203B41FA5}">
                      <a16:colId xmlns:a16="http://schemas.microsoft.com/office/drawing/2014/main" val="20000"/>
                    </a:ext>
                  </a:extLst>
                </a:gridCol>
                <a:gridCol w="1981200">
                  <a:extLst>
                    <a:ext uri="{9D8B030D-6E8A-4147-A177-3AD203B41FA5}">
                      <a16:colId xmlns:a16="http://schemas.microsoft.com/office/drawing/2014/main" val="20001"/>
                    </a:ext>
                  </a:extLst>
                </a:gridCol>
              </a:tblGrid>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0000 = 0</a:t>
                      </a:r>
                    </a:p>
                  </a:txBody>
                  <a:tcPr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1000 = 8</a:t>
                      </a: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635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0001 = 1</a:t>
                      </a: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1001 = 9</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4635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0010 = 2</a:t>
                      </a: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1010 = A</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635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0011 = 3</a:t>
                      </a: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1011 = B</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4635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0100 = 4</a:t>
                      </a: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1100 = C</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4635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0101 = 5</a:t>
                      </a: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1101 = D</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4635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0110 = 6</a:t>
                      </a: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1110 = E</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4635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0111 = 7</a:t>
                      </a:r>
                    </a:p>
                  </a:txBody>
                  <a:tcPr horzOverflow="overflow">
                    <a:lnL cap="flat">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1111 = F</a:t>
                      </a: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1525" name="Text Box 41"/>
          <p:cNvSpPr txBox="1">
            <a:spLocks noChangeArrowheads="1"/>
          </p:cNvSpPr>
          <p:nvPr/>
        </p:nvSpPr>
        <p:spPr bwMode="auto">
          <a:xfrm>
            <a:off x="466725" y="1555750"/>
            <a:ext cx="7991475"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sz="2000" dirty="0"/>
              <a:t>Hexadecimal works by grouping binary bits into groups of 4 (starting from the right).  Each group is assigned a hex digit value.  The digits are the same as for decimal up to 9, and then letters A through F are used for 10 through 15.</a:t>
            </a:r>
          </a:p>
        </p:txBody>
      </p:sp>
      <p:sp>
        <p:nvSpPr>
          <p:cNvPr id="21526" name="Text Box 42"/>
          <p:cNvSpPr txBox="1">
            <a:spLocks noChangeArrowheads="1"/>
          </p:cNvSpPr>
          <p:nvPr/>
        </p:nvSpPr>
        <p:spPr bwMode="auto">
          <a:xfrm>
            <a:off x="4632325" y="3319463"/>
            <a:ext cx="3825875"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sz="2000" dirty="0"/>
              <a:t>Thus the 16-bit binary number</a:t>
            </a:r>
          </a:p>
          <a:p>
            <a:pPr eaLnBrk="1" hangingPunct="1">
              <a:spcBef>
                <a:spcPct val="0"/>
              </a:spcBef>
              <a:buFontTx/>
              <a:buNone/>
            </a:pPr>
            <a:endParaRPr lang="en-US" sz="2000" dirty="0"/>
          </a:p>
          <a:p>
            <a:pPr eaLnBrk="1" hangingPunct="1">
              <a:spcBef>
                <a:spcPct val="0"/>
              </a:spcBef>
              <a:buFontTx/>
              <a:buNone/>
            </a:pPr>
            <a:r>
              <a:rPr lang="en-US" sz="2000" b="1" dirty="0"/>
              <a:t>1011 0010 1010 1001</a:t>
            </a:r>
          </a:p>
          <a:p>
            <a:pPr eaLnBrk="1" hangingPunct="1">
              <a:spcBef>
                <a:spcPct val="0"/>
              </a:spcBef>
              <a:buFontTx/>
              <a:buNone/>
            </a:pPr>
            <a:endParaRPr lang="en-US" sz="2000" dirty="0"/>
          </a:p>
          <a:p>
            <a:pPr eaLnBrk="1" hangingPunct="1">
              <a:spcBef>
                <a:spcPct val="0"/>
              </a:spcBef>
              <a:buFontTx/>
              <a:buNone/>
            </a:pPr>
            <a:r>
              <a:rPr lang="en-US" sz="2000" dirty="0"/>
              <a:t>converted to hex is</a:t>
            </a:r>
          </a:p>
          <a:p>
            <a:pPr eaLnBrk="1" hangingPunct="1">
              <a:spcBef>
                <a:spcPct val="0"/>
              </a:spcBef>
              <a:buFontTx/>
              <a:buNone/>
            </a:pPr>
            <a:endParaRPr lang="en-US" sz="2000" dirty="0"/>
          </a:p>
          <a:p>
            <a:pPr eaLnBrk="1" hangingPunct="1">
              <a:spcBef>
                <a:spcPct val="0"/>
              </a:spcBef>
              <a:buFontTx/>
              <a:buNone/>
            </a:pPr>
            <a:r>
              <a:rPr lang="en-US" sz="2000" b="1" dirty="0"/>
              <a:t>B2A9</a:t>
            </a:r>
          </a:p>
        </p:txBody>
      </p:sp>
    </p:spTree>
    <p:extLst>
      <p:ext uri="{BB962C8B-B14F-4D97-AF65-F5344CB8AC3E}">
        <p14:creationId xmlns:p14="http://schemas.microsoft.com/office/powerpoint/2010/main" val="17373353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dirty="0"/>
              <a:t>The RGB Color System</a:t>
            </a:r>
          </a:p>
        </p:txBody>
      </p:sp>
      <p:sp>
        <p:nvSpPr>
          <p:cNvPr id="22531" name="Rectangle 3"/>
          <p:cNvSpPr>
            <a:spLocks noGrp="1" noChangeArrowheads="1"/>
          </p:cNvSpPr>
          <p:nvPr>
            <p:ph type="body" idx="1"/>
          </p:nvPr>
        </p:nvSpPr>
        <p:spPr>
          <a:xfrm>
            <a:off x="457200" y="1981200"/>
            <a:ext cx="8229600" cy="4572000"/>
          </a:xfrm>
        </p:spPr>
        <p:txBody>
          <a:bodyPr/>
          <a:lstStyle/>
          <a:p>
            <a:pPr eaLnBrk="1" hangingPunct="1"/>
            <a:r>
              <a:rPr lang="en-US" sz="2500" dirty="0"/>
              <a:t>HTML styles define only 16 colors that are guaranteed to be recognized by name. So many web developers use “RGB” values to define colors.</a:t>
            </a:r>
          </a:p>
          <a:p>
            <a:pPr eaLnBrk="1" hangingPunct="1"/>
            <a:r>
              <a:rPr lang="en-US" sz="2500" dirty="0"/>
              <a:t>RGB values are based on the Red, Green, Blue primary color system.  Just about every color that the human eye can perceive can be represented by a combination of specific amounts of each primary color.</a:t>
            </a:r>
          </a:p>
          <a:p>
            <a:pPr eaLnBrk="1" hangingPunct="1"/>
            <a:r>
              <a:rPr lang="en-US" sz="2500" dirty="0"/>
              <a:t>To define colors numerically, each of the three primary colors is assigned a numerical strength.  The three strengths of Red, Green, and Blue define the color.</a:t>
            </a:r>
          </a:p>
        </p:txBody>
      </p:sp>
    </p:spTree>
    <p:extLst>
      <p:ext uri="{BB962C8B-B14F-4D97-AF65-F5344CB8AC3E}">
        <p14:creationId xmlns:p14="http://schemas.microsoft.com/office/powerpoint/2010/main" val="9860595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dirty="0"/>
              <a:t>Expressing Colors in Hex</a:t>
            </a:r>
          </a:p>
        </p:txBody>
      </p:sp>
      <p:sp>
        <p:nvSpPr>
          <p:cNvPr id="23555" name="Rectangle 3"/>
          <p:cNvSpPr>
            <a:spLocks noGrp="1" noChangeArrowheads="1"/>
          </p:cNvSpPr>
          <p:nvPr>
            <p:ph idx="1"/>
          </p:nvPr>
        </p:nvSpPr>
        <p:spPr/>
        <p:txBody>
          <a:bodyPr/>
          <a:lstStyle/>
          <a:p>
            <a:pPr eaLnBrk="1" hangingPunct="1"/>
            <a:r>
              <a:rPr lang="en-US" sz="2400" dirty="0"/>
              <a:t>It is convenient to define the strengths of the primary colors using 8-bit numbers, or bytes.  An 8-bit number can be represented using two hex digits.  The value of the hex number ranges from 00 to FF, corresponding to a range from 0 to 255 decimal.</a:t>
            </a:r>
          </a:p>
          <a:p>
            <a:pPr eaLnBrk="1" hangingPunct="1"/>
            <a:r>
              <a:rPr lang="en-US" sz="2400" dirty="0"/>
              <a:t>A strength of 0 means the color is completely absent.  A strength of FF or 255 means the color is at its maximum.</a:t>
            </a:r>
          </a:p>
          <a:p>
            <a:pPr eaLnBrk="1" hangingPunct="1"/>
            <a:r>
              <a:rPr lang="en-US" sz="2400" dirty="0"/>
              <a:t>An RGB color is thus represented by three 8-bit numbers, or six hex digits.  In HTML, a value is signified as hexadecimal by prefixing it with a ‘#’ sign.  For example, </a:t>
            </a:r>
            <a:r>
              <a:rPr lang="en-US" sz="2400" b="1" dirty="0">
                <a:latin typeface="Courier Bold" pitchFamily="49" charset="0"/>
              </a:rPr>
              <a:t>"#E703A0" </a:t>
            </a:r>
            <a:r>
              <a:rPr lang="en-US" sz="2400" dirty="0"/>
              <a:t>would be such a value.</a:t>
            </a:r>
          </a:p>
        </p:txBody>
      </p:sp>
    </p:spTree>
    <p:extLst>
      <p:ext uri="{BB962C8B-B14F-4D97-AF65-F5344CB8AC3E}">
        <p14:creationId xmlns:p14="http://schemas.microsoft.com/office/powerpoint/2010/main" val="31604002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t>Expressing Colors in Hex</a:t>
            </a:r>
          </a:p>
        </p:txBody>
      </p:sp>
      <p:sp>
        <p:nvSpPr>
          <p:cNvPr id="24579" name="Rectangle 3"/>
          <p:cNvSpPr>
            <a:spLocks noGrp="1" noChangeArrowheads="1"/>
          </p:cNvSpPr>
          <p:nvPr>
            <p:ph type="body" idx="1"/>
          </p:nvPr>
        </p:nvSpPr>
        <p:spPr/>
        <p:txBody>
          <a:bodyPr/>
          <a:lstStyle/>
          <a:p>
            <a:pPr lvl="1" eaLnBrk="1" hangingPunct="1">
              <a:buFontTx/>
              <a:buNone/>
            </a:pPr>
            <a:r>
              <a:rPr lang="en-US" b="1" dirty="0">
                <a:latin typeface="Courier Bold" pitchFamily="49" charset="0"/>
              </a:rPr>
              <a:t>"#000000"</a:t>
            </a:r>
            <a:r>
              <a:rPr lang="en-US" dirty="0"/>
              <a:t>  Black (all colors off)</a:t>
            </a:r>
          </a:p>
          <a:p>
            <a:pPr lvl="1" eaLnBrk="1" hangingPunct="1">
              <a:buFontTx/>
              <a:buNone/>
            </a:pPr>
            <a:r>
              <a:rPr lang="en-US" b="1" dirty="0">
                <a:latin typeface="Courier Bold" pitchFamily="49" charset="0"/>
              </a:rPr>
              <a:t>"#FFFFFF"</a:t>
            </a:r>
            <a:r>
              <a:rPr lang="en-US" dirty="0"/>
              <a:t>  White (all colors max)</a:t>
            </a:r>
          </a:p>
          <a:p>
            <a:pPr lvl="1" eaLnBrk="1" hangingPunct="1">
              <a:buFontTx/>
              <a:buNone/>
            </a:pPr>
            <a:r>
              <a:rPr lang="en-US" b="1" dirty="0">
                <a:latin typeface="Courier Bold" pitchFamily="49" charset="0"/>
              </a:rPr>
              <a:t>"#FF0000"</a:t>
            </a:r>
            <a:r>
              <a:rPr lang="en-US" dirty="0"/>
              <a:t>  Red (red max, green &amp; blue off)</a:t>
            </a:r>
          </a:p>
          <a:p>
            <a:pPr lvl="1" eaLnBrk="1" hangingPunct="1">
              <a:buFontTx/>
              <a:buNone/>
            </a:pPr>
            <a:r>
              <a:rPr lang="en-US" b="1" dirty="0">
                <a:latin typeface="Courier Bold" pitchFamily="49" charset="0"/>
              </a:rPr>
              <a:t>"#00FF00"</a:t>
            </a:r>
            <a:r>
              <a:rPr lang="en-US" dirty="0"/>
              <a:t>  Green</a:t>
            </a:r>
          </a:p>
          <a:p>
            <a:pPr lvl="1" eaLnBrk="1" hangingPunct="1">
              <a:buFontTx/>
              <a:buNone/>
            </a:pPr>
            <a:r>
              <a:rPr lang="en-US" b="1" dirty="0">
                <a:latin typeface="Courier Bold" pitchFamily="49" charset="0"/>
              </a:rPr>
              <a:t>"#0000FF"</a:t>
            </a:r>
            <a:r>
              <a:rPr lang="en-US" dirty="0"/>
              <a:t>  Blue</a:t>
            </a:r>
          </a:p>
          <a:p>
            <a:pPr lvl="1" eaLnBrk="1" hangingPunct="1">
              <a:buFontTx/>
              <a:buNone/>
            </a:pPr>
            <a:r>
              <a:rPr lang="en-US" b="1" dirty="0">
                <a:latin typeface="Courier Bold" pitchFamily="49" charset="0"/>
              </a:rPr>
              <a:t>"#FFFF00"</a:t>
            </a:r>
            <a:r>
              <a:rPr lang="en-US" dirty="0"/>
              <a:t>  Yellow (max red &amp; green)</a:t>
            </a:r>
          </a:p>
          <a:p>
            <a:pPr lvl="1" eaLnBrk="1" hangingPunct="1">
              <a:buFontTx/>
              <a:buNone/>
            </a:pPr>
            <a:r>
              <a:rPr lang="en-US" b="1" dirty="0">
                <a:latin typeface="Courier Bold" pitchFamily="49" charset="0"/>
              </a:rPr>
              <a:t>"#AEEEEE"</a:t>
            </a:r>
            <a:r>
              <a:rPr lang="en-US" dirty="0"/>
              <a:t>  Turquoise</a:t>
            </a:r>
          </a:p>
          <a:p>
            <a:pPr lvl="1" eaLnBrk="1" hangingPunct="1">
              <a:buFontTx/>
              <a:buNone/>
            </a:pPr>
            <a:r>
              <a:rPr lang="en-US" b="1" dirty="0">
                <a:latin typeface="Courier Bold" pitchFamily="49" charset="0"/>
              </a:rPr>
              <a:t>"#808080"</a:t>
            </a:r>
            <a:r>
              <a:rPr lang="en-US" dirty="0"/>
              <a:t>  Gray (all colors half max)</a:t>
            </a:r>
          </a:p>
          <a:p>
            <a:pPr lvl="1" eaLnBrk="1" hangingPunct="1">
              <a:buFontTx/>
              <a:buNone/>
            </a:pPr>
            <a:endParaRPr lang="en-US" dirty="0"/>
          </a:p>
        </p:txBody>
      </p:sp>
    </p:spTree>
    <p:extLst>
      <p:ext uri="{BB962C8B-B14F-4D97-AF65-F5344CB8AC3E}">
        <p14:creationId xmlns:p14="http://schemas.microsoft.com/office/powerpoint/2010/main" val="22479171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endParaRPr lang="en-US"/>
          </a:p>
        </p:txBody>
      </p:sp>
      <p:sp>
        <p:nvSpPr>
          <p:cNvPr id="32771" name="Rectangle 3"/>
          <p:cNvSpPr>
            <a:spLocks noGrp="1" noChangeArrowheads="1"/>
          </p:cNvSpPr>
          <p:nvPr>
            <p:ph type="body" idx="1"/>
          </p:nvPr>
        </p:nvSpPr>
        <p:spPr/>
        <p:txBody>
          <a:bodyPr/>
          <a:lstStyle/>
          <a:p>
            <a:pPr algn="ctr" eaLnBrk="1" hangingPunct="1">
              <a:buFont typeface="Wingdings" panose="05000000000000000000" pitchFamily="2" charset="2"/>
              <a:buNone/>
            </a:pPr>
            <a:r>
              <a:rPr lang="en-US" sz="11700"/>
              <a:t>	The End</a:t>
            </a:r>
            <a:endParaRPr lang="ru-RU" sz="11700"/>
          </a:p>
        </p:txBody>
      </p:sp>
    </p:spTree>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ru-RU"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ru-RU" sz="1800" b="0" i="0" u="none" strike="noStrike" cap="none" normalizeH="0" baseline="0" smtClean="0">
            <a:ln>
              <a:noFill/>
            </a:ln>
            <a:solidFill>
              <a:schemeClr val="tx1"/>
            </a:solidFill>
            <a:effectLst/>
            <a:latin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lecture21</Template>
  <TotalTime>1017</TotalTime>
  <Words>921</Words>
  <Application>Microsoft Office PowerPoint</Application>
  <PresentationFormat>On-screen Show (4:3)</PresentationFormat>
  <Paragraphs>149</Paragraphs>
  <Slides>19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Arial Black</vt:lpstr>
      <vt:lpstr>Calibri</vt:lpstr>
      <vt:lpstr>Courier Bold</vt:lpstr>
      <vt:lpstr>Times New Roman</vt:lpstr>
      <vt:lpstr>Wingdings</vt:lpstr>
      <vt:lpstr>Pixel</vt:lpstr>
      <vt:lpstr>Lecture 20</vt:lpstr>
      <vt:lpstr>Outcomes</vt:lpstr>
      <vt:lpstr>Binary</vt:lpstr>
      <vt:lpstr>Conversion to decimal</vt:lpstr>
      <vt:lpstr>Conversion to decimal</vt:lpstr>
      <vt:lpstr>Addition</vt:lpstr>
      <vt:lpstr>Addition</vt:lpstr>
      <vt:lpstr>Subtraction</vt:lpstr>
      <vt:lpstr>Subtraction</vt:lpstr>
      <vt:lpstr>Multiplication</vt:lpstr>
      <vt:lpstr>Multiplication</vt:lpstr>
      <vt:lpstr>Decimal to binary</vt:lpstr>
      <vt:lpstr>Hexadecimal</vt:lpstr>
      <vt:lpstr>Hexadecimal</vt:lpstr>
      <vt:lpstr>Binary and Hexadecimal</vt:lpstr>
      <vt:lpstr>The RGB Color System</vt:lpstr>
      <vt:lpstr>Expressing Colors in Hex</vt:lpstr>
      <vt:lpstr>Expressing Colors in Hex</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Basil</dc:creator>
  <cp:lastModifiedBy>Vasiliy Kuznetsov</cp:lastModifiedBy>
  <cp:revision>44</cp:revision>
  <cp:lastPrinted>1601-01-01T00:00:00Z</cp:lastPrinted>
  <dcterms:created xsi:type="dcterms:W3CDTF">1601-01-01T00:00:00Z</dcterms:created>
  <dcterms:modified xsi:type="dcterms:W3CDTF">2024-02-23T12:00:26Z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