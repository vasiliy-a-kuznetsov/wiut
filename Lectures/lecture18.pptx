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9" r:id="rId5"/>
    <p:sldId id="261" r:id="rId6"/>
    <p:sldId id="262" r:id="rId7"/>
    <p:sldId id="264" r:id="rId8"/>
    <p:sldId id="265" r:id="rId9"/>
    <p:sldId id="266" r:id="rId10"/>
    <p:sldId id="267" r:id="rId11"/>
    <p:sldId id="263" r:id="rId12"/>
    <p:sldId id="268" r:id="rId13"/>
    <p:sldId id="269" r:id="rId14"/>
    <p:sldId id="270" r:id="rId15"/>
    <p:sldId id="271" r:id="rId16"/>
    <p:sldId id="272" r:id="rId17"/>
    <p:sldId id="281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4" r:id="rId28"/>
    <p:sldId id="286" r:id="rId29"/>
    <p:sldId id="285" r:id="rId30"/>
    <p:sldId id="287" r:id="rId31"/>
    <p:sldId id="282" r:id="rId3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704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</p:grpSp>
      </p:grpSp>
      <p:pic>
        <p:nvPicPr>
          <p:cNvPr id="18" name="Picture 21" descr="PP_WIUT_Attachmen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58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3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514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19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E0BAE7C-ACE8-4B91-A425-1DFA51B0C0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77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FCFA1A-94C2-4027-BD4F-02D8CD682D8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23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39ED37C-5185-49E7-BC6C-CDFE76178EF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7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238"/>
            <a:ext cx="4038600" cy="42481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238"/>
            <a:ext cx="4038600" cy="42481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C7FF5-CFD8-47F5-BBB6-D5821D6B4B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51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527D89-2446-448A-B86F-DBD4C58537C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84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F90E72-0048-4868-B12A-723AC84FA69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10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19906E-7AC0-43C8-BFEE-ECDE63B13D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28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C78E25F-1F16-4356-980E-089E13DE10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910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C433E9-229E-43C1-AD8B-7A777426B10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464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ACF91D-79D4-42DA-91E0-E97CCD84493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45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765175"/>
            <a:ext cx="2057400" cy="52562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765175"/>
            <a:ext cx="6019800" cy="52562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FBCEEB-44DB-4CA5-8424-DF74BA3EF3C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074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457200" y="765175"/>
            <a:ext cx="8229600" cy="5256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AD22ABD-238C-4D0C-AD96-0510C4751A8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474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5175"/>
            <a:ext cx="8229600" cy="9350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773238"/>
            <a:ext cx="4038600" cy="42481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238"/>
            <a:ext cx="4038600" cy="42481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CF6B40-4A86-405D-A59D-CF2B2BEF8E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4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A9EA224B-B0D6-4E57-8C79-1B9E022AFF5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pSp>
        <p:nvGrpSpPr>
          <p:cNvPr id="1028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033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4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5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6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7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038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9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40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041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accent2"/>
                </a:solidFill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765175"/>
            <a:ext cx="8229600" cy="935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773238"/>
            <a:ext cx="8229600" cy="424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11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pic>
        <p:nvPicPr>
          <p:cNvPr id="1032" name="Picture 17" descr="PP_WIUT_Attachment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Lecture 18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Queues</a:t>
            </a:r>
          </a:p>
          <a:p>
            <a:pPr eaLnBrk="1" hangingPunct="1"/>
            <a:r>
              <a:rPr lang="en-US" dirty="0"/>
              <a:t>Stacks</a:t>
            </a:r>
          </a:p>
          <a:p>
            <a:pPr eaLnBrk="1" hangingPunct="1"/>
            <a:r>
              <a:rPr lang="en-US" dirty="0"/>
              <a:t>Trees</a:t>
            </a:r>
          </a:p>
          <a:p>
            <a:pPr eaLnBrk="1" hangingPunct="1"/>
            <a:r>
              <a:rPr lang="en-US" dirty="0"/>
              <a:t>Maps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Outcomes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To understand Queues</a:t>
            </a:r>
          </a:p>
          <a:p>
            <a:pPr eaLnBrk="1" hangingPunct="1"/>
            <a:r>
              <a:rPr lang="en-US" dirty="0"/>
              <a:t>To be able to implement Queues in C#</a:t>
            </a:r>
          </a:p>
          <a:p>
            <a:pPr eaLnBrk="1" hangingPunct="1"/>
            <a:r>
              <a:rPr lang="en-US" dirty="0"/>
              <a:t>To understand Stacks</a:t>
            </a:r>
          </a:p>
          <a:p>
            <a:pPr eaLnBrk="1" hangingPunct="1"/>
            <a:r>
              <a:rPr lang="en-US" dirty="0"/>
              <a:t>To be able to implement Stacks in C#</a:t>
            </a:r>
          </a:p>
          <a:p>
            <a:pPr eaLnBrk="1" hangingPunct="1"/>
            <a:r>
              <a:rPr lang="en-US" dirty="0"/>
              <a:t>To understand Trees</a:t>
            </a:r>
          </a:p>
          <a:p>
            <a:pPr eaLnBrk="1" hangingPunct="1"/>
            <a:r>
              <a:rPr lang="en-US" dirty="0"/>
              <a:t>To understand Maps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7172" name="Picture 5" descr="queu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200"/>
            <a:ext cx="9144000" cy="569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Queue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 eaLnBrk="1" hangingPunct="1"/>
            <a:r>
              <a:rPr lang="en-US" dirty="0"/>
              <a:t>A queue is a data structure in which data enter at the rear of a list and are removed from the front of the list.</a:t>
            </a:r>
          </a:p>
          <a:p>
            <a:pPr algn="just" eaLnBrk="1" hangingPunct="1"/>
            <a:r>
              <a:rPr lang="en-US" dirty="0"/>
              <a:t>Queues are used to store items in the order in which they occur.</a:t>
            </a:r>
          </a:p>
          <a:p>
            <a:pPr algn="just" eaLnBrk="1" hangingPunct="1"/>
            <a:r>
              <a:rPr lang="en-US" dirty="0"/>
              <a:t>Queues are an example of a First-In, First-Out data structure.</a:t>
            </a:r>
          </a:p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Queue operations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 eaLnBrk="1" hangingPunct="1"/>
            <a:r>
              <a:rPr lang="en-US" dirty="0"/>
              <a:t>adding a new item is called </a:t>
            </a:r>
            <a:r>
              <a:rPr lang="en-US" i="1" dirty="0"/>
              <a:t>Enqueue</a:t>
            </a:r>
            <a:endParaRPr lang="en-US" dirty="0"/>
          </a:p>
          <a:p>
            <a:pPr algn="just" eaLnBrk="1" hangingPunct="1"/>
            <a:r>
              <a:rPr lang="en-US" dirty="0"/>
              <a:t>removing an item from a queue is called </a:t>
            </a:r>
            <a:r>
              <a:rPr lang="en-US" i="1" dirty="0"/>
              <a:t>Dequeue</a:t>
            </a:r>
            <a:r>
              <a:rPr lang="en-US" dirty="0"/>
              <a:t>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FIFO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90" t="21854" r="25766" b="27071"/>
          <a:stretch>
            <a:fillRect/>
          </a:stretch>
        </p:blipFill>
        <p:spPr bwMode="auto">
          <a:xfrm>
            <a:off x="228600" y="1524000"/>
            <a:ext cx="6934200" cy="5075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Queue used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524000"/>
            <a:ext cx="8458200" cy="5334000"/>
          </a:xfrm>
        </p:spPr>
        <p:txBody>
          <a:bodyPr/>
          <a:lstStyle/>
          <a:p>
            <a:pPr algn="just" eaLnBrk="1" hangingPunct="1"/>
            <a:r>
              <a:rPr lang="en-US" dirty="0"/>
              <a:t>In operating systems, for controlling access to shared system resources such as printers, files, communication lines, disks and tapes </a:t>
            </a:r>
          </a:p>
          <a:p>
            <a:pPr algn="just" eaLnBrk="1" hangingPunct="1"/>
            <a:r>
              <a:rPr lang="en-US" dirty="0"/>
              <a:t>Batch-processing of large number of requests</a:t>
            </a:r>
          </a:p>
          <a:p>
            <a:pPr algn="just" eaLnBrk="1" hangingPunct="1"/>
            <a:r>
              <a:rPr lang="en-US" dirty="0"/>
              <a:t>SMS sending handling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Queues used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773238"/>
            <a:ext cx="8534400" cy="4248150"/>
          </a:xfrm>
        </p:spPr>
        <p:txBody>
          <a:bodyPr/>
          <a:lstStyle/>
          <a:p>
            <a:pPr algn="just" eaLnBrk="1" hangingPunct="1">
              <a:lnSpc>
                <a:spcPct val="90000"/>
              </a:lnSpc>
            </a:pPr>
            <a:r>
              <a:rPr lang="en-US" dirty="0"/>
              <a:t>For simulation of real-world situations. For instance, a new bank may want to know how many tellers to install. The goal is to service each customer within a "reasonable" wait time, but not have too many tellers for the number of customers. To find out a good number of tellers, they can run a computer simulation of typical customer transactions using queues to represent the waiting customers.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Priority Queue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Elements are pulled highest-priority-first </a:t>
            </a:r>
          </a:p>
          <a:p>
            <a:pPr eaLnBrk="1" hangingPunct="1"/>
            <a:r>
              <a:rPr lang="en-US"/>
              <a:t>Operations:</a:t>
            </a:r>
          </a:p>
          <a:p>
            <a:pPr lvl="1" eaLnBrk="1" hangingPunct="1"/>
            <a:r>
              <a:rPr lang="en-US"/>
              <a:t>insertWithPriority</a:t>
            </a:r>
          </a:p>
          <a:p>
            <a:pPr lvl="1" eaLnBrk="1" hangingPunct="1"/>
            <a:r>
              <a:rPr lang="en-US"/>
              <a:t>pullHighestPriorityElement</a:t>
            </a:r>
          </a:p>
          <a:p>
            <a:pPr eaLnBrk="1" hangingPunct="1"/>
            <a:r>
              <a:rPr lang="en-US"/>
              <a:t>Efficiency – implementation dependent:</a:t>
            </a:r>
          </a:p>
          <a:p>
            <a:pPr lvl="1" eaLnBrk="1" hangingPunct="1"/>
            <a:r>
              <a:rPr lang="en-US"/>
              <a:t>Enqueue – O(log n)</a:t>
            </a:r>
          </a:p>
          <a:p>
            <a:pPr lvl="1" eaLnBrk="1" hangingPunct="1"/>
            <a:r>
              <a:rPr lang="en-US"/>
              <a:t>Dequeue – O(log n)</a:t>
            </a:r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Double-ended queue (Deque)</a:t>
            </a:r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Pronounced “</a:t>
            </a:r>
            <a:r>
              <a:rPr lang="en-US" i="1" dirty="0"/>
              <a:t>deck”</a:t>
            </a:r>
            <a:endParaRPr lang="en-US" dirty="0"/>
          </a:p>
          <a:p>
            <a:pPr eaLnBrk="1" hangingPunct="1"/>
            <a:r>
              <a:rPr lang="en-US" dirty="0"/>
              <a:t>Operations:</a:t>
            </a:r>
          </a:p>
          <a:p>
            <a:pPr lvl="1" eaLnBrk="1" hangingPunct="1"/>
            <a:r>
              <a:rPr lang="en-US" dirty="0"/>
              <a:t>insert element at back  </a:t>
            </a:r>
          </a:p>
          <a:p>
            <a:pPr lvl="1" eaLnBrk="1" hangingPunct="1"/>
            <a:r>
              <a:rPr lang="en-US" dirty="0"/>
              <a:t>insert element at front  </a:t>
            </a:r>
          </a:p>
          <a:p>
            <a:pPr lvl="1" eaLnBrk="1" hangingPunct="1"/>
            <a:r>
              <a:rPr lang="en-US" dirty="0"/>
              <a:t>remove last element  </a:t>
            </a:r>
          </a:p>
          <a:p>
            <a:pPr lvl="1" eaLnBrk="1" hangingPunct="1"/>
            <a:r>
              <a:rPr lang="en-US" dirty="0"/>
              <a:t>remove first element  </a:t>
            </a:r>
          </a:p>
          <a:p>
            <a:pPr lvl="1" eaLnBrk="1" hangingPunct="1"/>
            <a:r>
              <a:rPr lang="en-US" dirty="0"/>
              <a:t>examine last element  </a:t>
            </a:r>
          </a:p>
          <a:p>
            <a:pPr lvl="1" eaLnBrk="1" hangingPunct="1"/>
            <a:r>
              <a:rPr lang="en-US" dirty="0"/>
              <a:t>examine first element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Queue implementation in </a:t>
            </a:r>
            <a:r>
              <a:rPr lang="en-US" dirty="0" err="1"/>
              <a:t>.Net</a:t>
            </a:r>
            <a:endParaRPr lang="en-US" dirty="0"/>
          </a:p>
        </p:txBody>
      </p:sp>
      <p:sp>
        <p:nvSpPr>
          <p:cNvPr id="12291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Queue&lt;T&gt;</a:t>
            </a:r>
          </a:p>
          <a:p>
            <a:pPr eaLnBrk="1" hangingPunct="1"/>
            <a:r>
              <a:rPr lang="en-US" dirty="0"/>
              <a:t>Operations:</a:t>
            </a:r>
          </a:p>
          <a:p>
            <a:pPr lvl="1" eaLnBrk="1" hangingPunct="1"/>
            <a:r>
              <a:rPr lang="en-US" dirty="0"/>
              <a:t>Enqueue(T </a:t>
            </a:r>
            <a:r>
              <a:rPr lang="en-US" dirty="0" err="1"/>
              <a:t>newElement</a:t>
            </a:r>
            <a:r>
              <a:rPr lang="en-US" dirty="0"/>
              <a:t>)</a:t>
            </a:r>
          </a:p>
          <a:p>
            <a:pPr lvl="1" eaLnBrk="1" hangingPunct="1"/>
            <a:r>
              <a:rPr lang="en-US" dirty="0"/>
              <a:t>Peek()</a:t>
            </a:r>
          </a:p>
          <a:p>
            <a:pPr lvl="2" eaLnBrk="1" hangingPunct="1"/>
            <a:r>
              <a:rPr lang="en-US" dirty="0"/>
              <a:t>throws </a:t>
            </a:r>
            <a:r>
              <a:rPr lang="en-US" dirty="0" err="1"/>
              <a:t>InvalidOperationException</a:t>
            </a:r>
            <a:r>
              <a:rPr lang="en-US" dirty="0"/>
              <a:t> if empty</a:t>
            </a:r>
          </a:p>
          <a:p>
            <a:pPr lvl="1" eaLnBrk="1" hangingPunct="1"/>
            <a:r>
              <a:rPr lang="en-US" dirty="0"/>
              <a:t>Dequeue() </a:t>
            </a:r>
          </a:p>
          <a:p>
            <a:pPr lvl="2" eaLnBrk="1" hangingPunct="1"/>
            <a:r>
              <a:rPr lang="en-US" dirty="0"/>
              <a:t>throws </a:t>
            </a:r>
            <a:r>
              <a:rPr lang="en-US" dirty="0" err="1"/>
              <a:t>InvalidOperationException</a:t>
            </a:r>
            <a:r>
              <a:rPr lang="en-US" dirty="0"/>
              <a:t> if empty</a:t>
            </a:r>
          </a:p>
          <a:p>
            <a:pPr lvl="1" eaLnBrk="1" hangingPunct="1"/>
            <a:r>
              <a:rPr lang="en-US" dirty="0"/>
              <a:t>Count</a:t>
            </a:r>
          </a:p>
          <a:p>
            <a:pPr eaLnBrk="1" hangingPunct="1"/>
            <a:r>
              <a:rPr lang="en-US" dirty="0"/>
              <a:t>Efficiency – O(1)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Stack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 eaLnBrk="1" hangingPunct="1"/>
            <a:r>
              <a:rPr lang="en-US" dirty="0"/>
              <a:t>Stacks is a special-purpose data structures which is only optimized for a limited number of predefined operations (namely Pop and Push)</a:t>
            </a:r>
          </a:p>
          <a:p>
            <a:pPr algn="just" eaLnBrk="1" hangingPunct="1"/>
            <a:r>
              <a:rPr lang="en-US" dirty="0"/>
              <a:t>Stack is an implementation of Last-in-First-out logic (LIFO)</a:t>
            </a:r>
          </a:p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Stack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Classic implementation of Stack support only two operations:</a:t>
            </a:r>
          </a:p>
          <a:p>
            <a:pPr eaLnBrk="1" hangingPunct="1"/>
            <a:endParaRPr lang="en-US"/>
          </a:p>
        </p:txBody>
      </p:sp>
      <p:pic>
        <p:nvPicPr>
          <p:cNvPr id="16388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5700" y="2895600"/>
            <a:ext cx="39751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Stack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 eaLnBrk="1" hangingPunct="1"/>
            <a:r>
              <a:rPr lang="en-US" dirty="0"/>
              <a:t>Push – adds new element to the top of the stack</a:t>
            </a:r>
          </a:p>
          <a:p>
            <a:pPr algn="just" eaLnBrk="1" hangingPunct="1"/>
            <a:r>
              <a:rPr lang="en-US" dirty="0"/>
              <a:t>Pop – removes top element from the stack</a:t>
            </a:r>
          </a:p>
          <a:p>
            <a:pPr algn="just" eaLnBrk="1" hangingPunct="1"/>
            <a:r>
              <a:rPr lang="en-US" dirty="0"/>
              <a:t>As an addition, particular implementations could provide Peek functions – get the reference to the top element without removing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Stack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Performance:</a:t>
            </a:r>
          </a:p>
          <a:p>
            <a:pPr lvl="1" eaLnBrk="1" hangingPunct="1"/>
            <a:r>
              <a:rPr lang="en-US"/>
              <a:t>All operations are O(1)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Stack applications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Expression evaluation and syntax parsing</a:t>
            </a:r>
          </a:p>
          <a:p>
            <a:pPr lvl="1" eaLnBrk="1" hangingPunct="1"/>
            <a:r>
              <a:rPr lang="en-US" dirty="0"/>
              <a:t>Postfix notation</a:t>
            </a:r>
          </a:p>
          <a:p>
            <a:pPr eaLnBrk="1" hangingPunct="1"/>
            <a:r>
              <a:rPr lang="en-US" dirty="0"/>
              <a:t>Runtime memory management</a:t>
            </a:r>
          </a:p>
          <a:p>
            <a:pPr eaLnBrk="1" hangingPunct="1"/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Stack applications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Hanoi tower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/>
          </a:p>
          <a:p>
            <a:pPr eaLnBrk="1" hangingPunct="1"/>
            <a:endParaRPr lang="en-US" b="1"/>
          </a:p>
        </p:txBody>
      </p:sp>
      <p:pic>
        <p:nvPicPr>
          <p:cNvPr id="2048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362200"/>
            <a:ext cx="7966075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Stack implementation in </a:t>
            </a:r>
            <a:r>
              <a:rPr lang="en-US" dirty="0" err="1"/>
              <a:t>.Net</a:t>
            </a:r>
            <a:endParaRPr lang="en-US" dirty="0"/>
          </a:p>
        </p:txBody>
      </p:sp>
      <p:sp>
        <p:nvSpPr>
          <p:cNvPr id="2150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Stack&lt;T&gt;</a:t>
            </a:r>
          </a:p>
          <a:p>
            <a:pPr eaLnBrk="1" hangingPunct="1"/>
            <a:r>
              <a:rPr lang="en-US" dirty="0"/>
              <a:t>Operations:</a:t>
            </a:r>
          </a:p>
          <a:p>
            <a:pPr lvl="1" eaLnBrk="1" hangingPunct="1"/>
            <a:r>
              <a:rPr lang="en-US" dirty="0"/>
              <a:t>Push(T </a:t>
            </a:r>
            <a:r>
              <a:rPr lang="en-US" dirty="0" err="1"/>
              <a:t>newElement</a:t>
            </a:r>
            <a:r>
              <a:rPr lang="en-US" dirty="0"/>
              <a:t>)</a:t>
            </a:r>
          </a:p>
          <a:p>
            <a:pPr lvl="1" eaLnBrk="1" hangingPunct="1"/>
            <a:r>
              <a:rPr lang="en-US" dirty="0"/>
              <a:t>Pop()</a:t>
            </a:r>
          </a:p>
          <a:p>
            <a:pPr lvl="2" eaLnBrk="1" hangingPunct="1"/>
            <a:r>
              <a:rPr lang="en-US" dirty="0"/>
              <a:t>throws </a:t>
            </a:r>
            <a:r>
              <a:rPr lang="en-US" dirty="0" err="1"/>
              <a:t>InvalidOperationException</a:t>
            </a:r>
            <a:endParaRPr lang="en-US" dirty="0"/>
          </a:p>
          <a:p>
            <a:pPr lvl="1" eaLnBrk="1" hangingPunct="1"/>
            <a:r>
              <a:rPr lang="en-US" dirty="0"/>
              <a:t>Peek() </a:t>
            </a:r>
          </a:p>
          <a:p>
            <a:pPr lvl="2" eaLnBrk="1" hangingPunct="1"/>
            <a:r>
              <a:rPr lang="en-US" dirty="0"/>
              <a:t>throws </a:t>
            </a:r>
            <a:r>
              <a:rPr lang="en-US" dirty="0" err="1"/>
              <a:t>InvalidOperationException</a:t>
            </a:r>
            <a:endParaRPr lang="en-US" dirty="0"/>
          </a:p>
          <a:p>
            <a:pPr lvl="1" eaLnBrk="1" hangingPunct="1"/>
            <a:r>
              <a:rPr lang="en-US" dirty="0"/>
              <a:t>Count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Tree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 eaLnBrk="1" hangingPunct="1"/>
            <a:r>
              <a:rPr lang="en-US" dirty="0"/>
              <a:t>Tree is a data structure that emulates a hierarchical tree structure with a set of linked nodes.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Tree - terminology</a:t>
            </a:r>
          </a:p>
        </p:txBody>
      </p:sp>
      <p:sp>
        <p:nvSpPr>
          <p:cNvPr id="2355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 eaLnBrk="1" hangingPunct="1"/>
            <a:r>
              <a:rPr lang="en-US" dirty="0"/>
              <a:t>A </a:t>
            </a:r>
            <a:r>
              <a:rPr lang="en-US" b="1" dirty="0"/>
              <a:t>node</a:t>
            </a:r>
            <a:r>
              <a:rPr lang="en-US" dirty="0"/>
              <a:t> is a structure which contains a value</a:t>
            </a:r>
          </a:p>
          <a:p>
            <a:pPr algn="just" eaLnBrk="1" hangingPunct="1"/>
            <a:r>
              <a:rPr lang="en-US" dirty="0"/>
              <a:t>Each node in a tree has zero or more </a:t>
            </a:r>
            <a:r>
              <a:rPr lang="en-US" b="1" dirty="0"/>
              <a:t>child nodes</a:t>
            </a:r>
          </a:p>
          <a:p>
            <a:pPr algn="just" eaLnBrk="1" hangingPunct="1"/>
            <a:r>
              <a:rPr lang="en-US" dirty="0"/>
              <a:t>A node that has a child is called the child's </a:t>
            </a:r>
            <a:r>
              <a:rPr lang="en-US" b="1" dirty="0"/>
              <a:t>parent node</a:t>
            </a:r>
            <a:r>
              <a:rPr lang="en-US" dirty="0"/>
              <a:t> (or </a:t>
            </a:r>
            <a:r>
              <a:rPr lang="en-US" b="1" dirty="0"/>
              <a:t>ancestor node</a:t>
            </a:r>
            <a:r>
              <a:rPr lang="en-US" i="1" dirty="0"/>
              <a:t>)</a:t>
            </a:r>
          </a:p>
          <a:p>
            <a:pPr algn="just" eaLnBrk="1" hangingPunct="1"/>
            <a:r>
              <a:rPr lang="en-US" dirty="0"/>
              <a:t>A node has at most </a:t>
            </a:r>
            <a:r>
              <a:rPr lang="en-US" b="1" dirty="0"/>
              <a:t>one</a:t>
            </a:r>
            <a:r>
              <a:rPr lang="en-US" dirty="0"/>
              <a:t> parent</a:t>
            </a:r>
          </a:p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Tree – terminology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 eaLnBrk="1" hangingPunct="1"/>
            <a:r>
              <a:rPr lang="en-US" dirty="0"/>
              <a:t>The </a:t>
            </a:r>
            <a:r>
              <a:rPr lang="en-US" b="1" dirty="0"/>
              <a:t>height</a:t>
            </a:r>
            <a:r>
              <a:rPr lang="en-US" dirty="0"/>
              <a:t> of a node is the length of the longest downward path to a leaf from that node. The height of the root is the height of the tree. </a:t>
            </a:r>
          </a:p>
          <a:p>
            <a:pPr algn="just" eaLnBrk="1" hangingPunct="1"/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node is the length of the path to its root</a:t>
            </a:r>
          </a:p>
          <a:p>
            <a:pPr algn="just" eaLnBrk="1" hangingPunct="1"/>
            <a:r>
              <a:rPr lang="en-US" dirty="0"/>
              <a:t>The topmost node in a tree is called the </a:t>
            </a:r>
            <a:r>
              <a:rPr lang="en-US" b="1" dirty="0"/>
              <a:t>root node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Tree</a:t>
            </a:r>
          </a:p>
        </p:txBody>
      </p:sp>
      <p:sp>
        <p:nvSpPr>
          <p:cNvPr id="25603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5604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5" t="48976" r="2499" b="26451"/>
          <a:stretch>
            <a:fillRect/>
          </a:stretch>
        </p:blipFill>
        <p:spPr bwMode="auto">
          <a:xfrm>
            <a:off x="457200" y="1752600"/>
            <a:ext cx="5181600" cy="4287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Tree - traversal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>
          <a:xfrm>
            <a:off x="457200" y="1773238"/>
            <a:ext cx="8382000" cy="4248150"/>
          </a:xfrm>
        </p:spPr>
        <p:txBody>
          <a:bodyPr/>
          <a:lstStyle/>
          <a:p>
            <a:pPr algn="just" eaLnBrk="1" hangingPunct="1"/>
            <a:r>
              <a:rPr lang="en-US" dirty="0"/>
              <a:t>Tree is not accessible by index. In order to access an element you should navigate from a root node in a node-by-node manner</a:t>
            </a:r>
          </a:p>
          <a:p>
            <a:pPr algn="just" eaLnBrk="1" hangingPunct="1"/>
            <a:r>
              <a:rPr lang="en-US" dirty="0"/>
              <a:t>In order to access all nodes recursion should be used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Recursion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Recursion is a method where the solution to a problem depends on solutions to smaller instances of the same problem</a:t>
            </a:r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Tree – get all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73238"/>
            <a:ext cx="8534400" cy="4248150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(List&lt;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result, Node node)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result.Add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node.Value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	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foreach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child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node.Children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(result, child);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Map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773238"/>
            <a:ext cx="8534400" cy="4248150"/>
          </a:xfrm>
        </p:spPr>
        <p:txBody>
          <a:bodyPr/>
          <a:lstStyle/>
          <a:p>
            <a:pPr algn="just" eaLnBrk="1" hangingPunct="1"/>
            <a:r>
              <a:rPr lang="en-US" dirty="0"/>
              <a:t>Map is a collection of key-value pairs</a:t>
            </a:r>
          </a:p>
          <a:p>
            <a:pPr algn="just" eaLnBrk="1" hangingPunct="1"/>
            <a:r>
              <a:rPr lang="en-US" dirty="0"/>
              <a:t>Map is optimized for retrieving values by key</a:t>
            </a:r>
          </a:p>
          <a:p>
            <a:pPr algn="just" eaLnBrk="1" hangingPunct="1"/>
            <a:r>
              <a:rPr lang="en-US" dirty="0"/>
              <a:t>Maps are sometimes referred to as “Associative Arrays”</a:t>
            </a:r>
          </a:p>
        </p:txBody>
      </p:sp>
    </p:spTree>
    <p:extLst>
      <p:ext uri="{BB962C8B-B14F-4D97-AF65-F5344CB8AC3E}">
        <p14:creationId xmlns:p14="http://schemas.microsoft.com/office/powerpoint/2010/main" val="14755450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Map implementation in </a:t>
            </a:r>
            <a:r>
              <a:rPr lang="en-US" dirty="0" err="1"/>
              <a:t>.Net</a:t>
            </a:r>
            <a:endParaRPr lang="en-US" dirty="0"/>
          </a:p>
        </p:txBody>
      </p:sp>
      <p:sp>
        <p:nvSpPr>
          <p:cNvPr id="2150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Dictionary&lt;TKey, TValue&gt;</a:t>
            </a:r>
          </a:p>
          <a:p>
            <a:pPr eaLnBrk="1" hangingPunct="1"/>
            <a:r>
              <a:rPr lang="en-US" dirty="0"/>
              <a:t>Keys must be unique and cannot be null</a:t>
            </a:r>
          </a:p>
          <a:p>
            <a:pPr eaLnBrk="1" hangingPunct="1"/>
            <a:r>
              <a:rPr lang="en-US" dirty="0"/>
              <a:t>Values can be null or duplicate</a:t>
            </a:r>
          </a:p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8188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Map implementation in </a:t>
            </a:r>
            <a:r>
              <a:rPr lang="en-US" dirty="0" err="1"/>
              <a:t>.Net</a:t>
            </a:r>
            <a:endParaRPr lang="en-US" dirty="0"/>
          </a:p>
        </p:txBody>
      </p:sp>
      <p:sp>
        <p:nvSpPr>
          <p:cNvPr id="2150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Operations:</a:t>
            </a:r>
          </a:p>
          <a:p>
            <a:pPr lvl="1" eaLnBrk="1" hangingPunct="1"/>
            <a:r>
              <a:rPr lang="en-US" dirty="0"/>
              <a:t>Add(TKey key, TValue value)</a:t>
            </a:r>
          </a:p>
          <a:p>
            <a:pPr lvl="1" eaLnBrk="1" hangingPunct="1"/>
            <a:r>
              <a:rPr lang="en-US" dirty="0" err="1"/>
              <a:t>ContainsKey</a:t>
            </a:r>
            <a:r>
              <a:rPr lang="en-US" dirty="0"/>
              <a:t>(TKey key)</a:t>
            </a:r>
          </a:p>
          <a:p>
            <a:pPr lvl="1" eaLnBrk="1" hangingPunct="1"/>
            <a:r>
              <a:rPr lang="en-US" dirty="0"/>
              <a:t>[] (indexer)</a:t>
            </a:r>
          </a:p>
          <a:p>
            <a:pPr lvl="2" eaLnBrk="1" hangingPunct="1"/>
            <a:r>
              <a:rPr lang="en-US" dirty="0"/>
              <a:t>throws </a:t>
            </a:r>
            <a:r>
              <a:rPr lang="en-US" dirty="0" err="1"/>
              <a:t>KeyNotFoundException</a:t>
            </a:r>
            <a:endParaRPr lang="en-US" dirty="0"/>
          </a:p>
          <a:p>
            <a:pPr lvl="1" eaLnBrk="1" hangingPunct="1"/>
            <a:r>
              <a:rPr lang="en-US" dirty="0" err="1"/>
              <a:t>TryGetValue</a:t>
            </a:r>
            <a:r>
              <a:rPr lang="en-US" dirty="0"/>
              <a:t>(TKey key, out TValue value)</a:t>
            </a:r>
          </a:p>
          <a:p>
            <a:pPr lvl="1" eaLnBrk="1" hangingPunct="1"/>
            <a:r>
              <a:rPr lang="en-US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29418575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Map implementation in </a:t>
            </a:r>
            <a:r>
              <a:rPr lang="en-US" dirty="0" err="1"/>
              <a:t>.Net</a:t>
            </a:r>
            <a:endParaRPr lang="en-US" dirty="0"/>
          </a:p>
        </p:txBody>
      </p:sp>
      <p:sp>
        <p:nvSpPr>
          <p:cNvPr id="2150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Performance:</a:t>
            </a:r>
          </a:p>
          <a:p>
            <a:pPr lvl="1" eaLnBrk="1" hangingPunct="1"/>
            <a:r>
              <a:rPr lang="en-US" dirty="0"/>
              <a:t>Adding new elements</a:t>
            </a:r>
          </a:p>
          <a:p>
            <a:pPr lvl="2" eaLnBrk="1" hangingPunct="1"/>
            <a:r>
              <a:rPr lang="en-US" dirty="0"/>
              <a:t>If count is less then capacity =&gt; approaches O(1) </a:t>
            </a:r>
          </a:p>
          <a:p>
            <a:pPr lvl="2" eaLnBrk="1" hangingPunct="1"/>
            <a:r>
              <a:rPr lang="en-US" dirty="0"/>
              <a:t>If the capacity must be increased to accommodate the new element =&gt; O(n), where n is Count</a:t>
            </a:r>
          </a:p>
          <a:p>
            <a:pPr lvl="1" eaLnBrk="1" hangingPunct="1"/>
            <a:r>
              <a:rPr lang="en-US" dirty="0"/>
              <a:t>Retrieving by key approaches O(1)</a:t>
            </a:r>
          </a:p>
        </p:txBody>
      </p:sp>
    </p:spTree>
    <p:extLst>
      <p:ext uri="{BB962C8B-B14F-4D97-AF65-F5344CB8AC3E}">
        <p14:creationId xmlns:p14="http://schemas.microsoft.com/office/powerpoint/2010/main" val="380121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Map implementation in </a:t>
            </a:r>
            <a:r>
              <a:rPr lang="en-US" dirty="0" err="1"/>
              <a:t>.Net</a:t>
            </a:r>
            <a:endParaRPr lang="en-US" dirty="0"/>
          </a:p>
        </p:txBody>
      </p:sp>
      <p:sp>
        <p:nvSpPr>
          <p:cNvPr id="21507" name="Content Placeholder 6"/>
          <p:cNvSpPr>
            <a:spLocks noGrp="1"/>
          </p:cNvSpPr>
          <p:nvPr>
            <p:ph idx="1"/>
          </p:nvPr>
        </p:nvSpPr>
        <p:spPr>
          <a:xfrm>
            <a:off x="457200" y="1773238"/>
            <a:ext cx="8458200" cy="4248150"/>
          </a:xfrm>
        </p:spPr>
        <p:txBody>
          <a:bodyPr/>
          <a:lstStyle/>
          <a:p>
            <a:pPr eaLnBrk="1" hangingPunct="1"/>
            <a:r>
              <a:rPr lang="en-US" sz="2800" dirty="0"/>
              <a:t>Most collections have .</a:t>
            </a:r>
            <a:r>
              <a:rPr lang="en-US" sz="2800" dirty="0" err="1"/>
              <a:t>ToDictionary</a:t>
            </a:r>
            <a:r>
              <a:rPr lang="en-US" sz="2800" dirty="0"/>
              <a:t>() method</a:t>
            </a:r>
          </a:p>
          <a:p>
            <a:pPr eaLnBrk="1" hangingPunct="1"/>
            <a:endParaRPr lang="en-US" sz="2800" dirty="0"/>
          </a:p>
          <a:p>
            <a:pPr marL="0" indent="0" eaLnBrk="1" hangingPunct="1">
              <a:buNone/>
            </a:pP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myDictionary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myList.ToDictionary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(t =&gt;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t.Id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t =&gt; t);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3447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sz="11700"/>
              <a:t>	The End</a:t>
            </a:r>
            <a:endParaRPr lang="ru-RU" sz="1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ru-RU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ru-RU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lecture12</Template>
  <TotalTime>295</TotalTime>
  <Words>854</Words>
  <Application>Microsoft Office PowerPoint</Application>
  <PresentationFormat>On-screen Show (4:3)</PresentationFormat>
  <Paragraphs>131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Arial Black</vt:lpstr>
      <vt:lpstr>Cascadia Mono</vt:lpstr>
      <vt:lpstr>Consolas</vt:lpstr>
      <vt:lpstr>Times New Roman</vt:lpstr>
      <vt:lpstr>Wingdings</vt:lpstr>
      <vt:lpstr>Pixel</vt:lpstr>
      <vt:lpstr>Lecture 18</vt:lpstr>
      <vt:lpstr>Outcomes</vt:lpstr>
      <vt:lpstr>PowerPoint Presentation</vt:lpstr>
      <vt:lpstr>Queue</vt:lpstr>
      <vt:lpstr>Queue operations</vt:lpstr>
      <vt:lpstr>FIFO</vt:lpstr>
      <vt:lpstr>Queue used</vt:lpstr>
      <vt:lpstr>Queues used</vt:lpstr>
      <vt:lpstr>Priority Queue</vt:lpstr>
      <vt:lpstr>Double-ended queue (Deque)</vt:lpstr>
      <vt:lpstr>Queue implementation in .Net</vt:lpstr>
      <vt:lpstr>Stack</vt:lpstr>
      <vt:lpstr>Stack</vt:lpstr>
      <vt:lpstr>Stack</vt:lpstr>
      <vt:lpstr>Stack</vt:lpstr>
      <vt:lpstr>Stack applications</vt:lpstr>
      <vt:lpstr>Stack applications</vt:lpstr>
      <vt:lpstr>Stack implementation in .Net</vt:lpstr>
      <vt:lpstr>Tree</vt:lpstr>
      <vt:lpstr>Tree - terminology</vt:lpstr>
      <vt:lpstr>Tree – terminology</vt:lpstr>
      <vt:lpstr>Tree</vt:lpstr>
      <vt:lpstr>Tree - traversal</vt:lpstr>
      <vt:lpstr>Recursion</vt:lpstr>
      <vt:lpstr>Tree – get all values</vt:lpstr>
      <vt:lpstr>Map</vt:lpstr>
      <vt:lpstr>Map implementation in .Net</vt:lpstr>
      <vt:lpstr>Map implementation in .Net</vt:lpstr>
      <vt:lpstr>Map implementation in .Net</vt:lpstr>
      <vt:lpstr>Map implementation in .Net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Basil</dc:creator>
  <cp:lastModifiedBy>Vasiliy Kuznetsov</cp:lastModifiedBy>
  <cp:revision>39</cp:revision>
  <cp:lastPrinted>1601-01-01T00:00:00Z</cp:lastPrinted>
  <dcterms:created xsi:type="dcterms:W3CDTF">1601-01-01T00:00:00Z</dcterms:created>
  <dcterms:modified xsi:type="dcterms:W3CDTF">2024-02-09T12:10:49Z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