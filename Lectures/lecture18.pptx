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6"/>
  </p:notesMasterIdLst>
  <p:sldIdLst>
    <p:sldId id="256" r:id="rId2"/>
    <p:sldId id="258" r:id="rId3"/>
    <p:sldId id="274" r:id="rId4"/>
    <p:sldId id="275" r:id="rId5"/>
    <p:sldId id="276" r:id="rId6"/>
    <p:sldId id="292" r:id="rId7"/>
    <p:sldId id="278" r:id="rId8"/>
    <p:sldId id="293" r:id="rId9"/>
    <p:sldId id="280" r:id="rId10"/>
    <p:sldId id="282" r:id="rId11"/>
    <p:sldId id="294" r:id="rId12"/>
    <p:sldId id="257" r:id="rId13"/>
    <p:sldId id="283" r:id="rId14"/>
    <p:sldId id="284" r:id="rId15"/>
    <p:sldId id="286" r:id="rId16"/>
    <p:sldId id="287" r:id="rId17"/>
    <p:sldId id="288" r:id="rId18"/>
    <p:sldId id="295" r:id="rId19"/>
    <p:sldId id="289" r:id="rId20"/>
    <p:sldId id="296" r:id="rId21"/>
    <p:sldId id="297" r:id="rId22"/>
    <p:sldId id="298" r:id="rId23"/>
    <p:sldId id="299" r:id="rId24"/>
    <p:sldId id="300" r:id="rId25"/>
    <p:sldId id="301" r:id="rId26"/>
    <p:sldId id="302" r:id="rId27"/>
    <p:sldId id="303" r:id="rId28"/>
    <p:sldId id="304" r:id="rId29"/>
    <p:sldId id="305" r:id="rId30"/>
    <p:sldId id="306" r:id="rId31"/>
    <p:sldId id="307" r:id="rId32"/>
    <p:sldId id="308" r:id="rId33"/>
    <p:sldId id="309" r:id="rId34"/>
    <p:sldId id="270" r:id="rId3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EEE"/>
    <a:srgbClr val="F2F2F2"/>
    <a:srgbClr val="358A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306" y="138"/>
      </p:cViewPr>
      <p:guideLst>
        <p:guide orient="horz" pos="95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276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BD7DEE-5312-4C23-BF9D-CEE6AA43FDA7}" type="datetimeFigureOut">
              <a:rPr lang="ru-RU" smtClean="0"/>
              <a:t>14.02.2025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F33E4F-C868-4D44-AC30-8AEA639D40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5264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2A2733B-51EE-F674-C628-1F90FFB250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0309"/>
            <a:ext cx="12192000" cy="94769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E0BA4-DEFA-2D05-F078-B6A2267C8E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1671545"/>
            <a:ext cx="105156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tx2"/>
                </a:solidFill>
              </a:defRPr>
            </a:lvl1pPr>
          </a:lstStyle>
          <a:p>
            <a:r>
              <a:rPr lang="en" dirty="0"/>
              <a:t>PRESENTATION HEADLINE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E63F29-9D71-414F-9F6E-D1DAEA3892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199" y="4151220"/>
            <a:ext cx="10515599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accent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Let’s start with the first set of slides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E07DD49-C310-E4D0-AD52-96E34968CD3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94560" y="867420"/>
            <a:ext cx="2402881" cy="1392830"/>
          </a:xfrm>
          <a:prstGeom prst="rect">
            <a:avLst/>
          </a:prstGeom>
        </p:spPr>
      </p:pic>
      <p:sp>
        <p:nvSpPr>
          <p:cNvPr id="10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2" y="6306797"/>
            <a:ext cx="1849235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085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2F199F8-BC65-3557-878B-6D38F25C56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0309"/>
            <a:ext cx="12192000" cy="94769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E0BA4-DEFA-2D05-F078-B6A2267C8E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1" y="1682560"/>
            <a:ext cx="10515599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TRANSITION HEADLINE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E63F29-9D71-414F-9F6E-D1DAEA3892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1" y="4162235"/>
            <a:ext cx="10515599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accent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Let’s start with the first set of slides</a:t>
            </a:r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4560" y="429394"/>
            <a:ext cx="2402881" cy="1953883"/>
          </a:xfrm>
          <a:prstGeom prst="rect">
            <a:avLst/>
          </a:prstGeom>
        </p:spPr>
      </p:pic>
      <p:sp>
        <p:nvSpPr>
          <p:cNvPr id="13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716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9061EA6-9975-07F8-8A83-81823CDEE5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99630"/>
            <a:ext cx="12192000" cy="557670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E0BA4-DEFA-2D05-F078-B6A2267C8E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1" y="2528374"/>
            <a:ext cx="10515599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TRANSITION HEADLINE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E63F29-9D71-414F-9F6E-D1DAEA3892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1" y="5008049"/>
            <a:ext cx="10515599" cy="106828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Let’s start with the first set of slides</a:t>
            </a:r>
          </a:p>
        </p:txBody>
      </p:sp>
      <p:sp>
        <p:nvSpPr>
          <p:cNvPr id="12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3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2" y="6306797"/>
            <a:ext cx="1849235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201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9061EA6-9975-07F8-8A83-81823CDEE5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99630"/>
            <a:ext cx="12192000" cy="5576705"/>
          </a:xfrm>
          <a:prstGeom prst="rect">
            <a:avLst/>
          </a:prstGeom>
        </p:spPr>
      </p:pic>
      <p:sp>
        <p:nvSpPr>
          <p:cNvPr id="13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2" y="6306797"/>
            <a:ext cx="1849235" cy="35503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E0BA4-DEFA-2D05-F078-B6A2267C8E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1" y="2528374"/>
            <a:ext cx="10515599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TRANSITION HEADLINE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E63F29-9D71-414F-9F6E-D1DAEA3892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1" y="5008049"/>
            <a:ext cx="10515599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Let’s start with the first set of slides</a:t>
            </a:r>
          </a:p>
        </p:txBody>
      </p:sp>
    </p:spTree>
    <p:extLst>
      <p:ext uri="{BB962C8B-B14F-4D97-AF65-F5344CB8AC3E}">
        <p14:creationId xmlns:p14="http://schemas.microsoft.com/office/powerpoint/2010/main" val="4287257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2F199F8-BC65-3557-878B-6D38F25C56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0309"/>
            <a:ext cx="12192000" cy="94769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E0BA4-DEFA-2D05-F078-B6A2267C8E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1" y="1319003"/>
            <a:ext cx="10515599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TRANSITION HEADLINE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E63F29-9D71-414F-9F6E-D1DAEA3892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1" y="3798678"/>
            <a:ext cx="10515599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accent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Let’s start with the first set of slides</a:t>
            </a:r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4560" y="429394"/>
            <a:ext cx="2402881" cy="1953882"/>
          </a:xfrm>
          <a:prstGeom prst="rect">
            <a:avLst/>
          </a:prstGeom>
        </p:spPr>
      </p:pic>
      <p:sp>
        <p:nvSpPr>
          <p:cNvPr id="10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936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44;p19">
            <a:extLst>
              <a:ext uri="{FF2B5EF4-FFF2-40B4-BE49-F238E27FC236}">
                <a16:creationId xmlns:a16="http://schemas.microsoft.com/office/drawing/2014/main" id="{603DAD57-855B-69D0-1CBD-C5B3BD3EC1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1" y="1714500"/>
            <a:ext cx="5074557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White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milk and fresh snow, the color produced by the combination of all the colors of the visible spectrum.</a:t>
            </a:r>
            <a:endParaRPr dirty="0"/>
          </a:p>
        </p:txBody>
      </p:sp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1" y="474531"/>
            <a:ext cx="8578173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You can also split your content</a:t>
            </a:r>
            <a:endParaRPr dirty="0"/>
          </a:p>
        </p:txBody>
      </p:sp>
      <p:sp>
        <p:nvSpPr>
          <p:cNvPr id="9" name="Google Shape;146;p19">
            <a:extLst>
              <a:ext uri="{FF2B5EF4-FFF2-40B4-BE49-F238E27FC236}">
                <a16:creationId xmlns:a16="http://schemas.microsoft.com/office/drawing/2014/main" id="{1A3271C3-5EB1-33E0-AD0F-C686F31E636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223821" y="1714500"/>
            <a:ext cx="5129978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Black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ebony and of outer space. It has been the symbolic color of elegance, solemnity and authority.</a:t>
            </a:r>
            <a:endParaRPr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96998A-0669-DD7B-F5BE-B19B862C8D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0309"/>
            <a:ext cx="12192000" cy="947691"/>
          </a:xfrm>
          <a:prstGeom prst="rect">
            <a:avLst/>
          </a:prstGeom>
        </p:spPr>
      </p:pic>
      <p:sp>
        <p:nvSpPr>
          <p:cNvPr id="13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14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A280644-DFCA-A39E-6662-615C37F73B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90" r="3233"/>
          <a:stretch/>
        </p:blipFill>
        <p:spPr>
          <a:xfrm>
            <a:off x="6806594" y="0"/>
            <a:ext cx="5385406" cy="584444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5F9CA98-FE23-6C0C-C5CC-498BF27477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5" r="83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Google Shape;144;p19">
            <a:extLst>
              <a:ext uri="{FF2B5EF4-FFF2-40B4-BE49-F238E27FC236}">
                <a16:creationId xmlns:a16="http://schemas.microsoft.com/office/drawing/2014/main" id="{603DAD57-855B-69D0-1CBD-C5B3BD3EC1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2" y="2056024"/>
            <a:ext cx="5129980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White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milk and fresh snow, the color produced by the combination of all the colors of the visible spectrum.</a:t>
            </a:r>
            <a:endParaRPr dirty="0"/>
          </a:p>
        </p:txBody>
      </p:sp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4857519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also insert a photo</a:t>
            </a:r>
            <a:endParaRPr dirty="0"/>
          </a:p>
        </p:txBody>
      </p:sp>
      <p:sp>
        <p:nvSpPr>
          <p:cNvPr id="9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2" y="6306797"/>
            <a:ext cx="1849235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988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44;p19">
            <a:extLst>
              <a:ext uri="{FF2B5EF4-FFF2-40B4-BE49-F238E27FC236}">
                <a16:creationId xmlns:a16="http://schemas.microsoft.com/office/drawing/2014/main" id="{603DAD57-855B-69D0-1CBD-C5B3BD3EC1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1" y="2056020"/>
            <a:ext cx="5129981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White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milk and fresh snow, the color produced by the combination of all the colors of the visible spectrum.</a:t>
            </a:r>
            <a:endParaRPr dirty="0"/>
          </a:p>
        </p:txBody>
      </p:sp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4725317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also insert a photo</a:t>
            </a:r>
            <a:endParaRPr dirty="0"/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0" y="700391"/>
            <a:ext cx="1634859" cy="400373"/>
          </a:xfrm>
          <a:prstGeom prst="rect">
            <a:avLst/>
          </a:prstGeom>
        </p:spPr>
      </p:pic>
      <p:sp>
        <p:nvSpPr>
          <p:cNvPr id="9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460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объект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96998A-0669-DD7B-F5BE-B19B862C8D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14401"/>
            <a:ext cx="12192000" cy="231589"/>
          </a:xfrm>
          <a:prstGeom prst="rect">
            <a:avLst/>
          </a:prstGeom>
        </p:spPr>
      </p:pic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8558718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also insert a photos</a:t>
            </a:r>
            <a:endParaRPr dirty="0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0" y="700391"/>
            <a:ext cx="1634859" cy="400373"/>
          </a:xfrm>
          <a:prstGeom prst="rect">
            <a:avLst/>
          </a:prstGeom>
        </p:spPr>
      </p:pic>
      <p:sp>
        <p:nvSpPr>
          <p:cNvPr id="9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2" y="6306797"/>
            <a:ext cx="1849235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844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Заголовок и объект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867545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also insert a photos</a:t>
            </a:r>
            <a:endParaRPr dirty="0"/>
          </a:p>
        </p:txBody>
      </p:sp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1" y="700391"/>
            <a:ext cx="1634857" cy="400373"/>
          </a:xfrm>
          <a:prstGeom prst="rect">
            <a:avLst/>
          </a:prstGeom>
        </p:spPr>
      </p:pic>
      <p:sp>
        <p:nvSpPr>
          <p:cNvPr id="11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2" y="6306797"/>
            <a:ext cx="1849235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131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8646267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also insert a photos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BE65376-C484-7E39-4F18-93A9C81E25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3186"/>
            <a:ext cx="12192000" cy="23159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0" y="700391"/>
            <a:ext cx="1634859" cy="400373"/>
          </a:xfrm>
          <a:prstGeom prst="rect">
            <a:avLst/>
          </a:prstGeom>
        </p:spPr>
      </p:pic>
      <p:sp>
        <p:nvSpPr>
          <p:cNvPr id="9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0585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Заголовок и объект">
    <p:bg>
      <p:bgPr>
        <a:solidFill>
          <a:srgbClr val="EC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96998A-0669-DD7B-F5BE-B19B862C8D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14401"/>
            <a:ext cx="12192000" cy="231589"/>
          </a:xfrm>
          <a:prstGeom prst="rect">
            <a:avLst/>
          </a:prstGeom>
        </p:spPr>
      </p:pic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8587901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also insert a photos</a:t>
            </a:r>
            <a:endParaRPr dirty="0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0" y="700391"/>
            <a:ext cx="1634859" cy="400373"/>
          </a:xfrm>
          <a:prstGeom prst="rect">
            <a:avLst/>
          </a:prstGeom>
        </p:spPr>
      </p:pic>
      <p:sp>
        <p:nvSpPr>
          <p:cNvPr id="9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0821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Заголовок и объект">
    <p:bg>
      <p:bgPr>
        <a:solidFill>
          <a:srgbClr val="EC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96998A-0669-DD7B-F5BE-B19B862C8D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14401"/>
            <a:ext cx="12192000" cy="231589"/>
          </a:xfrm>
          <a:prstGeom prst="rect">
            <a:avLst/>
          </a:prstGeom>
        </p:spPr>
      </p:pic>
      <p:sp>
        <p:nvSpPr>
          <p:cNvPr id="7" name="Google Shape;144;p19">
            <a:extLst>
              <a:ext uri="{FF2B5EF4-FFF2-40B4-BE49-F238E27FC236}">
                <a16:creationId xmlns:a16="http://schemas.microsoft.com/office/drawing/2014/main" id="{603DAD57-855B-69D0-1CBD-C5B3BD3EC1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624" y="1714500"/>
            <a:ext cx="5074557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White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milk and fresh snow, the color produced by the combination of all the colors of the visible spectrum.</a:t>
            </a:r>
            <a:endParaRPr dirty="0"/>
          </a:p>
        </p:txBody>
      </p:sp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3699" y="474531"/>
            <a:ext cx="8561586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You can also split your content</a:t>
            </a:r>
            <a:endParaRPr dirty="0"/>
          </a:p>
        </p:txBody>
      </p:sp>
      <p:sp>
        <p:nvSpPr>
          <p:cNvPr id="9" name="Google Shape;146;p19">
            <a:extLst>
              <a:ext uri="{FF2B5EF4-FFF2-40B4-BE49-F238E27FC236}">
                <a16:creationId xmlns:a16="http://schemas.microsoft.com/office/drawing/2014/main" id="{1A3271C3-5EB1-33E0-AD0F-C686F31E636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223821" y="1714500"/>
            <a:ext cx="5129978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Black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ebony and of outer space. It has been the symbolic color of elegance, solemnity and authority.</a:t>
            </a:r>
            <a:endParaRPr dirty="0"/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0" y="700391"/>
            <a:ext cx="1634859" cy="400373"/>
          </a:xfrm>
          <a:prstGeom prst="rect">
            <a:avLst/>
          </a:prstGeom>
        </p:spPr>
      </p:pic>
      <p:sp>
        <p:nvSpPr>
          <p:cNvPr id="10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1989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854899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 two or three columns</a:t>
            </a:r>
            <a:endParaRPr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96998A-0669-DD7B-F5BE-B19B862C8D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0309"/>
            <a:ext cx="12192000" cy="947691"/>
          </a:xfrm>
          <a:prstGeom prst="rect">
            <a:avLst/>
          </a:prstGeom>
        </p:spPr>
      </p:pic>
      <p:sp>
        <p:nvSpPr>
          <p:cNvPr id="10" name="Google Shape;153;p20">
            <a:extLst>
              <a:ext uri="{FF2B5EF4-FFF2-40B4-BE49-F238E27FC236}">
                <a16:creationId xmlns:a16="http://schemas.microsoft.com/office/drawing/2014/main" id="{42D3C5AD-203C-06E8-B308-7570F0188A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1" y="1597742"/>
            <a:ext cx="3291347" cy="138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Yellow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gold, butter and ripe lemons. In the spectrum of visible light, yellow is found between green and orange.</a:t>
            </a:r>
            <a:endParaRPr dirty="0"/>
          </a:p>
        </p:txBody>
      </p:sp>
      <p:sp>
        <p:nvSpPr>
          <p:cNvPr id="15" name="Google Shape;154;p20">
            <a:extLst>
              <a:ext uri="{FF2B5EF4-FFF2-40B4-BE49-F238E27FC236}">
                <a16:creationId xmlns:a16="http://schemas.microsoft.com/office/drawing/2014/main" id="{93774569-09A6-3D2C-E96E-EB2A8880292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450326" y="1597742"/>
            <a:ext cx="3291347" cy="138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Blue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colour of the clear sky and the deep sea. It is located between violet and green on the optical spectrum.</a:t>
            </a:r>
            <a:endParaRPr dirty="0"/>
          </a:p>
        </p:txBody>
      </p:sp>
      <p:sp>
        <p:nvSpPr>
          <p:cNvPr id="16" name="Google Shape;155;p20">
            <a:extLst>
              <a:ext uri="{FF2B5EF4-FFF2-40B4-BE49-F238E27FC236}">
                <a16:creationId xmlns:a16="http://schemas.microsoft.com/office/drawing/2014/main" id="{12B6BEED-76B3-42F1-1655-75B4633AFEFE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8062452" y="1597742"/>
            <a:ext cx="3291347" cy="138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Red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blood, and because of this it has historically been associated with sacrifice, danger and courage. 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0" y="700391"/>
            <a:ext cx="1634859" cy="400373"/>
          </a:xfrm>
          <a:prstGeom prst="rect">
            <a:avLst/>
          </a:prstGeom>
        </p:spPr>
      </p:pic>
      <p:sp>
        <p:nvSpPr>
          <p:cNvPr id="17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20" name="Рисунок 1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612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Дата 3">
            <a:extLst>
              <a:ext uri="{FF2B5EF4-FFF2-40B4-BE49-F238E27FC236}">
                <a16:creationId xmlns:a16="http://schemas.microsoft.com/office/drawing/2014/main" id="{86C3C5BA-7D7F-4C3F-2640-8F638B45F0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1F200A8-E1A7-4435-83E2-162A61D52FA6}" type="datetime1">
              <a:rPr lang="ru-RU" smtClean="0"/>
              <a:t>14.02.2025</a:t>
            </a:fld>
            <a:endParaRPr lang="ru-RU" dirty="0"/>
          </a:p>
        </p:txBody>
      </p:sp>
      <p:sp>
        <p:nvSpPr>
          <p:cNvPr id="8" name="Нижний колонтитул 4">
            <a:extLst>
              <a:ext uri="{FF2B5EF4-FFF2-40B4-BE49-F238E27FC236}">
                <a16:creationId xmlns:a16="http://schemas.microsoft.com/office/drawing/2014/main" id="{1FF6D44D-D6D0-493E-4D28-4910FD0372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4BCEA065-B04F-95C1-710E-80D4D07F32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5925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4" r:id="rId3"/>
    <p:sldLayoutId id="2147483665" r:id="rId4"/>
    <p:sldLayoutId id="2147483663" r:id="rId5"/>
    <p:sldLayoutId id="2147483650" r:id="rId6"/>
    <p:sldLayoutId id="2147483666" r:id="rId7"/>
    <p:sldLayoutId id="2147483671" r:id="rId8"/>
    <p:sldLayoutId id="2147483662" r:id="rId9"/>
    <p:sldLayoutId id="2147483670" r:id="rId10"/>
    <p:sldLayoutId id="2147483669" r:id="rId11"/>
    <p:sldLayoutId id="2147483668" r:id="rId12"/>
    <p:sldLayoutId id="2147483667" r:id="rId13"/>
    <p:sldLayoutId id="2147483661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ECDC59-877C-90A9-C652-0BE567D7F1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4341" y="1671545"/>
            <a:ext cx="10972799" cy="2387600"/>
          </a:xfrm>
        </p:spPr>
        <p:txBody>
          <a:bodyPr/>
          <a:lstStyle/>
          <a:p>
            <a:r>
              <a:rPr lang="en" dirty="0"/>
              <a:t>Fundamentals of Programming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886D810-431C-E147-2D52-2B768F306D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Lecture 18</a:t>
            </a:r>
            <a:endParaRPr lang="en-US" dirty="0"/>
          </a:p>
          <a:p>
            <a:pPr eaLnBrk="1" hangingPunct="1"/>
            <a:r>
              <a:rPr lang="en-US" dirty="0"/>
              <a:t>Queues, Stacks, Trees, Maps</a:t>
            </a:r>
          </a:p>
        </p:txBody>
      </p:sp>
      <p:sp>
        <p:nvSpPr>
          <p:cNvPr id="9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1" y="6341397"/>
            <a:ext cx="3101410" cy="374650"/>
          </a:xfrm>
        </p:spPr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7504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2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eaLnBrk="1" hangingPunct="1"/>
            <a:r>
              <a:rPr lang="en-US" sz="2800" dirty="0"/>
              <a:t>Queues</a:t>
            </a:r>
          </a:p>
          <a:p>
            <a:pPr eaLnBrk="1" hangingPunct="1"/>
            <a:r>
              <a:rPr lang="en-US" sz="2800" dirty="0"/>
              <a:t>Stacks</a:t>
            </a:r>
          </a:p>
          <a:p>
            <a:pPr eaLnBrk="1" hangingPunct="1"/>
            <a:r>
              <a:rPr lang="en-US" sz="2800" dirty="0"/>
              <a:t>Trees</a:t>
            </a:r>
          </a:p>
          <a:p>
            <a:pPr eaLnBrk="1" hangingPunct="1"/>
            <a:r>
              <a:rPr lang="en-US" sz="2800" dirty="0"/>
              <a:t>Maps</a:t>
            </a:r>
          </a:p>
        </p:txBody>
      </p:sp>
    </p:spTree>
    <p:extLst>
      <p:ext uri="{BB962C8B-B14F-4D97-AF65-F5344CB8AC3E}">
        <p14:creationId xmlns:p14="http://schemas.microsoft.com/office/powerpoint/2010/main" val="663812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3</a:t>
            </a:fld>
            <a:endParaRPr lang="ru-RU"/>
          </a:p>
        </p:txBody>
      </p:sp>
      <p:pic>
        <p:nvPicPr>
          <p:cNvPr id="8" name="Picture 5" descr="queues">
            <a:extLst>
              <a:ext uri="{FF2B5EF4-FFF2-40B4-BE49-F238E27FC236}">
                <a16:creationId xmlns:a16="http://schemas.microsoft.com/office/drawing/2014/main" id="{4877B559-F7BA-49DD-A610-B215B33422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5464" y="1232876"/>
            <a:ext cx="7361071" cy="4587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41154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4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algn="just"/>
            <a:r>
              <a:rPr lang="en-US" sz="2800" dirty="0"/>
              <a:t>A queue is a data structure in which data enter at the rear of a list and are removed from the front of the list</a:t>
            </a:r>
          </a:p>
          <a:p>
            <a:pPr algn="just"/>
            <a:r>
              <a:rPr lang="en-US" sz="2800" dirty="0"/>
              <a:t>Queues are used to store items in the order in which they occur</a:t>
            </a:r>
          </a:p>
          <a:p>
            <a:pPr algn="just"/>
            <a:r>
              <a:rPr lang="en-US" sz="2800" dirty="0"/>
              <a:t>Queues are an example of a First-In, First-Out data structure</a:t>
            </a:r>
          </a:p>
          <a:p>
            <a:pPr algn="just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15827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 operations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5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algn="just"/>
            <a:r>
              <a:rPr lang="en-US" sz="3200" i="1" dirty="0"/>
              <a:t>adding</a:t>
            </a:r>
            <a:r>
              <a:rPr lang="en-US" sz="3200" dirty="0"/>
              <a:t> a new item is called </a:t>
            </a:r>
            <a:r>
              <a:rPr lang="en-US" sz="3200" b="1" dirty="0"/>
              <a:t>Enqueue</a:t>
            </a:r>
          </a:p>
          <a:p>
            <a:pPr algn="just"/>
            <a:r>
              <a:rPr lang="en-US" sz="3200" i="1" dirty="0"/>
              <a:t>removing</a:t>
            </a:r>
            <a:r>
              <a:rPr lang="en-US" sz="3200" dirty="0"/>
              <a:t> an item from a queue is called </a:t>
            </a:r>
            <a:r>
              <a:rPr lang="en-US" sz="3200" b="1" dirty="0"/>
              <a:t>Dequeue</a:t>
            </a:r>
          </a:p>
          <a:p>
            <a:pPr algn="just"/>
            <a:endParaRPr lang="en-US" sz="3200" dirty="0"/>
          </a:p>
          <a:p>
            <a:pPr algn="just"/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801033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FIFO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6</a:t>
            </a:fld>
            <a:endParaRPr lang="ru-RU"/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BC0ED478-7B1A-43BF-BA0D-BB9CE46475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90" t="21854" r="25766" b="27071"/>
          <a:stretch>
            <a:fillRect/>
          </a:stretch>
        </p:blipFill>
        <p:spPr bwMode="auto">
          <a:xfrm>
            <a:off x="2775626" y="282429"/>
            <a:ext cx="6934200" cy="5075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85305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 applications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7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algn="just"/>
            <a:r>
              <a:rPr lang="en-US" sz="2800" dirty="0"/>
              <a:t>In operating systems, for controlling access to shared system resources such as printers, files, communication lines, disks and tapes </a:t>
            </a:r>
          </a:p>
          <a:p>
            <a:pPr marL="0" indent="0" algn="just">
              <a:buNone/>
            </a:pPr>
            <a:endParaRPr lang="en-US" sz="2800" dirty="0"/>
          </a:p>
          <a:p>
            <a:pPr algn="just"/>
            <a:r>
              <a:rPr lang="en-US" sz="2800" dirty="0"/>
              <a:t>Batch-processing of large number of requests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SMS sending handling</a:t>
            </a:r>
          </a:p>
        </p:txBody>
      </p:sp>
    </p:spTree>
    <p:extLst>
      <p:ext uri="{BB962C8B-B14F-4D97-AF65-F5344CB8AC3E}">
        <p14:creationId xmlns:p14="http://schemas.microsoft.com/office/powerpoint/2010/main" val="2245441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 applications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8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algn="just"/>
            <a:r>
              <a:rPr lang="en-US" sz="2800" dirty="0"/>
              <a:t>For simulation of real-world situations. For instance, a new bank may want to know how many tellers to install. The goal is to service each customer within a "reasonable" wait time, but not have too many tellers for the number of customers. To find out a good number of tellers, they can run a computer simulation of typical customer transactions using queues to represent the waiting customers.</a:t>
            </a:r>
          </a:p>
        </p:txBody>
      </p:sp>
    </p:spTree>
    <p:extLst>
      <p:ext uri="{BB962C8B-B14F-4D97-AF65-F5344CB8AC3E}">
        <p14:creationId xmlns:p14="http://schemas.microsoft.com/office/powerpoint/2010/main" val="3136826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Priority Queue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9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r>
              <a:rPr lang="en-US" sz="2800" dirty="0"/>
              <a:t>Elements are pulled highest-priority-first </a:t>
            </a:r>
          </a:p>
          <a:p>
            <a:r>
              <a:rPr lang="en-US" sz="2800" dirty="0"/>
              <a:t>Operations:</a:t>
            </a:r>
          </a:p>
          <a:p>
            <a:pPr lvl="1"/>
            <a:r>
              <a:rPr lang="en-US" sz="2800" dirty="0" err="1"/>
              <a:t>insertWithPriority</a:t>
            </a:r>
            <a:endParaRPr lang="en-US" sz="2800" dirty="0"/>
          </a:p>
          <a:p>
            <a:pPr lvl="1"/>
            <a:r>
              <a:rPr lang="en-US" sz="2800" dirty="0" err="1"/>
              <a:t>pullHighestPriorityElement</a:t>
            </a:r>
            <a:endParaRPr lang="en-US" sz="2800" dirty="0"/>
          </a:p>
          <a:p>
            <a:r>
              <a:rPr lang="en-US" sz="2800" dirty="0"/>
              <a:t>Efficiency – implementation dependent</a:t>
            </a:r>
          </a:p>
          <a:p>
            <a:pPr lvl="1"/>
            <a:r>
              <a:rPr lang="en-US" sz="2800" dirty="0"/>
              <a:t>Enqueue	O(log n)</a:t>
            </a:r>
          </a:p>
          <a:p>
            <a:pPr lvl="1"/>
            <a:r>
              <a:rPr lang="en-US" sz="2800" dirty="0"/>
              <a:t>Dequeue	O(log n)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23429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Double-ended queue (Deque)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10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r>
              <a:rPr lang="en-US" sz="2800" dirty="0"/>
              <a:t>Pronounced “deck”</a:t>
            </a:r>
          </a:p>
          <a:p>
            <a:r>
              <a:rPr lang="en-US" sz="2800" dirty="0"/>
              <a:t>Operations</a:t>
            </a:r>
          </a:p>
          <a:p>
            <a:pPr lvl="1"/>
            <a:r>
              <a:rPr lang="en-US" sz="2800" dirty="0"/>
              <a:t>insert element at back  </a:t>
            </a:r>
          </a:p>
          <a:p>
            <a:pPr lvl="1"/>
            <a:r>
              <a:rPr lang="en-US" sz="2800" dirty="0"/>
              <a:t>insert element at front  </a:t>
            </a:r>
          </a:p>
          <a:p>
            <a:pPr lvl="1"/>
            <a:r>
              <a:rPr lang="en-US" sz="2800" dirty="0"/>
              <a:t>remove last element  </a:t>
            </a:r>
          </a:p>
          <a:p>
            <a:pPr lvl="1"/>
            <a:r>
              <a:rPr lang="en-US" sz="2800" dirty="0"/>
              <a:t>remove first element  </a:t>
            </a:r>
          </a:p>
          <a:p>
            <a:pPr lvl="1"/>
            <a:r>
              <a:rPr lang="en-US" sz="2800" dirty="0"/>
              <a:t>examine last element  </a:t>
            </a:r>
          </a:p>
          <a:p>
            <a:pPr lvl="1"/>
            <a:r>
              <a:rPr lang="en-US" sz="2800" dirty="0"/>
              <a:t>examine first element</a:t>
            </a:r>
          </a:p>
        </p:txBody>
      </p:sp>
    </p:spTree>
    <p:extLst>
      <p:ext uri="{BB962C8B-B14F-4D97-AF65-F5344CB8AC3E}">
        <p14:creationId xmlns:p14="http://schemas.microsoft.com/office/powerpoint/2010/main" val="3262994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 implementation in </a:t>
            </a:r>
            <a:r>
              <a:rPr lang="en-US" dirty="0" err="1"/>
              <a:t>.Net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11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529942"/>
            <a:ext cx="11225168" cy="4174572"/>
          </a:xfrm>
        </p:spPr>
        <p:txBody>
          <a:bodyPr/>
          <a:lstStyle/>
          <a:p>
            <a:r>
              <a:rPr lang="en-US" sz="2800" dirty="0"/>
              <a:t>Queue&lt;T&gt;</a:t>
            </a:r>
          </a:p>
          <a:p>
            <a:r>
              <a:rPr lang="en-US" sz="2800" dirty="0"/>
              <a:t>Operations</a:t>
            </a:r>
          </a:p>
          <a:p>
            <a:pPr lvl="1"/>
            <a:r>
              <a:rPr lang="en-US" sz="2800" dirty="0"/>
              <a:t>Enqueue(T </a:t>
            </a:r>
            <a:r>
              <a:rPr lang="en-US" sz="2800" dirty="0" err="1"/>
              <a:t>newElement</a:t>
            </a:r>
            <a:r>
              <a:rPr lang="en-US" sz="2800" dirty="0"/>
              <a:t>)</a:t>
            </a:r>
          </a:p>
          <a:p>
            <a:pPr lvl="1"/>
            <a:r>
              <a:rPr lang="en-US" sz="2800" dirty="0"/>
              <a:t>Peek()</a:t>
            </a:r>
          </a:p>
          <a:p>
            <a:pPr lvl="2"/>
            <a:r>
              <a:rPr lang="en-US" sz="2800" dirty="0"/>
              <a:t>throws </a:t>
            </a:r>
            <a:r>
              <a:rPr lang="en-US" sz="2800" dirty="0" err="1"/>
              <a:t>InvalidOperationException</a:t>
            </a:r>
            <a:r>
              <a:rPr lang="en-US" sz="2800" dirty="0"/>
              <a:t> if empty</a:t>
            </a:r>
          </a:p>
          <a:p>
            <a:pPr lvl="1"/>
            <a:r>
              <a:rPr lang="en-US" sz="2800" dirty="0"/>
              <a:t>Dequeue() </a:t>
            </a:r>
          </a:p>
          <a:p>
            <a:pPr lvl="2"/>
            <a:r>
              <a:rPr lang="en-US" sz="2800" dirty="0"/>
              <a:t>throws </a:t>
            </a:r>
            <a:r>
              <a:rPr lang="en-US" sz="2800" dirty="0" err="1"/>
              <a:t>InvalidOperationException</a:t>
            </a:r>
            <a:r>
              <a:rPr lang="en-US" sz="2800" dirty="0"/>
              <a:t> if empty</a:t>
            </a:r>
          </a:p>
          <a:p>
            <a:pPr lvl="1"/>
            <a:r>
              <a:rPr lang="en-US" sz="2800" dirty="0"/>
              <a:t>Count</a:t>
            </a:r>
          </a:p>
          <a:p>
            <a:r>
              <a:rPr lang="en-US" sz="2800" dirty="0"/>
              <a:t>Efficiency – O(1)</a:t>
            </a:r>
          </a:p>
        </p:txBody>
      </p:sp>
    </p:spTree>
    <p:extLst>
      <p:ext uri="{BB962C8B-B14F-4D97-AF65-F5344CB8AC3E}">
        <p14:creationId xmlns:p14="http://schemas.microsoft.com/office/powerpoint/2010/main" val="3205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5D72AC-B176-B6FA-C292-B3C3C2B393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Stack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5FAD64E5-0D38-95EE-E7BB-019A17627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</p:spPr>
        <p:txBody>
          <a:bodyPr/>
          <a:lstStyle/>
          <a:p>
            <a:fld id="{24CFBF5F-D9F7-437E-8CF8-688EAF21A1C0}" type="slidenum">
              <a:rPr lang="ru-RU" smtClean="0"/>
              <a:pPr/>
              <a:t>12</a:t>
            </a:fld>
            <a:endParaRPr lang="ru-RU"/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1" y="6341397"/>
            <a:ext cx="3101410" cy="374650"/>
          </a:xfrm>
        </p:spPr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618867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13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algn="just" eaLnBrk="1" hangingPunct="1"/>
            <a:r>
              <a:rPr lang="en-US" sz="2800" dirty="0"/>
              <a:t>Stacks is a special-purpose data structures which is only optimized for a limited number of predefined operations (namely Pop and Push)</a:t>
            </a:r>
          </a:p>
          <a:p>
            <a:pPr algn="just" eaLnBrk="1" hangingPunct="1"/>
            <a:endParaRPr lang="en-US" sz="2800" dirty="0"/>
          </a:p>
          <a:p>
            <a:pPr algn="just" eaLnBrk="1" hangingPunct="1"/>
            <a:r>
              <a:rPr lang="en-US" sz="2800" dirty="0"/>
              <a:t>Stack is an implementation of Last-in-First-out logic (LIFO)</a:t>
            </a:r>
          </a:p>
          <a:p>
            <a:pPr eaLnBrk="1" hangingPunct="1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908212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14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algn="just" eaLnBrk="1" hangingPunct="1">
              <a:buClr>
                <a:schemeClr val="tx1"/>
              </a:buClr>
            </a:pPr>
            <a:r>
              <a:rPr lang="en-US" sz="2800" dirty="0"/>
              <a:t>Classic implementation of Stack supports only two operations:</a:t>
            </a:r>
          </a:p>
          <a:p>
            <a:pPr algn="just" eaLnBrk="1" hangingPunct="1">
              <a:buClr>
                <a:schemeClr val="tx1"/>
              </a:buClr>
            </a:pPr>
            <a:endParaRPr lang="en-US" sz="2800" dirty="0"/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E6CFEDF2-A3EE-4029-A594-262585261C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8450" y="2761376"/>
            <a:ext cx="397510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868993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15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algn="just" eaLnBrk="1" hangingPunct="1">
              <a:buClr>
                <a:schemeClr val="tx1"/>
              </a:buClr>
            </a:pPr>
            <a:r>
              <a:rPr lang="en-US" sz="2800" dirty="0"/>
              <a:t>Push	adds new element to the top of the stack</a:t>
            </a:r>
          </a:p>
          <a:p>
            <a:pPr algn="just" eaLnBrk="1" hangingPunct="1">
              <a:buClr>
                <a:schemeClr val="tx1"/>
              </a:buClr>
            </a:pPr>
            <a:r>
              <a:rPr lang="en-US" sz="2800" dirty="0"/>
              <a:t>Pop		removes top element from the stack</a:t>
            </a:r>
          </a:p>
          <a:p>
            <a:pPr algn="just" eaLnBrk="1" hangingPunct="1">
              <a:buClr>
                <a:schemeClr val="tx1"/>
              </a:buClr>
            </a:pPr>
            <a:r>
              <a:rPr lang="en-US" sz="2800" dirty="0"/>
              <a:t>Peek	not a part of classical Stack, but many implementations 			provide Peek function to get the reference to the top 			element without removing it</a:t>
            </a:r>
          </a:p>
        </p:txBody>
      </p:sp>
    </p:spTree>
    <p:extLst>
      <p:ext uri="{BB962C8B-B14F-4D97-AF65-F5344CB8AC3E}">
        <p14:creationId xmlns:p14="http://schemas.microsoft.com/office/powerpoint/2010/main" val="16456695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16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eaLnBrk="1" hangingPunct="1"/>
            <a:r>
              <a:rPr lang="en-US" sz="2800" dirty="0"/>
              <a:t>Performance:</a:t>
            </a:r>
          </a:p>
          <a:p>
            <a:pPr lvl="1"/>
            <a:r>
              <a:rPr lang="en-US" sz="2800" dirty="0"/>
              <a:t>All operations are O(1)</a:t>
            </a:r>
          </a:p>
          <a:p>
            <a:pPr eaLnBrk="1" hangingPunct="1"/>
            <a:endParaRPr lang="en-US" sz="2800" dirty="0"/>
          </a:p>
          <a:p>
            <a:pPr eaLnBrk="1" hangingPunct="1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363795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applications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17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algn="just" eaLnBrk="1" hangingPunct="1"/>
            <a:r>
              <a:rPr lang="en-US" sz="2800" dirty="0"/>
              <a:t>Expression evaluation and syntax parsing</a:t>
            </a:r>
          </a:p>
          <a:p>
            <a:pPr lvl="1" algn="just"/>
            <a:r>
              <a:rPr lang="en-US" sz="2800" dirty="0"/>
              <a:t>Postfix notation</a:t>
            </a:r>
          </a:p>
          <a:p>
            <a:pPr lvl="1" algn="just"/>
            <a:endParaRPr lang="en-US" sz="3200" dirty="0"/>
          </a:p>
          <a:p>
            <a:pPr algn="just" eaLnBrk="1" hangingPunct="1"/>
            <a:r>
              <a:rPr lang="en-US" sz="2800" dirty="0"/>
              <a:t>Runtime memory management</a:t>
            </a:r>
          </a:p>
          <a:p>
            <a:pPr algn="just" eaLnBrk="1" hangingPunct="1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866756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applications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18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algn="just" eaLnBrk="1" hangingPunct="1"/>
            <a:r>
              <a:rPr lang="en-US" sz="2800" dirty="0"/>
              <a:t>Hanoi tower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2EF51FD0-0D82-43BC-A364-C1245C3D71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2962" y="2358705"/>
            <a:ext cx="7966075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364952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implementation in </a:t>
            </a:r>
            <a:r>
              <a:rPr lang="en-US" dirty="0" err="1"/>
              <a:t>.Net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19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eaLnBrk="1" hangingPunct="1"/>
            <a:r>
              <a:rPr lang="en-US" sz="2800" dirty="0"/>
              <a:t>Stack&lt;T&gt;</a:t>
            </a:r>
          </a:p>
          <a:p>
            <a:pPr eaLnBrk="1" hangingPunct="1"/>
            <a:r>
              <a:rPr lang="en-US" sz="2800" dirty="0"/>
              <a:t>Operations</a:t>
            </a:r>
          </a:p>
          <a:p>
            <a:pPr lvl="1"/>
            <a:r>
              <a:rPr lang="en-US" sz="2800" dirty="0"/>
              <a:t>Push(T </a:t>
            </a:r>
            <a:r>
              <a:rPr lang="en-US" sz="2800" dirty="0" err="1"/>
              <a:t>newElement</a:t>
            </a:r>
            <a:r>
              <a:rPr lang="en-US" sz="2800" dirty="0"/>
              <a:t>)</a:t>
            </a:r>
          </a:p>
          <a:p>
            <a:pPr lvl="1"/>
            <a:r>
              <a:rPr lang="en-US" sz="2800" dirty="0"/>
              <a:t>Pop()</a:t>
            </a:r>
          </a:p>
          <a:p>
            <a:pPr lvl="2"/>
            <a:r>
              <a:rPr lang="en-US" sz="2800" dirty="0"/>
              <a:t>throws </a:t>
            </a:r>
            <a:r>
              <a:rPr lang="en-US" sz="2800" dirty="0" err="1"/>
              <a:t>InvalidOperationException</a:t>
            </a:r>
            <a:endParaRPr lang="en-US" sz="2800" dirty="0"/>
          </a:p>
          <a:p>
            <a:pPr lvl="1"/>
            <a:r>
              <a:rPr lang="en-US" sz="2800" dirty="0"/>
              <a:t>Peek() </a:t>
            </a:r>
          </a:p>
          <a:p>
            <a:pPr lvl="2"/>
            <a:r>
              <a:rPr lang="en-US" sz="2800" dirty="0"/>
              <a:t>throws </a:t>
            </a:r>
            <a:r>
              <a:rPr lang="en-US" sz="2800" dirty="0" err="1"/>
              <a:t>InvalidOperationException</a:t>
            </a:r>
            <a:endParaRPr lang="en-US" sz="2800" dirty="0"/>
          </a:p>
          <a:p>
            <a:pPr lvl="1"/>
            <a:r>
              <a:rPr lang="en-US" sz="2800" dirty="0"/>
              <a:t>Count</a:t>
            </a:r>
          </a:p>
        </p:txBody>
      </p:sp>
    </p:spTree>
    <p:extLst>
      <p:ext uri="{BB962C8B-B14F-4D97-AF65-F5344CB8AC3E}">
        <p14:creationId xmlns:p14="http://schemas.microsoft.com/office/powerpoint/2010/main" val="35783272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5D72AC-B176-B6FA-C292-B3C3C2B393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Tree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5FAD64E5-0D38-95EE-E7BB-019A17627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</p:spPr>
        <p:txBody>
          <a:bodyPr/>
          <a:lstStyle/>
          <a:p>
            <a:fld id="{24CFBF5F-D9F7-437E-8CF8-688EAF21A1C0}" type="slidenum">
              <a:rPr lang="ru-RU" smtClean="0"/>
              <a:pPr/>
              <a:t>20</a:t>
            </a:fld>
            <a:endParaRPr lang="ru-RU"/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1" y="6341397"/>
            <a:ext cx="3101410" cy="374650"/>
          </a:xfrm>
        </p:spPr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344985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21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algn="just" eaLnBrk="1" hangingPunct="1"/>
            <a:r>
              <a:rPr lang="en-US" sz="2800" dirty="0"/>
              <a:t>Tree is a data structure that emulates a hierarchical tree structure with a set of linked nodes</a:t>
            </a:r>
          </a:p>
        </p:txBody>
      </p:sp>
    </p:spTree>
    <p:extLst>
      <p:ext uri="{BB962C8B-B14F-4D97-AF65-F5344CB8AC3E}">
        <p14:creationId xmlns:p14="http://schemas.microsoft.com/office/powerpoint/2010/main" val="13171634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terminology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22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algn="just" eaLnBrk="1" hangingPunct="1"/>
            <a:r>
              <a:rPr lang="en-US" sz="2800" dirty="0"/>
              <a:t>A </a:t>
            </a:r>
            <a:r>
              <a:rPr lang="en-US" sz="2800" b="1" dirty="0"/>
              <a:t>node</a:t>
            </a:r>
            <a:r>
              <a:rPr lang="en-US" sz="2800" dirty="0"/>
              <a:t> is a structure which contains a value</a:t>
            </a:r>
          </a:p>
          <a:p>
            <a:pPr algn="just" eaLnBrk="1" hangingPunct="1"/>
            <a:r>
              <a:rPr lang="en-US" sz="2800" dirty="0"/>
              <a:t>Each node in a tree has zero or more </a:t>
            </a:r>
            <a:r>
              <a:rPr lang="en-US" sz="2800" b="1" dirty="0"/>
              <a:t>child nodes</a:t>
            </a:r>
          </a:p>
          <a:p>
            <a:pPr algn="just" eaLnBrk="1" hangingPunct="1"/>
            <a:r>
              <a:rPr lang="en-US" sz="2800" dirty="0"/>
              <a:t>A node that has a child is called the child's </a:t>
            </a:r>
            <a:r>
              <a:rPr lang="en-US" sz="2800" b="1" dirty="0"/>
              <a:t>parent node </a:t>
            </a:r>
            <a:r>
              <a:rPr lang="en-US" sz="2800" dirty="0"/>
              <a:t>(or </a:t>
            </a:r>
            <a:r>
              <a:rPr lang="en-US" sz="2800" b="1" dirty="0"/>
              <a:t>ancestor</a:t>
            </a:r>
            <a:r>
              <a:rPr lang="en-US" sz="2800" dirty="0"/>
              <a:t> node)</a:t>
            </a:r>
          </a:p>
          <a:p>
            <a:pPr algn="just" eaLnBrk="1" hangingPunct="1"/>
            <a:r>
              <a:rPr lang="en-US" sz="2800" dirty="0"/>
              <a:t>A node has at most </a:t>
            </a:r>
            <a:r>
              <a:rPr lang="en-US" sz="2800" b="1" dirty="0"/>
              <a:t>one</a:t>
            </a:r>
            <a:r>
              <a:rPr lang="en-US" sz="2800" dirty="0"/>
              <a:t> parent</a:t>
            </a:r>
          </a:p>
          <a:p>
            <a:pPr lvl="1" algn="just"/>
            <a:r>
              <a:rPr lang="en-US" sz="2800" dirty="0"/>
              <a:t>Data structure allowing more than one parent is called </a:t>
            </a:r>
            <a:r>
              <a:rPr lang="en-US" sz="2800" b="1" dirty="0"/>
              <a:t>Graph</a:t>
            </a:r>
            <a:r>
              <a:rPr lang="en-US" sz="2800" dirty="0"/>
              <a:t> </a:t>
            </a:r>
          </a:p>
          <a:p>
            <a:pPr algn="just" eaLnBrk="1" hangingPunct="1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47568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terminology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23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algn="just" eaLnBrk="1" hangingPunct="1"/>
            <a:r>
              <a:rPr lang="en-US" sz="2800" dirty="0"/>
              <a:t>The </a:t>
            </a:r>
            <a:r>
              <a:rPr lang="en-US" sz="2800" b="1" dirty="0"/>
              <a:t>height</a:t>
            </a:r>
            <a:r>
              <a:rPr lang="en-US" sz="2800" dirty="0"/>
              <a:t> of a node is the length of the longest downward path to a leaf from that node. The height of the root is the height of the tree. </a:t>
            </a:r>
          </a:p>
          <a:p>
            <a:pPr algn="just" eaLnBrk="1" hangingPunct="1"/>
            <a:r>
              <a:rPr lang="en-US" sz="2800" dirty="0"/>
              <a:t>The </a:t>
            </a:r>
            <a:r>
              <a:rPr lang="en-US" sz="2800" b="1" dirty="0"/>
              <a:t>depth</a:t>
            </a:r>
            <a:r>
              <a:rPr lang="en-US" sz="2800" dirty="0"/>
              <a:t> of a node is the length of the path to its root</a:t>
            </a:r>
          </a:p>
          <a:p>
            <a:pPr algn="just" eaLnBrk="1" hangingPunct="1"/>
            <a:r>
              <a:rPr lang="en-US" sz="2800" dirty="0"/>
              <a:t>The topmost node in a tree is called the </a:t>
            </a:r>
            <a:r>
              <a:rPr lang="en-US" sz="2800" b="1" dirty="0"/>
              <a:t>root node</a:t>
            </a:r>
          </a:p>
          <a:p>
            <a:pPr algn="just" eaLnBrk="1" hangingPunct="1"/>
            <a:r>
              <a:rPr lang="en-US" sz="2800" dirty="0"/>
              <a:t>A nodes with no children is called </a:t>
            </a:r>
            <a:r>
              <a:rPr lang="en-US" sz="2800" b="1" dirty="0"/>
              <a:t>leaf node</a:t>
            </a:r>
          </a:p>
        </p:txBody>
      </p:sp>
    </p:spTree>
    <p:extLst>
      <p:ext uri="{BB962C8B-B14F-4D97-AF65-F5344CB8AC3E}">
        <p14:creationId xmlns:p14="http://schemas.microsoft.com/office/powerpoint/2010/main" val="15582290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24</a:t>
            </a:fld>
            <a:endParaRPr lang="ru-RU"/>
          </a:p>
        </p:txBody>
      </p:sp>
      <p:pic>
        <p:nvPicPr>
          <p:cNvPr id="1026" name="Picture 2" descr="Binary tree - Wikipedia">
            <a:extLst>
              <a:ext uri="{FF2B5EF4-FFF2-40B4-BE49-F238E27FC236}">
                <a16:creationId xmlns:a16="http://schemas.microsoft.com/office/drawing/2014/main" id="{B19F9B3D-24FC-4432-BA6D-4AD5530B62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56" b="8729"/>
          <a:stretch/>
        </p:blipFill>
        <p:spPr bwMode="auto">
          <a:xfrm>
            <a:off x="3209601" y="352337"/>
            <a:ext cx="5772797" cy="5394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87065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traversal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25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algn="just" eaLnBrk="1" hangingPunct="1"/>
            <a:r>
              <a:rPr lang="en-US" sz="2800" dirty="0"/>
              <a:t>Tree nodes are not accessible by index. In order to access an element you should navigate from a root node in a node-by-node manner.</a:t>
            </a:r>
          </a:p>
          <a:p>
            <a:pPr algn="just" eaLnBrk="1" hangingPunct="1"/>
            <a:r>
              <a:rPr lang="en-US" sz="2800" dirty="0"/>
              <a:t>In order to access all nodes recursion should be used</a:t>
            </a:r>
          </a:p>
        </p:txBody>
      </p:sp>
    </p:spTree>
    <p:extLst>
      <p:ext uri="{BB962C8B-B14F-4D97-AF65-F5344CB8AC3E}">
        <p14:creationId xmlns:p14="http://schemas.microsoft.com/office/powerpoint/2010/main" val="34939479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Recursion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26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algn="just" eaLnBrk="1" hangingPunct="1"/>
            <a:r>
              <a:rPr lang="en-US" sz="2800" dirty="0"/>
              <a:t>Recursion is a method where the solution to a problem depends on solutions to smaller instances of the same problem</a:t>
            </a:r>
          </a:p>
          <a:p>
            <a:pPr algn="just" eaLnBrk="1" hangingPunct="1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668713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 all values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27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GetAll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(List&lt;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&gt; result, Node node)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result.Add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node.Value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	foreach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child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node.Children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GetAll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(result, child);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1838854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5D72AC-B176-B6FA-C292-B3C3C2B393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Map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5FAD64E5-0D38-95EE-E7BB-019A17627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</p:spPr>
        <p:txBody>
          <a:bodyPr/>
          <a:lstStyle/>
          <a:p>
            <a:fld id="{24CFBF5F-D9F7-437E-8CF8-688EAF21A1C0}" type="slidenum">
              <a:rPr lang="ru-RU" smtClean="0"/>
              <a:pPr/>
              <a:t>28</a:t>
            </a:fld>
            <a:endParaRPr lang="ru-RU"/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1" y="6341397"/>
            <a:ext cx="3101410" cy="374650"/>
          </a:xfrm>
        </p:spPr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78372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29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algn="just" eaLnBrk="1" hangingPunct="1"/>
            <a:r>
              <a:rPr lang="en-US" sz="2800" dirty="0"/>
              <a:t>Map is a collection of </a:t>
            </a:r>
            <a:r>
              <a:rPr lang="en-US" sz="2800" b="1" dirty="0"/>
              <a:t>key-value pairs</a:t>
            </a:r>
          </a:p>
          <a:p>
            <a:pPr algn="just" eaLnBrk="1" hangingPunct="1"/>
            <a:r>
              <a:rPr lang="en-US" sz="2800" dirty="0"/>
              <a:t>Map is optimized for retrieving values by </a:t>
            </a:r>
            <a:r>
              <a:rPr lang="en-US" sz="2800" b="1" dirty="0"/>
              <a:t>key</a:t>
            </a:r>
          </a:p>
          <a:p>
            <a:pPr algn="just" eaLnBrk="1" hangingPunct="1"/>
            <a:r>
              <a:rPr lang="en-US" sz="2800" dirty="0"/>
              <a:t>Maps are sometimes referred to as </a:t>
            </a:r>
            <a:r>
              <a:rPr lang="en-US" sz="2800" b="1" dirty="0"/>
              <a:t>associative arrays</a:t>
            </a:r>
          </a:p>
        </p:txBody>
      </p:sp>
    </p:spTree>
    <p:extLst>
      <p:ext uri="{BB962C8B-B14F-4D97-AF65-F5344CB8AC3E}">
        <p14:creationId xmlns:p14="http://schemas.microsoft.com/office/powerpoint/2010/main" val="17794893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 implementation in </a:t>
            </a:r>
            <a:r>
              <a:rPr lang="en-US" dirty="0" err="1"/>
              <a:t>.Net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30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algn="just" eaLnBrk="1" hangingPunct="1"/>
            <a:r>
              <a:rPr lang="en-US" sz="2800" dirty="0"/>
              <a:t>Dictionary&lt;TKey, TValue&gt;</a:t>
            </a:r>
          </a:p>
          <a:p>
            <a:pPr algn="just" eaLnBrk="1" hangingPunct="1"/>
            <a:r>
              <a:rPr lang="en-US" sz="2800" dirty="0"/>
              <a:t>Keys must be unique and cannot be null</a:t>
            </a:r>
          </a:p>
          <a:p>
            <a:pPr algn="just" eaLnBrk="1" hangingPunct="1"/>
            <a:r>
              <a:rPr lang="en-US" sz="2800" dirty="0"/>
              <a:t>Values can be null or duplicate</a:t>
            </a:r>
          </a:p>
          <a:p>
            <a:pPr algn="just" eaLnBrk="1" hangingPunct="1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692114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 implementation in </a:t>
            </a:r>
            <a:r>
              <a:rPr lang="en-US" dirty="0" err="1"/>
              <a:t>.Net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31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algn="just" eaLnBrk="1" hangingPunct="1"/>
            <a:r>
              <a:rPr lang="en-US" sz="2800" dirty="0"/>
              <a:t>Operations</a:t>
            </a:r>
          </a:p>
          <a:p>
            <a:pPr lvl="1" algn="just"/>
            <a:r>
              <a:rPr lang="en-US" sz="2800" dirty="0"/>
              <a:t>Add(TKey key, TValue value)</a:t>
            </a:r>
          </a:p>
          <a:p>
            <a:pPr lvl="1" algn="just"/>
            <a:r>
              <a:rPr lang="en-US" sz="2800" dirty="0" err="1"/>
              <a:t>ContainsKey</a:t>
            </a:r>
            <a:r>
              <a:rPr lang="en-US" sz="2800" dirty="0"/>
              <a:t>(TKey key)</a:t>
            </a:r>
          </a:p>
          <a:p>
            <a:pPr lvl="1" algn="just"/>
            <a:r>
              <a:rPr lang="en-US" sz="2800" dirty="0"/>
              <a:t>[] (indexer)</a:t>
            </a:r>
          </a:p>
          <a:p>
            <a:pPr lvl="2" algn="just"/>
            <a:r>
              <a:rPr lang="en-US" sz="2800" dirty="0"/>
              <a:t>throws </a:t>
            </a:r>
            <a:r>
              <a:rPr lang="en-US" sz="2800" dirty="0" err="1"/>
              <a:t>KeyNotFoundException</a:t>
            </a:r>
            <a:endParaRPr lang="en-US" sz="2800" dirty="0"/>
          </a:p>
          <a:p>
            <a:pPr lvl="1" algn="just"/>
            <a:r>
              <a:rPr lang="en-US" sz="2800" dirty="0" err="1"/>
              <a:t>TryGetValue</a:t>
            </a:r>
            <a:r>
              <a:rPr lang="en-US" sz="2800" dirty="0"/>
              <a:t>(TKey key, out TValue value)</a:t>
            </a:r>
          </a:p>
          <a:p>
            <a:pPr lvl="1" algn="just"/>
            <a:r>
              <a:rPr lang="en-US" sz="2800" dirty="0"/>
              <a:t>Count</a:t>
            </a:r>
          </a:p>
        </p:txBody>
      </p:sp>
    </p:spTree>
    <p:extLst>
      <p:ext uri="{BB962C8B-B14F-4D97-AF65-F5344CB8AC3E}">
        <p14:creationId xmlns:p14="http://schemas.microsoft.com/office/powerpoint/2010/main" val="18576364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 implementation in </a:t>
            </a:r>
            <a:r>
              <a:rPr lang="en-US" dirty="0" err="1"/>
              <a:t>.Net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32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algn="just" eaLnBrk="1" hangingPunct="1"/>
            <a:r>
              <a:rPr lang="en-US" sz="2800" dirty="0"/>
              <a:t>Performance</a:t>
            </a:r>
          </a:p>
          <a:p>
            <a:pPr lvl="1" algn="just"/>
            <a:r>
              <a:rPr lang="en-US" sz="2800" dirty="0"/>
              <a:t>Adding new elements</a:t>
            </a:r>
          </a:p>
          <a:p>
            <a:pPr lvl="2" algn="just"/>
            <a:r>
              <a:rPr lang="en-US" sz="2800" dirty="0"/>
              <a:t>If count is less then capacity =&gt; approaches O(1) </a:t>
            </a:r>
          </a:p>
          <a:p>
            <a:pPr lvl="2" algn="just"/>
            <a:r>
              <a:rPr lang="en-US" sz="2800" dirty="0"/>
              <a:t>If the capacity must be increased to accommodate the new element =&gt; O(n), where n is Count</a:t>
            </a:r>
          </a:p>
          <a:p>
            <a:pPr lvl="1" algn="just"/>
            <a:r>
              <a:rPr lang="en-US" sz="2800" dirty="0"/>
              <a:t>Retrieving by key approaches O(1)</a:t>
            </a:r>
          </a:p>
        </p:txBody>
      </p:sp>
    </p:spTree>
    <p:extLst>
      <p:ext uri="{BB962C8B-B14F-4D97-AF65-F5344CB8AC3E}">
        <p14:creationId xmlns:p14="http://schemas.microsoft.com/office/powerpoint/2010/main" val="17304893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 implementation in </a:t>
            </a:r>
            <a:r>
              <a:rPr lang="en-US" dirty="0" err="1"/>
              <a:t>.Net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33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95646" cy="4174572"/>
          </a:xfrm>
        </p:spPr>
        <p:txBody>
          <a:bodyPr/>
          <a:lstStyle/>
          <a:p>
            <a:pPr eaLnBrk="1" hangingPunct="1"/>
            <a:r>
              <a:rPr lang="en-US" sz="2700" dirty="0"/>
              <a:t>Most collections have .</a:t>
            </a:r>
            <a:r>
              <a:rPr lang="en-US" sz="2700" dirty="0" err="1"/>
              <a:t>ToDictionary</a:t>
            </a:r>
            <a:r>
              <a:rPr lang="en-US" sz="2700" dirty="0"/>
              <a:t>() method</a:t>
            </a:r>
          </a:p>
          <a:p>
            <a:pPr eaLnBrk="1" hangingPunct="1"/>
            <a:endParaRPr lang="en-US" sz="2700" dirty="0"/>
          </a:p>
          <a:p>
            <a:pPr marL="0" indent="0">
              <a:buNone/>
            </a:pPr>
            <a:r>
              <a:rPr lang="en-US" sz="31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d = </a:t>
            </a:r>
            <a:r>
              <a:rPr lang="en-US" sz="3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myList.ToDictionary</a:t>
            </a: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(t =&gt; </a:t>
            </a:r>
            <a:r>
              <a:rPr lang="en-US" sz="3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t.Id</a:t>
            </a: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, t =&gt; t);</a:t>
            </a:r>
            <a:endParaRPr lang="en-US" sz="3100" dirty="0"/>
          </a:p>
          <a:p>
            <a:pPr eaLnBrk="1" hangingPunct="1"/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1757339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450F9B-C91F-8251-DBB6-902A113A00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end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D585132-5E6B-6252-979D-81557B974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</p:spPr>
        <p:txBody>
          <a:bodyPr/>
          <a:lstStyle/>
          <a:p>
            <a:fld id="{24CFBF5F-D9F7-437E-8CF8-688EAF21A1C0}" type="slidenum">
              <a:rPr lang="ru-RU" smtClean="0"/>
              <a:pPr/>
              <a:t>34</a:t>
            </a:fld>
            <a:endParaRPr lang="ru-RU"/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1" y="6341397"/>
            <a:ext cx="3101410" cy="374650"/>
          </a:xfrm>
        </p:spPr>
        <p:txBody>
          <a:bodyPr/>
          <a:lstStyle/>
          <a:p>
            <a:r>
              <a:rPr lang="en-US"/>
              <a:t>BSc Business Information Systems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479187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Custom 8">
      <a:dk1>
        <a:sysClr val="windowText" lastClr="000000"/>
      </a:dk1>
      <a:lt1>
        <a:sysClr val="window" lastClr="FFFFFF"/>
      </a:lt1>
      <a:dk2>
        <a:srgbClr val="07428C"/>
      </a:dk2>
      <a:lt2>
        <a:srgbClr val="EDEDED"/>
      </a:lt2>
      <a:accent1>
        <a:srgbClr val="083FA4"/>
      </a:accent1>
      <a:accent2>
        <a:srgbClr val="ED7D31"/>
      </a:accent2>
      <a:accent3>
        <a:srgbClr val="35A8E0"/>
      </a:accent3>
      <a:accent4>
        <a:srgbClr val="FFC000"/>
      </a:accent4>
      <a:accent5>
        <a:srgbClr val="4472C4"/>
      </a:accent5>
      <a:accent6>
        <a:srgbClr val="70AD47"/>
      </a:accent6>
      <a:hlink>
        <a:srgbClr val="358A7C"/>
      </a:hlink>
      <a:folHlink>
        <a:srgbClr val="B7283C"/>
      </a:folHlink>
    </a:clrScheme>
    <a:fontScheme name="Другая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Другая 13">
      <a:dk1>
        <a:sysClr val="windowText" lastClr="000000"/>
      </a:dk1>
      <a:lt1>
        <a:sysClr val="window" lastClr="FFFFFF"/>
      </a:lt1>
      <a:dk2>
        <a:srgbClr val="264C94"/>
      </a:dk2>
      <a:lt2>
        <a:srgbClr val="35A8E0"/>
      </a:lt2>
      <a:accent1>
        <a:srgbClr val="7CB4E2"/>
      </a:accent1>
      <a:accent2>
        <a:srgbClr val="358A7C"/>
      </a:accent2>
      <a:accent3>
        <a:srgbClr val="A5A5A5"/>
      </a:accent3>
      <a:accent4>
        <a:srgbClr val="26693A"/>
      </a:accent4>
      <a:accent5>
        <a:srgbClr val="F6AC10"/>
      </a:accent5>
      <a:accent6>
        <a:srgbClr val="B7283C"/>
      </a:accent6>
      <a:hlink>
        <a:srgbClr val="358A7C"/>
      </a:hlink>
      <a:folHlink>
        <a:srgbClr val="B7283C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1756</TotalTime>
  <Words>1021</Words>
  <Application>Microsoft Office PowerPoint</Application>
  <PresentationFormat>Widescreen</PresentationFormat>
  <Paragraphs>204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Cascadia Mono</vt:lpstr>
      <vt:lpstr>Consolas</vt:lpstr>
      <vt:lpstr>Тема Office</vt:lpstr>
      <vt:lpstr>Fundamentals of Programming</vt:lpstr>
      <vt:lpstr>Agenda</vt:lpstr>
      <vt:lpstr>Queue</vt:lpstr>
      <vt:lpstr>Queue</vt:lpstr>
      <vt:lpstr>Queue operations</vt:lpstr>
      <vt:lpstr>FIFO</vt:lpstr>
      <vt:lpstr>Queue applications</vt:lpstr>
      <vt:lpstr>Queue applications</vt:lpstr>
      <vt:lpstr>Priority Queue</vt:lpstr>
      <vt:lpstr>Double-ended queue (Deque)</vt:lpstr>
      <vt:lpstr>Queue implementation in .Net</vt:lpstr>
      <vt:lpstr>Stack</vt:lpstr>
      <vt:lpstr>Stack</vt:lpstr>
      <vt:lpstr>Stack</vt:lpstr>
      <vt:lpstr>Stack</vt:lpstr>
      <vt:lpstr>Stack</vt:lpstr>
      <vt:lpstr>Stack applications</vt:lpstr>
      <vt:lpstr>Stack applications</vt:lpstr>
      <vt:lpstr>Stack implementation in .Net</vt:lpstr>
      <vt:lpstr>Tree</vt:lpstr>
      <vt:lpstr>Tree</vt:lpstr>
      <vt:lpstr>Tree terminology</vt:lpstr>
      <vt:lpstr>Tree terminology</vt:lpstr>
      <vt:lpstr>Tree</vt:lpstr>
      <vt:lpstr>Tree traversal</vt:lpstr>
      <vt:lpstr>Recursion</vt:lpstr>
      <vt:lpstr>Get all values</vt:lpstr>
      <vt:lpstr>Map</vt:lpstr>
      <vt:lpstr>Map</vt:lpstr>
      <vt:lpstr>Map implementation in .Net</vt:lpstr>
      <vt:lpstr>Map implementation in .Net</vt:lpstr>
      <vt:lpstr>Map implementation in .Net</vt:lpstr>
      <vt:lpstr>Map implementation in .Net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Vasiliy Kuznetsov</cp:lastModifiedBy>
  <cp:revision>200</cp:revision>
  <dcterms:created xsi:type="dcterms:W3CDTF">2022-06-28T05:50:22Z</dcterms:created>
  <dcterms:modified xsi:type="dcterms:W3CDTF">2025-02-14T03:39:38Z</dcterms:modified>
</cp:coreProperties>
</file>