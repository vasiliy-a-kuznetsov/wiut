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1" r:id="rId6"/>
    <p:sldId id="283" r:id="rId7"/>
    <p:sldId id="284" r:id="rId8"/>
    <p:sldId id="285" r:id="rId9"/>
    <p:sldId id="286" r:id="rId10"/>
    <p:sldId id="287" r:id="rId11"/>
    <p:sldId id="288" r:id="rId12"/>
    <p:sldId id="289" r:id="rId13"/>
    <p:sldId id="290" r:id="rId14"/>
    <p:sldId id="291" r:id="rId15"/>
    <p:sldId id="292" r:id="rId16"/>
    <p:sldId id="293" r:id="rId17"/>
    <p:sldId id="294" r:id="rId18"/>
    <p:sldId id="295" r:id="rId19"/>
    <p:sldId id="296" r:id="rId20"/>
    <p:sldId id="297" r:id="rId21"/>
    <p:sldId id="282" r:id="rId22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8" d="100"/>
          <a:sy n="108" d="100"/>
        </p:scale>
        <p:origin x="1704" y="10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0" y="0"/>
            <a:ext cx="9144000" cy="6858000"/>
            <a:chOff x="0" y="0"/>
            <a:chExt cx="5760" cy="4320"/>
          </a:xfrm>
        </p:grpSpPr>
        <p:sp>
          <p:nvSpPr>
            <p:cNvPr id="5" name="Rectangle 3"/>
            <p:cNvSpPr>
              <a:spLocks noChangeArrowheads="1"/>
            </p:cNvSpPr>
            <p:nvPr/>
          </p:nvSpPr>
          <p:spPr bwMode="hidden">
            <a:xfrm>
              <a:off x="0" y="0"/>
              <a:ext cx="2208" cy="4320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endParaRPr lang="en-US" sz="2400">
                <a:latin typeface="Times New Roman" panose="02020603050405020304" pitchFamily="18" charset="0"/>
              </a:endParaRPr>
            </a:p>
          </p:txBody>
        </p:sp>
        <p:sp>
          <p:nvSpPr>
            <p:cNvPr id="6" name="Rectangle 4"/>
            <p:cNvSpPr>
              <a:spLocks noChangeArrowheads="1"/>
            </p:cNvSpPr>
            <p:nvPr/>
          </p:nvSpPr>
          <p:spPr bwMode="hidden">
            <a:xfrm>
              <a:off x="1081" y="1065"/>
              <a:ext cx="4679" cy="159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endParaRPr lang="en-US" sz="2400">
                <a:latin typeface="Times New Roman" panose="02020603050405020304" pitchFamily="18" charset="0"/>
              </a:endParaRPr>
            </a:p>
          </p:txBody>
        </p:sp>
        <p:grpSp>
          <p:nvGrpSpPr>
            <p:cNvPr id="7" name="Group 5"/>
            <p:cNvGrpSpPr>
              <a:grpSpLocks/>
            </p:cNvGrpSpPr>
            <p:nvPr/>
          </p:nvGrpSpPr>
          <p:grpSpPr bwMode="auto">
            <a:xfrm>
              <a:off x="0" y="672"/>
              <a:ext cx="1806" cy="1989"/>
              <a:chOff x="0" y="672"/>
              <a:chExt cx="1806" cy="1989"/>
            </a:xfrm>
          </p:grpSpPr>
          <p:sp>
            <p:nvSpPr>
              <p:cNvPr id="8" name="Rectangle 6"/>
              <p:cNvSpPr>
                <a:spLocks noChangeArrowheads="1"/>
              </p:cNvSpPr>
              <p:nvPr userDrawn="1"/>
            </p:nvSpPr>
            <p:spPr bwMode="auto">
              <a:xfrm>
                <a:off x="361" y="2257"/>
                <a:ext cx="363" cy="404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9" name="Rectangle 7"/>
              <p:cNvSpPr>
                <a:spLocks noChangeArrowheads="1"/>
              </p:cNvSpPr>
              <p:nvPr userDrawn="1"/>
            </p:nvSpPr>
            <p:spPr bwMode="auto">
              <a:xfrm>
                <a:off x="1081" y="1065"/>
                <a:ext cx="362" cy="405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" name="Rectangle 8"/>
              <p:cNvSpPr>
                <a:spLocks noChangeArrowheads="1"/>
              </p:cNvSpPr>
              <p:nvPr userDrawn="1"/>
            </p:nvSpPr>
            <p:spPr bwMode="auto">
              <a:xfrm>
                <a:off x="1437" y="672"/>
                <a:ext cx="369" cy="400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" name="Rectangle 9"/>
              <p:cNvSpPr>
                <a:spLocks noChangeArrowheads="1"/>
              </p:cNvSpPr>
              <p:nvPr userDrawn="1"/>
            </p:nvSpPr>
            <p:spPr bwMode="auto">
              <a:xfrm>
                <a:off x="719" y="2257"/>
                <a:ext cx="368" cy="404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2" name="Rectangle 10"/>
              <p:cNvSpPr>
                <a:spLocks noChangeArrowheads="1"/>
              </p:cNvSpPr>
              <p:nvPr userDrawn="1"/>
            </p:nvSpPr>
            <p:spPr bwMode="auto">
              <a:xfrm>
                <a:off x="1437" y="1065"/>
                <a:ext cx="369" cy="405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3" name="Rectangle 11"/>
              <p:cNvSpPr>
                <a:spLocks noChangeArrowheads="1"/>
              </p:cNvSpPr>
              <p:nvPr userDrawn="1"/>
            </p:nvSpPr>
            <p:spPr bwMode="auto">
              <a:xfrm>
                <a:off x="719" y="1464"/>
                <a:ext cx="368" cy="399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4" name="Rectangle 12"/>
              <p:cNvSpPr>
                <a:spLocks noChangeArrowheads="1"/>
              </p:cNvSpPr>
              <p:nvPr userDrawn="1"/>
            </p:nvSpPr>
            <p:spPr bwMode="auto">
              <a:xfrm>
                <a:off x="0" y="1464"/>
                <a:ext cx="367" cy="399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5" name="Rectangle 13"/>
              <p:cNvSpPr>
                <a:spLocks noChangeArrowheads="1"/>
              </p:cNvSpPr>
              <p:nvPr userDrawn="1"/>
            </p:nvSpPr>
            <p:spPr bwMode="auto">
              <a:xfrm>
                <a:off x="1081" y="1464"/>
                <a:ext cx="362" cy="399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6" name="Rectangle 14"/>
              <p:cNvSpPr>
                <a:spLocks noChangeArrowheads="1"/>
              </p:cNvSpPr>
              <p:nvPr userDrawn="1"/>
            </p:nvSpPr>
            <p:spPr bwMode="auto">
              <a:xfrm>
                <a:off x="361" y="1857"/>
                <a:ext cx="363" cy="406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endParaRPr lang="en-US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7" name="Rectangle 15"/>
              <p:cNvSpPr>
                <a:spLocks noChangeArrowheads="1"/>
              </p:cNvSpPr>
              <p:nvPr userDrawn="1"/>
            </p:nvSpPr>
            <p:spPr bwMode="auto">
              <a:xfrm>
                <a:off x="719" y="1857"/>
                <a:ext cx="368" cy="406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endParaRPr lang="en-US" sz="2400">
                  <a:latin typeface="Times New Roman" panose="02020603050405020304" pitchFamily="18" charset="0"/>
                </a:endParaRPr>
              </a:p>
            </p:txBody>
          </p:sp>
        </p:grpSp>
      </p:grpSp>
      <p:pic>
        <p:nvPicPr>
          <p:cNvPr id="18" name="Picture 21" descr="PP_WIUT_Attachment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7524750" cy="658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39" name="Rectangle 19"/>
          <p:cNvSpPr>
            <a:spLocks noGrp="1" noChangeArrowheads="1"/>
          </p:cNvSpPr>
          <p:nvPr>
            <p:ph type="ctrTitle"/>
          </p:nvPr>
        </p:nvSpPr>
        <p:spPr>
          <a:xfrm>
            <a:off x="2971800" y="1828800"/>
            <a:ext cx="6019800" cy="2209800"/>
          </a:xfrm>
        </p:spPr>
        <p:txBody>
          <a:bodyPr/>
          <a:lstStyle>
            <a:lvl1pPr>
              <a:defRPr sz="5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5140" name="Rectangle 20"/>
          <p:cNvSpPr>
            <a:spLocks noGrp="1" noChangeArrowheads="1"/>
          </p:cNvSpPr>
          <p:nvPr>
            <p:ph type="subTitle" idx="1"/>
          </p:nvPr>
        </p:nvSpPr>
        <p:spPr>
          <a:xfrm>
            <a:off x="2971800" y="4267200"/>
            <a:ext cx="6019800" cy="1752600"/>
          </a:xfrm>
        </p:spPr>
        <p:txBody>
          <a:bodyPr/>
          <a:lstStyle>
            <a:lvl1pPr marL="0" indent="0">
              <a:buFont typeface="Wingdings" pitchFamily="2" charset="2"/>
              <a:buNone/>
              <a:defRPr sz="3400"/>
            </a:lvl1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19" name="Rectangle 16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8400"/>
            <a:ext cx="21336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" name="Rectangle 17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1" name="Rectangle 18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3E0BAE7C-ACE8-4B91-A425-1DFA51B0C08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4775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4FCFA1A-94C2-4027-BD4F-02D8CD682D8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123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39ED37C-5185-49E7-BC6C-CDFE76178EF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771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773238"/>
            <a:ext cx="4038600" cy="42481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773238"/>
            <a:ext cx="4038600" cy="42481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E9C7FF5-CFD8-47F5-BBB6-D5821D6B4B3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51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0527D89-2446-448A-B86F-DBD4C58537C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9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849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5F90E72-0048-4868-B12A-723AC84FA69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5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4104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219906E-7AC0-43C8-BFEE-ECDE63B13D1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4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284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C78E25F-1F16-4356-980E-089E13DE108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9101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AC433E9-229E-43C1-AD8B-7A777426B10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4643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4ACF91D-79D4-42DA-91E0-E97CCD84493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456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765175"/>
            <a:ext cx="2057400" cy="525621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765175"/>
            <a:ext cx="6019800" cy="525621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4FBCEEB-44DB-4CA5-8424-DF74BA3EF3C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6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0747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/>
          </p:nvPr>
        </p:nvSpPr>
        <p:spPr>
          <a:xfrm>
            <a:off x="457200" y="765175"/>
            <a:ext cx="8229600" cy="5256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AD22ABD-238C-4D0C-AD96-0510C4751A8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5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4741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65175"/>
            <a:ext cx="8229600" cy="93503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773238"/>
            <a:ext cx="4038600" cy="42481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773238"/>
            <a:ext cx="4038600" cy="42481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1CF6B40-4A86-405D-A59D-CF2B2BEF8EF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7" name="Rectangle 16"/>
          <p:cNvSpPr>
            <a:spLocks noGrp="1" noChangeArrowheads="1"/>
          </p:cNvSpPr>
          <p:nvPr>
            <p:ph type="dt" sz="half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3490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smtClean="0">
                <a:latin typeface="Arial Black" panose="020B0A04020102020204" pitchFamily="34" charset="0"/>
              </a:defRPr>
            </a:lvl1pPr>
          </a:lstStyle>
          <a:p>
            <a:pPr>
              <a:defRPr/>
            </a:pPr>
            <a:fld id="{A9EA224B-B0D6-4E57-8C79-1B9E022AFF5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grpSp>
        <p:nvGrpSpPr>
          <p:cNvPr id="1028" name="Group 4"/>
          <p:cNvGrpSpPr>
            <a:grpSpLocks/>
          </p:cNvGrpSpPr>
          <p:nvPr/>
        </p:nvGrpSpPr>
        <p:grpSpPr bwMode="auto">
          <a:xfrm>
            <a:off x="0" y="0"/>
            <a:ext cx="9144000" cy="546100"/>
            <a:chOff x="0" y="0"/>
            <a:chExt cx="5760" cy="344"/>
          </a:xfrm>
        </p:grpSpPr>
        <p:sp>
          <p:nvSpPr>
            <p:cNvPr id="1033" name="Rectangle 5"/>
            <p:cNvSpPr>
              <a:spLocks noChangeArrowheads="1"/>
            </p:cNvSpPr>
            <p:nvPr/>
          </p:nvSpPr>
          <p:spPr bwMode="auto">
            <a:xfrm>
              <a:off x="0" y="0"/>
              <a:ext cx="180" cy="336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/>
              <a:endParaRPr lang="en-US" sz="2400">
                <a:latin typeface="Times New Roman" panose="02020603050405020304" pitchFamily="18" charset="0"/>
              </a:endParaRPr>
            </a:p>
          </p:txBody>
        </p:sp>
        <p:sp>
          <p:nvSpPr>
            <p:cNvPr id="1034" name="Rectangle 6"/>
            <p:cNvSpPr>
              <a:spLocks noChangeArrowheads="1"/>
            </p:cNvSpPr>
            <p:nvPr/>
          </p:nvSpPr>
          <p:spPr bwMode="auto">
            <a:xfrm>
              <a:off x="260" y="85"/>
              <a:ext cx="5500" cy="173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endParaRPr lang="en-US" sz="2400">
                <a:latin typeface="Times New Roman" panose="02020603050405020304" pitchFamily="18" charset="0"/>
              </a:endParaRPr>
            </a:p>
          </p:txBody>
        </p:sp>
        <p:sp>
          <p:nvSpPr>
            <p:cNvPr id="1035" name="Rectangle 7"/>
            <p:cNvSpPr>
              <a:spLocks noChangeArrowheads="1"/>
            </p:cNvSpPr>
            <p:nvPr/>
          </p:nvSpPr>
          <p:spPr bwMode="auto">
            <a:xfrm>
              <a:off x="258" y="85"/>
              <a:ext cx="87" cy="89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endParaRPr lang="en-US">
                <a:solidFill>
                  <a:schemeClr val="hlink"/>
                </a:solidFill>
              </a:endParaRPr>
            </a:p>
          </p:txBody>
        </p:sp>
        <p:sp>
          <p:nvSpPr>
            <p:cNvPr id="1036" name="Rectangle 8"/>
            <p:cNvSpPr>
              <a:spLocks noChangeArrowheads="1"/>
            </p:cNvSpPr>
            <p:nvPr/>
          </p:nvSpPr>
          <p:spPr bwMode="auto">
            <a:xfrm>
              <a:off x="345" y="0"/>
              <a:ext cx="88" cy="87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endParaRPr lang="en-US">
                <a:solidFill>
                  <a:schemeClr val="hlink"/>
                </a:solidFill>
              </a:endParaRPr>
            </a:p>
          </p:txBody>
        </p:sp>
        <p:sp>
          <p:nvSpPr>
            <p:cNvPr id="1037" name="Rectangle 9"/>
            <p:cNvSpPr>
              <a:spLocks noChangeArrowheads="1"/>
            </p:cNvSpPr>
            <p:nvPr/>
          </p:nvSpPr>
          <p:spPr bwMode="auto">
            <a:xfrm>
              <a:off x="345" y="85"/>
              <a:ext cx="88" cy="89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endParaRPr lang="en-US">
                <a:solidFill>
                  <a:schemeClr val="accent2"/>
                </a:solidFill>
              </a:endParaRPr>
            </a:p>
          </p:txBody>
        </p:sp>
        <p:sp>
          <p:nvSpPr>
            <p:cNvPr id="1038" name="Rectangle 10"/>
            <p:cNvSpPr>
              <a:spLocks noChangeArrowheads="1"/>
            </p:cNvSpPr>
            <p:nvPr/>
          </p:nvSpPr>
          <p:spPr bwMode="auto">
            <a:xfrm>
              <a:off x="173" y="173"/>
              <a:ext cx="86" cy="87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endParaRPr lang="en-US">
                <a:solidFill>
                  <a:schemeClr val="hlink"/>
                </a:solidFill>
              </a:endParaRPr>
            </a:p>
          </p:txBody>
        </p:sp>
        <p:sp>
          <p:nvSpPr>
            <p:cNvPr id="1039" name="Rectangle 11"/>
            <p:cNvSpPr>
              <a:spLocks noChangeArrowheads="1"/>
            </p:cNvSpPr>
            <p:nvPr/>
          </p:nvSpPr>
          <p:spPr bwMode="auto">
            <a:xfrm>
              <a:off x="83" y="86"/>
              <a:ext cx="89" cy="8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endParaRPr lang="en-US" sz="2400">
                <a:latin typeface="Times New Roman" panose="02020603050405020304" pitchFamily="18" charset="0"/>
              </a:endParaRPr>
            </a:p>
          </p:txBody>
        </p:sp>
        <p:sp>
          <p:nvSpPr>
            <p:cNvPr id="1040" name="Rectangle 12"/>
            <p:cNvSpPr>
              <a:spLocks noChangeArrowheads="1"/>
            </p:cNvSpPr>
            <p:nvPr/>
          </p:nvSpPr>
          <p:spPr bwMode="auto">
            <a:xfrm>
              <a:off x="258" y="171"/>
              <a:ext cx="87" cy="87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endParaRPr lang="en-US">
                <a:solidFill>
                  <a:schemeClr val="accent2"/>
                </a:solidFill>
              </a:endParaRPr>
            </a:p>
          </p:txBody>
        </p:sp>
        <p:sp>
          <p:nvSpPr>
            <p:cNvPr id="1041" name="Rectangle 13"/>
            <p:cNvSpPr>
              <a:spLocks noChangeArrowheads="1"/>
            </p:cNvSpPr>
            <p:nvPr/>
          </p:nvSpPr>
          <p:spPr bwMode="auto">
            <a:xfrm>
              <a:off x="173" y="258"/>
              <a:ext cx="86" cy="86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endParaRPr lang="en-US">
                <a:solidFill>
                  <a:schemeClr val="accent2"/>
                </a:solidFill>
              </a:endParaRPr>
            </a:p>
          </p:txBody>
        </p:sp>
      </p:grpSp>
      <p:sp>
        <p:nvSpPr>
          <p:cNvPr id="1029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765175"/>
            <a:ext cx="8229600" cy="935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1030" name="Rectangle 15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773238"/>
            <a:ext cx="8229600" cy="4248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112" name="Rectangle 16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pic>
        <p:nvPicPr>
          <p:cNvPr id="1032" name="Picture 17" descr="PP_WIUT_Attachment"/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7524750" cy="638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43" r:id="rId1"/>
    <p:sldLayoutId id="2147483731" r:id="rId2"/>
    <p:sldLayoutId id="2147483732" r:id="rId3"/>
    <p:sldLayoutId id="2147483733" r:id="rId4"/>
    <p:sldLayoutId id="2147483734" r:id="rId5"/>
    <p:sldLayoutId id="2147483735" r:id="rId6"/>
    <p:sldLayoutId id="2147483736" r:id="rId7"/>
    <p:sldLayoutId id="2147483737" r:id="rId8"/>
    <p:sldLayoutId id="2147483738" r:id="rId9"/>
    <p:sldLayoutId id="2147483739" r:id="rId10"/>
    <p:sldLayoutId id="2147483740" r:id="rId11"/>
    <p:sldLayoutId id="2147483741" r:id="rId12"/>
    <p:sldLayoutId id="2147483742" r:id="rId1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SzPct val="75000"/>
        <a:buFont typeface="Wingdings" panose="05000000000000000000" pitchFamily="2" charset="2"/>
        <a:buChar char="n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80000"/>
        <a:buFont typeface="Wingdings" panose="05000000000000000000" pitchFamily="2" charset="2"/>
        <a:buChar char="¨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SzPct val="65000"/>
        <a:buFont typeface="Wingdings" panose="05000000000000000000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anose="05000000000000000000" pitchFamily="2" charset="2"/>
        <a:buChar char="¨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Lecture 17</a:t>
            </a: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Big-O notation</a:t>
            </a:r>
          </a:p>
          <a:p>
            <a:pPr eaLnBrk="1" hangingPunct="1"/>
            <a:r>
              <a:rPr lang="en-US" dirty="0"/>
              <a:t>Linked lists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Outcomes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Understand Big-O notation</a:t>
            </a:r>
          </a:p>
          <a:p>
            <a:pPr eaLnBrk="1" hangingPunct="1"/>
            <a:endParaRPr lang="en-US" dirty="0"/>
          </a:p>
          <a:p>
            <a:pPr eaLnBrk="1" hangingPunct="1"/>
            <a:r>
              <a:rPr lang="en-US" dirty="0"/>
              <a:t>Understand shortcomings of the Arrays</a:t>
            </a:r>
          </a:p>
          <a:p>
            <a:pPr eaLnBrk="1" hangingPunct="1"/>
            <a:endParaRPr lang="en-US" dirty="0"/>
          </a:p>
          <a:p>
            <a:pPr eaLnBrk="1" hangingPunct="1"/>
            <a:r>
              <a:rPr lang="en-US" dirty="0"/>
              <a:t>Understand nature and structure of Linked lists</a:t>
            </a:r>
          </a:p>
          <a:p>
            <a:pPr marL="0" indent="0" eaLnBrk="1" hangingPunct="1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Big-O notation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also known as </a:t>
            </a:r>
          </a:p>
          <a:p>
            <a:pPr lvl="1"/>
            <a:r>
              <a:rPr lang="en-US" b="1" dirty="0"/>
              <a:t>big Oh notation</a:t>
            </a:r>
            <a:r>
              <a:rPr lang="en-US" dirty="0"/>
              <a:t>, </a:t>
            </a:r>
          </a:p>
          <a:p>
            <a:pPr lvl="1"/>
            <a:r>
              <a:rPr lang="en-US" b="1" dirty="0"/>
              <a:t>big Omicron notation</a:t>
            </a:r>
            <a:r>
              <a:rPr lang="en-US" dirty="0"/>
              <a:t>, </a:t>
            </a:r>
          </a:p>
          <a:p>
            <a:pPr lvl="1"/>
            <a:r>
              <a:rPr lang="en-US" b="1" dirty="0"/>
              <a:t>Landau notation</a:t>
            </a:r>
            <a:r>
              <a:rPr lang="en-US" dirty="0"/>
              <a:t>, </a:t>
            </a:r>
          </a:p>
          <a:p>
            <a:pPr lvl="1"/>
            <a:r>
              <a:rPr lang="en-US" b="1" dirty="0"/>
              <a:t>Bachmann–Landau notation</a:t>
            </a:r>
            <a:r>
              <a:rPr lang="en-US" dirty="0"/>
              <a:t>, </a:t>
            </a:r>
          </a:p>
          <a:p>
            <a:pPr lvl="1"/>
            <a:r>
              <a:rPr lang="en-US" b="1" dirty="0"/>
              <a:t>asymptotic notation</a:t>
            </a:r>
            <a:endParaRPr lang="en-US" dirty="0"/>
          </a:p>
          <a:p>
            <a:pPr eaLnBrk="1" hangingPunct="1"/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Big-O notation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Big O notation is used in Computer Science to describe the performance or complexity of an algorithm. </a:t>
            </a:r>
          </a:p>
          <a:p>
            <a:r>
              <a:rPr lang="en-US" dirty="0"/>
              <a:t>Big O specifically describes the </a:t>
            </a:r>
            <a:r>
              <a:rPr lang="en-US" b="1" dirty="0"/>
              <a:t>worst-case</a:t>
            </a:r>
            <a:r>
              <a:rPr lang="en-US" dirty="0"/>
              <a:t> scenario, and can be used to describe the execution time required or the space used (e.g. in memory or on disk) by an algorithm.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/>
              <a:t>O(1)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O(1) describes an algorithm that will always execute in the same time (or space) regardless of the size of the input data set.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/>
              <a:t>O(1)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sz="24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GB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4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GB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IsFirstElementEmpty</a:t>
            </a:r>
            <a:r>
              <a:rPr lang="en-GB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GB" sz="2400" dirty="0">
                <a:solidFill>
                  <a:srgbClr val="000000"/>
                </a:solidFill>
                <a:latin typeface="Consolas" panose="020B0609020204030204" pitchFamily="49" charset="0"/>
              </a:rPr>
              <a:t>[] s)</a:t>
            </a:r>
          </a:p>
          <a:p>
            <a:pPr marL="0" indent="0">
              <a:buNone/>
            </a:pPr>
            <a:r>
              <a:rPr lang="en-GB" sz="24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GB" sz="2400" dirty="0">
                <a:solidFill>
                  <a:srgbClr val="0000FF"/>
                </a:solidFill>
                <a:latin typeface="Consolas" panose="020B0609020204030204" pitchFamily="49" charset="0"/>
              </a:rPr>
              <a:t>	if</a:t>
            </a:r>
            <a:r>
              <a:rPr lang="en-GB" sz="2400" dirty="0">
                <a:solidFill>
                  <a:srgbClr val="000000"/>
                </a:solidFill>
                <a:latin typeface="Consolas" panose="020B0609020204030204" pitchFamily="49" charset="0"/>
              </a:rPr>
              <a:t> (s[0] == </a:t>
            </a:r>
            <a:r>
              <a:rPr lang="en-GB" sz="2400" dirty="0">
                <a:solidFill>
                  <a:srgbClr val="A31515"/>
                </a:solidFill>
                <a:latin typeface="Consolas" panose="020B0609020204030204" pitchFamily="49" charset="0"/>
              </a:rPr>
              <a:t>""</a:t>
            </a:r>
            <a:r>
              <a:rPr lang="en-GB" sz="2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GB" sz="2400" dirty="0">
                <a:solidFill>
                  <a:srgbClr val="0000FF"/>
                </a:solidFill>
                <a:latin typeface="Consolas" panose="020B0609020204030204" pitchFamily="49" charset="0"/>
              </a:rPr>
              <a:t>		return</a:t>
            </a:r>
            <a:r>
              <a:rPr lang="en-GB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4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en-GB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GB" sz="2400" dirty="0">
                <a:solidFill>
                  <a:srgbClr val="0000FF"/>
                </a:solidFill>
                <a:latin typeface="Consolas" panose="020B0609020204030204" pitchFamily="49" charset="0"/>
              </a:rPr>
              <a:t>	else</a:t>
            </a:r>
            <a:endParaRPr lang="en-GB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sz="2400" dirty="0">
                <a:solidFill>
                  <a:srgbClr val="0000FF"/>
                </a:solidFill>
                <a:latin typeface="Consolas" panose="020B0609020204030204" pitchFamily="49" charset="0"/>
              </a:rPr>
              <a:t>		return</a:t>
            </a:r>
            <a:r>
              <a:rPr lang="en-GB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400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en-GB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GB" sz="2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2400" dirty="0"/>
          </a:p>
          <a:p>
            <a:pPr eaLnBrk="1" hangingPunct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9367633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/>
              <a:t>O(N)</a:t>
            </a:r>
            <a:endParaRPr lang="en-US" dirty="0"/>
          </a:p>
        </p:txBody>
      </p:sp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O(N) describes algorithms whose performance will grow linearly and in direct proportion to the size of the input data set. 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02578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/>
              <a:t>O(N)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sz="24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GB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4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GB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ContainsValue</a:t>
            </a:r>
            <a:r>
              <a:rPr lang="en-GB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GB" sz="2400" dirty="0">
                <a:solidFill>
                  <a:srgbClr val="000000"/>
                </a:solidFill>
                <a:latin typeface="Consolas" panose="020B0609020204030204" pitchFamily="49" charset="0"/>
              </a:rPr>
              <a:t>[] s, </a:t>
            </a:r>
            <a:r>
              <a:rPr lang="en-GB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GB" sz="2400" dirty="0">
                <a:solidFill>
                  <a:srgbClr val="000000"/>
                </a:solidFill>
                <a:latin typeface="Consolas" panose="020B0609020204030204" pitchFamily="49" charset="0"/>
              </a:rPr>
              <a:t> v)</a:t>
            </a:r>
          </a:p>
          <a:p>
            <a:pPr marL="0" indent="0">
              <a:buNone/>
            </a:pPr>
            <a:r>
              <a:rPr lang="en-GB" sz="24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GB" sz="2400" dirty="0">
                <a:solidFill>
                  <a:srgbClr val="0000FF"/>
                </a:solidFill>
                <a:latin typeface="Consolas" panose="020B0609020204030204" pitchFamily="49" charset="0"/>
              </a:rPr>
              <a:t>	for</a:t>
            </a:r>
            <a:r>
              <a:rPr lang="en-GB" sz="24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GB" sz="2400" dirty="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GB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2400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GB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2400" dirty="0">
                <a:solidFill>
                  <a:srgbClr val="000000"/>
                </a:solidFill>
                <a:latin typeface="Consolas" panose="020B0609020204030204" pitchFamily="49" charset="0"/>
              </a:rPr>
              <a:t> &lt;= </a:t>
            </a:r>
            <a:r>
              <a:rPr lang="en-GB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s.Length</a:t>
            </a:r>
            <a:r>
              <a:rPr lang="en-GB" sz="2400" dirty="0">
                <a:solidFill>
                  <a:srgbClr val="000000"/>
                </a:solidFill>
                <a:latin typeface="Consolas" panose="020B0609020204030204" pitchFamily="49" charset="0"/>
              </a:rPr>
              <a:t> - 1; </a:t>
            </a:r>
            <a:r>
              <a:rPr lang="en-GB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2400" dirty="0">
                <a:solidFill>
                  <a:srgbClr val="000000"/>
                </a:solidFill>
                <a:latin typeface="Consolas" panose="020B0609020204030204" pitchFamily="49" charset="0"/>
              </a:rPr>
              <a:t>++)</a:t>
            </a:r>
          </a:p>
          <a:p>
            <a:pPr marL="0" indent="0">
              <a:buNone/>
            </a:pPr>
            <a:r>
              <a:rPr lang="en-GB" sz="2400" dirty="0">
                <a:solidFill>
                  <a:srgbClr val="000000"/>
                </a:solidFill>
                <a:latin typeface="Consolas" panose="020B0609020204030204" pitchFamily="49" charset="0"/>
              </a:rPr>
              <a:t>	{</a:t>
            </a:r>
          </a:p>
          <a:p>
            <a:pPr marL="0" indent="0">
              <a:buNone/>
            </a:pPr>
            <a:r>
              <a:rPr lang="en-GB" sz="2400" dirty="0">
                <a:solidFill>
                  <a:srgbClr val="0000FF"/>
                </a:solidFill>
                <a:latin typeface="Consolas" panose="020B0609020204030204" pitchFamily="49" charset="0"/>
              </a:rPr>
              <a:t>		if</a:t>
            </a:r>
            <a:r>
              <a:rPr lang="en-GB" sz="2400" dirty="0">
                <a:solidFill>
                  <a:srgbClr val="000000"/>
                </a:solidFill>
                <a:latin typeface="Consolas" panose="020B0609020204030204" pitchFamily="49" charset="0"/>
              </a:rPr>
              <a:t> (s[</a:t>
            </a:r>
            <a:r>
              <a:rPr lang="en-GB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2400" dirty="0">
                <a:solidFill>
                  <a:srgbClr val="000000"/>
                </a:solidFill>
                <a:latin typeface="Consolas" panose="020B0609020204030204" pitchFamily="49" charset="0"/>
              </a:rPr>
              <a:t>] == v)</a:t>
            </a:r>
          </a:p>
          <a:p>
            <a:pPr marL="0" indent="0">
              <a:buNone/>
            </a:pPr>
            <a:r>
              <a:rPr lang="en-GB" sz="2400" dirty="0">
                <a:solidFill>
                  <a:srgbClr val="0000FF"/>
                </a:solidFill>
                <a:latin typeface="Consolas" panose="020B0609020204030204" pitchFamily="49" charset="0"/>
              </a:rPr>
              <a:t>			return</a:t>
            </a:r>
            <a:r>
              <a:rPr lang="en-GB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4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en-GB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GB" sz="2400" dirty="0">
                <a:solidFill>
                  <a:srgbClr val="000000"/>
                </a:solidFill>
                <a:latin typeface="Consolas" panose="020B0609020204030204" pitchFamily="49" charset="0"/>
              </a:rPr>
              <a:t>	}</a:t>
            </a:r>
          </a:p>
          <a:p>
            <a:pPr marL="0" indent="0">
              <a:buNone/>
            </a:pPr>
            <a:r>
              <a:rPr lang="en-GB" sz="2400" dirty="0">
                <a:solidFill>
                  <a:srgbClr val="0000FF"/>
                </a:solidFill>
                <a:latin typeface="Consolas" panose="020B0609020204030204" pitchFamily="49" charset="0"/>
              </a:rPr>
              <a:t>	return</a:t>
            </a:r>
            <a:r>
              <a:rPr lang="en-GB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400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en-GB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GB" sz="24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2400" dirty="0"/>
          </a:p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56689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/>
              <a:t>O(N</a:t>
            </a:r>
            <a:r>
              <a:rPr lang="en-US" b="1" baseline="30000" dirty="0"/>
              <a:t>2</a:t>
            </a:r>
            <a:r>
              <a:rPr lang="en-US" b="1" dirty="0"/>
              <a:t>)</a:t>
            </a:r>
            <a:endParaRPr lang="en-US" dirty="0"/>
          </a:p>
        </p:txBody>
      </p:sp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O(N</a:t>
            </a:r>
            <a:r>
              <a:rPr lang="en-US" baseline="30000" dirty="0"/>
              <a:t>2</a:t>
            </a:r>
            <a:r>
              <a:rPr lang="en-US" dirty="0"/>
              <a:t>) represents algorithms whose performance is directly proportional to the square of the size of the input data set </a:t>
            </a:r>
          </a:p>
          <a:p>
            <a:r>
              <a:rPr lang="en-US" dirty="0"/>
              <a:t>This is common with algorithms that involve nested iterations over the data set. Deeper nested iterations will result in O(N</a:t>
            </a:r>
            <a:r>
              <a:rPr lang="en-US" baseline="30000" dirty="0"/>
              <a:t>3</a:t>
            </a:r>
            <a:r>
              <a:rPr lang="en-US" dirty="0"/>
              <a:t>), O(N</a:t>
            </a:r>
            <a:r>
              <a:rPr lang="en-US" baseline="30000" dirty="0"/>
              <a:t>4</a:t>
            </a:r>
            <a:r>
              <a:rPr lang="en-US" dirty="0"/>
              <a:t>) etc.</a:t>
            </a:r>
          </a:p>
        </p:txBody>
      </p:sp>
    </p:spTree>
    <p:extLst>
      <p:ext uri="{BB962C8B-B14F-4D97-AF65-F5344CB8AC3E}">
        <p14:creationId xmlns:p14="http://schemas.microsoft.com/office/powerpoint/2010/main" val="27545023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/>
              <a:t>O(N</a:t>
            </a:r>
            <a:r>
              <a:rPr lang="en-US" b="1" baseline="30000" dirty="0"/>
              <a:t>2</a:t>
            </a:r>
            <a:r>
              <a:rPr lang="en-US" b="1" dirty="0"/>
              <a:t>)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>
          <a:xfrm>
            <a:off x="152400" y="1600200"/>
            <a:ext cx="8915400" cy="4248150"/>
          </a:xfrm>
        </p:spPr>
        <p:txBody>
          <a:bodyPr/>
          <a:lstStyle/>
          <a:p>
            <a:pPr marL="0" indent="0">
              <a:buNone/>
            </a:pPr>
            <a:r>
              <a:rPr lang="en-GB" sz="2000" dirty="0">
                <a:solidFill>
                  <a:srgbClr val="0000FF"/>
                </a:solidFill>
                <a:latin typeface="Consolas" panose="020B0609020204030204" pitchFamily="49" charset="0"/>
              </a:rPr>
              <a:t>private</a:t>
            </a:r>
            <a:r>
              <a:rPr lang="en-GB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0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GB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ContainsDuplicates</a:t>
            </a:r>
            <a:r>
              <a:rPr lang="en-GB" sz="2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20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GB" sz="2000" dirty="0">
                <a:solidFill>
                  <a:srgbClr val="000000"/>
                </a:solidFill>
                <a:latin typeface="Consolas" panose="020B0609020204030204" pitchFamily="49" charset="0"/>
              </a:rPr>
              <a:t>[] s)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0000FF"/>
                </a:solidFill>
                <a:latin typeface="Consolas" panose="020B0609020204030204" pitchFamily="49" charset="0"/>
              </a:rPr>
              <a:t>	for</a:t>
            </a:r>
            <a:r>
              <a:rPr lang="en-GB" sz="20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GB" sz="2000" dirty="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GB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2000" dirty="0">
                <a:solidFill>
                  <a:srgbClr val="000000"/>
                </a:solidFill>
                <a:latin typeface="Consolas" panose="020B0609020204030204" pitchFamily="49" charset="0"/>
              </a:rPr>
              <a:t> = 0; </a:t>
            </a:r>
            <a:r>
              <a:rPr lang="en-GB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2000" dirty="0">
                <a:solidFill>
                  <a:srgbClr val="000000"/>
                </a:solidFill>
                <a:latin typeface="Consolas" panose="020B0609020204030204" pitchFamily="49" charset="0"/>
              </a:rPr>
              <a:t> &lt;= </a:t>
            </a:r>
            <a:r>
              <a:rPr lang="en-GB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s.Length</a:t>
            </a:r>
            <a:r>
              <a:rPr lang="en-GB" sz="2000" dirty="0">
                <a:solidFill>
                  <a:srgbClr val="000000"/>
                </a:solidFill>
                <a:latin typeface="Consolas" panose="020B0609020204030204" pitchFamily="49" charset="0"/>
              </a:rPr>
              <a:t> - 1; </a:t>
            </a:r>
            <a:r>
              <a:rPr lang="en-GB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2000" dirty="0">
                <a:solidFill>
                  <a:srgbClr val="000000"/>
                </a:solidFill>
                <a:latin typeface="Consolas" panose="020B0609020204030204" pitchFamily="49" charset="0"/>
              </a:rPr>
              <a:t>++)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000000"/>
                </a:solidFill>
                <a:latin typeface="Consolas" panose="020B0609020204030204" pitchFamily="49" charset="0"/>
              </a:rPr>
              <a:t>	{</a:t>
            </a:r>
            <a:endParaRPr lang="en-GB" sz="20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sz="2000" dirty="0">
                <a:solidFill>
                  <a:srgbClr val="0000FF"/>
                </a:solidFill>
                <a:latin typeface="Consolas" panose="020B0609020204030204" pitchFamily="49" charset="0"/>
              </a:rPr>
              <a:t>		for</a:t>
            </a:r>
            <a:r>
              <a:rPr lang="en-GB" sz="20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GB" sz="2000" dirty="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GB" sz="2000" dirty="0">
                <a:solidFill>
                  <a:srgbClr val="000000"/>
                </a:solidFill>
                <a:latin typeface="Consolas" panose="020B0609020204030204" pitchFamily="49" charset="0"/>
              </a:rPr>
              <a:t> j = 0; j &lt;= </a:t>
            </a:r>
            <a:r>
              <a:rPr lang="en-GB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s.Length</a:t>
            </a:r>
            <a:r>
              <a:rPr lang="en-GB" sz="2000" dirty="0">
                <a:solidFill>
                  <a:srgbClr val="000000"/>
                </a:solidFill>
                <a:latin typeface="Consolas" panose="020B0609020204030204" pitchFamily="49" charset="0"/>
              </a:rPr>
              <a:t> - 1; j++)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000000"/>
                </a:solidFill>
                <a:latin typeface="Consolas" panose="020B0609020204030204" pitchFamily="49" charset="0"/>
              </a:rPr>
              <a:t>		{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0000FF"/>
                </a:solidFill>
                <a:latin typeface="Consolas" panose="020B0609020204030204" pitchFamily="49" charset="0"/>
              </a:rPr>
              <a:t>			if</a:t>
            </a:r>
            <a:r>
              <a:rPr lang="en-GB" sz="20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GB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2000" dirty="0">
                <a:solidFill>
                  <a:srgbClr val="000000"/>
                </a:solidFill>
                <a:latin typeface="Consolas" panose="020B0609020204030204" pitchFamily="49" charset="0"/>
              </a:rPr>
              <a:t> == j)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0000FF"/>
                </a:solidFill>
                <a:latin typeface="Consolas" panose="020B0609020204030204" pitchFamily="49" charset="0"/>
              </a:rPr>
              <a:t>				continue</a:t>
            </a:r>
            <a:r>
              <a:rPr lang="en-GB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0000FF"/>
                </a:solidFill>
                <a:latin typeface="Consolas" panose="020B0609020204030204" pitchFamily="49" charset="0"/>
              </a:rPr>
              <a:t>			if</a:t>
            </a:r>
            <a:r>
              <a:rPr lang="en-GB" sz="2000" dirty="0">
                <a:solidFill>
                  <a:srgbClr val="000000"/>
                </a:solidFill>
                <a:latin typeface="Consolas" panose="020B0609020204030204" pitchFamily="49" charset="0"/>
              </a:rPr>
              <a:t> (s[</a:t>
            </a:r>
            <a:r>
              <a:rPr lang="en-GB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i</a:t>
            </a:r>
            <a:r>
              <a:rPr lang="en-GB" sz="2000" dirty="0">
                <a:solidFill>
                  <a:srgbClr val="000000"/>
                </a:solidFill>
                <a:latin typeface="Consolas" panose="020B0609020204030204" pitchFamily="49" charset="0"/>
              </a:rPr>
              <a:t>] == s[j])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0000FF"/>
                </a:solidFill>
                <a:latin typeface="Consolas" panose="020B0609020204030204" pitchFamily="49" charset="0"/>
              </a:rPr>
              <a:t>				return</a:t>
            </a:r>
            <a:r>
              <a:rPr lang="en-GB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0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en-GB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000000"/>
                </a:solidFill>
                <a:latin typeface="Consolas" panose="020B0609020204030204" pitchFamily="49" charset="0"/>
              </a:rPr>
              <a:t>		}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000000"/>
                </a:solidFill>
                <a:latin typeface="Consolas" panose="020B0609020204030204" pitchFamily="49" charset="0"/>
              </a:rPr>
              <a:t>	}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0000FF"/>
                </a:solidFill>
                <a:latin typeface="Consolas" panose="020B0609020204030204" pitchFamily="49" charset="0"/>
              </a:rPr>
              <a:t>	return</a:t>
            </a:r>
            <a:r>
              <a:rPr lang="en-GB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000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en-GB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946728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Other possibilities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O(log N) – binary search</a:t>
            </a:r>
          </a:p>
          <a:p>
            <a:r>
              <a:rPr lang="en-US" dirty="0"/>
              <a:t>“Have a guess” exercise</a:t>
            </a:r>
          </a:p>
        </p:txBody>
      </p:sp>
    </p:spTree>
    <p:extLst>
      <p:ext uri="{BB962C8B-B14F-4D97-AF65-F5344CB8AC3E}">
        <p14:creationId xmlns:p14="http://schemas.microsoft.com/office/powerpoint/2010/main" val="38696927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Shortcomings of the Arrays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Insertion and Deletion requires shifting of all array elements</a:t>
            </a:r>
          </a:p>
          <a:p>
            <a:pPr eaLnBrk="1" hangingPunct="1"/>
            <a:r>
              <a:rPr lang="en-US" dirty="0"/>
              <a:t>Need to know the size in advance</a:t>
            </a:r>
          </a:p>
        </p:txBody>
      </p:sp>
    </p:spTree>
    <p:extLst>
      <p:ext uri="{BB962C8B-B14F-4D97-AF65-F5344CB8AC3E}">
        <p14:creationId xmlns:p14="http://schemas.microsoft.com/office/powerpoint/2010/main" val="30132451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Linked List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buClr>
                <a:schemeClr val="tx1"/>
              </a:buClr>
            </a:pPr>
            <a:r>
              <a:rPr lang="en-US" dirty="0"/>
              <a:t>A linked list is a collection of class objects called </a:t>
            </a:r>
            <a:r>
              <a:rPr lang="en-US" b="1" dirty="0"/>
              <a:t>nodes</a:t>
            </a:r>
            <a:r>
              <a:rPr lang="en-US" dirty="0"/>
              <a:t>. </a:t>
            </a:r>
          </a:p>
          <a:p>
            <a:pPr eaLnBrk="1" hangingPunct="1">
              <a:buClr>
                <a:schemeClr val="tx1"/>
              </a:buClr>
            </a:pPr>
            <a:r>
              <a:rPr lang="en-US" dirty="0"/>
              <a:t>Each node is linked to its </a:t>
            </a:r>
            <a:r>
              <a:rPr lang="en-US" b="1" dirty="0"/>
              <a:t>successor</a:t>
            </a:r>
            <a:r>
              <a:rPr lang="en-US" dirty="0"/>
              <a:t> node in the list using a reference to the successor node. </a:t>
            </a:r>
          </a:p>
          <a:p>
            <a:pPr eaLnBrk="1" hangingPunct="1">
              <a:buClr>
                <a:schemeClr val="tx1"/>
              </a:buClr>
            </a:pPr>
            <a:r>
              <a:rPr lang="en-US" dirty="0"/>
              <a:t>A node consists of a field for storing </a:t>
            </a:r>
            <a:r>
              <a:rPr lang="en-US" b="1" dirty="0"/>
              <a:t>data</a:t>
            </a:r>
            <a:r>
              <a:rPr lang="en-US" dirty="0"/>
              <a:t> and the field for the </a:t>
            </a:r>
            <a:r>
              <a:rPr lang="en-US" b="1" dirty="0"/>
              <a:t>next node reference</a:t>
            </a:r>
            <a:r>
              <a:rPr lang="en-US" dirty="0"/>
              <a:t>. </a:t>
            </a:r>
          </a:p>
          <a:p>
            <a:pPr eaLnBrk="1" hangingPunct="1">
              <a:buClr>
                <a:schemeClr val="tx1"/>
              </a:buClr>
            </a:pPr>
            <a:r>
              <a:rPr lang="en-US" dirty="0"/>
              <a:t>The reference to another node is called a </a:t>
            </a:r>
            <a:r>
              <a:rPr lang="en-US" b="1" dirty="0"/>
              <a:t>link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694993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Anatomy of a linked list</a:t>
            </a:r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762000" y="1905000"/>
            <a:ext cx="7696200" cy="1257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 eaLnBrk="1" hangingPunct="1"/>
            <a:r>
              <a:rPr lang="en-US" kern="0"/>
              <a:t>A linked list consists of:</a:t>
            </a:r>
          </a:p>
          <a:p>
            <a:pPr lvl="1" eaLnBrk="1" hangingPunct="1"/>
            <a:r>
              <a:rPr lang="en-US" kern="0"/>
              <a:t>A sequence of </a:t>
            </a:r>
            <a:r>
              <a:rPr lang="en-US" kern="0">
                <a:solidFill>
                  <a:schemeClr val="tx2"/>
                </a:solidFill>
              </a:rPr>
              <a:t>nodes</a:t>
            </a:r>
            <a:endParaRPr lang="en-US" kern="0" dirty="0"/>
          </a:p>
        </p:txBody>
      </p:sp>
      <p:grpSp>
        <p:nvGrpSpPr>
          <p:cNvPr id="6" name="Group 4"/>
          <p:cNvGrpSpPr>
            <a:grpSpLocks/>
          </p:cNvGrpSpPr>
          <p:nvPr/>
        </p:nvGrpSpPr>
        <p:grpSpPr bwMode="auto">
          <a:xfrm>
            <a:off x="2743200" y="3722688"/>
            <a:ext cx="5715000" cy="390525"/>
            <a:chOff x="1056" y="2011"/>
            <a:chExt cx="3600" cy="246"/>
          </a:xfrm>
        </p:grpSpPr>
        <p:grpSp>
          <p:nvGrpSpPr>
            <p:cNvPr id="7" name="Group 5"/>
            <p:cNvGrpSpPr>
              <a:grpSpLocks/>
            </p:cNvGrpSpPr>
            <p:nvPr/>
          </p:nvGrpSpPr>
          <p:grpSpPr bwMode="auto">
            <a:xfrm>
              <a:off x="1056" y="2011"/>
              <a:ext cx="577" cy="243"/>
              <a:chOff x="863" y="1536"/>
              <a:chExt cx="577" cy="243"/>
            </a:xfrm>
          </p:grpSpPr>
          <p:sp>
            <p:nvSpPr>
              <p:cNvPr id="17" name="Rectangle 6"/>
              <p:cNvSpPr>
                <a:spLocks noChangeArrowheads="1"/>
              </p:cNvSpPr>
              <p:nvPr/>
            </p:nvSpPr>
            <p:spPr bwMode="auto">
              <a:xfrm>
                <a:off x="863" y="1537"/>
                <a:ext cx="288" cy="24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0000"/>
                  <a:buFont typeface="Wingdings" panose="05000000000000000000" pitchFamily="2" charset="2"/>
                  <a:buChar char="l"/>
                  <a:defRPr sz="31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150000"/>
                  <a:buChar char="•"/>
                  <a:defRPr sz="2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SzPct val="150000"/>
                  <a:buChar char="•"/>
                  <a:defRPr sz="2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tx2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ru-RU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8" name="Rectangle 7"/>
              <p:cNvSpPr>
                <a:spLocks noChangeArrowheads="1"/>
              </p:cNvSpPr>
              <p:nvPr/>
            </p:nvSpPr>
            <p:spPr bwMode="auto">
              <a:xfrm>
                <a:off x="1152" y="1536"/>
                <a:ext cx="288" cy="24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0000"/>
                  <a:buFont typeface="Wingdings" panose="05000000000000000000" pitchFamily="2" charset="2"/>
                  <a:buChar char="l"/>
                  <a:defRPr sz="31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150000"/>
                  <a:buChar char="•"/>
                  <a:defRPr sz="2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SzPct val="150000"/>
                  <a:buChar char="•"/>
                  <a:defRPr sz="2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tx2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ru-RU" sz="1800"/>
              </a:p>
            </p:txBody>
          </p:sp>
        </p:grpSp>
        <p:grpSp>
          <p:nvGrpSpPr>
            <p:cNvPr id="8" name="Group 8"/>
            <p:cNvGrpSpPr>
              <a:grpSpLocks/>
            </p:cNvGrpSpPr>
            <p:nvPr/>
          </p:nvGrpSpPr>
          <p:grpSpPr bwMode="auto">
            <a:xfrm>
              <a:off x="2063" y="2014"/>
              <a:ext cx="577" cy="243"/>
              <a:chOff x="863" y="1536"/>
              <a:chExt cx="577" cy="243"/>
            </a:xfrm>
          </p:grpSpPr>
          <p:sp>
            <p:nvSpPr>
              <p:cNvPr id="15" name="Rectangle 9"/>
              <p:cNvSpPr>
                <a:spLocks noChangeArrowheads="1"/>
              </p:cNvSpPr>
              <p:nvPr/>
            </p:nvSpPr>
            <p:spPr bwMode="auto">
              <a:xfrm>
                <a:off x="863" y="1537"/>
                <a:ext cx="288" cy="24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0000"/>
                  <a:buFont typeface="Wingdings" panose="05000000000000000000" pitchFamily="2" charset="2"/>
                  <a:buChar char="l"/>
                  <a:defRPr sz="31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150000"/>
                  <a:buChar char="•"/>
                  <a:defRPr sz="2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SzPct val="150000"/>
                  <a:buChar char="•"/>
                  <a:defRPr sz="2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tx2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ru-RU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6" name="Rectangle 10"/>
              <p:cNvSpPr>
                <a:spLocks noChangeArrowheads="1"/>
              </p:cNvSpPr>
              <p:nvPr/>
            </p:nvSpPr>
            <p:spPr bwMode="auto">
              <a:xfrm>
                <a:off x="1152" y="1536"/>
                <a:ext cx="288" cy="24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0000"/>
                  <a:buFont typeface="Wingdings" panose="05000000000000000000" pitchFamily="2" charset="2"/>
                  <a:buChar char="l"/>
                  <a:defRPr sz="31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150000"/>
                  <a:buChar char="•"/>
                  <a:defRPr sz="2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SzPct val="150000"/>
                  <a:buChar char="•"/>
                  <a:defRPr sz="2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tx2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ru-RU" sz="1800"/>
              </a:p>
            </p:txBody>
          </p:sp>
        </p:grpSp>
        <p:grpSp>
          <p:nvGrpSpPr>
            <p:cNvPr id="9" name="Group 11"/>
            <p:cNvGrpSpPr>
              <a:grpSpLocks/>
            </p:cNvGrpSpPr>
            <p:nvPr/>
          </p:nvGrpSpPr>
          <p:grpSpPr bwMode="auto">
            <a:xfrm>
              <a:off x="3071" y="2014"/>
              <a:ext cx="577" cy="243"/>
              <a:chOff x="863" y="1536"/>
              <a:chExt cx="577" cy="243"/>
            </a:xfrm>
          </p:grpSpPr>
          <p:sp>
            <p:nvSpPr>
              <p:cNvPr id="13" name="Rectangle 12"/>
              <p:cNvSpPr>
                <a:spLocks noChangeArrowheads="1"/>
              </p:cNvSpPr>
              <p:nvPr/>
            </p:nvSpPr>
            <p:spPr bwMode="auto">
              <a:xfrm>
                <a:off x="863" y="1537"/>
                <a:ext cx="288" cy="24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0000"/>
                  <a:buFont typeface="Wingdings" panose="05000000000000000000" pitchFamily="2" charset="2"/>
                  <a:buChar char="l"/>
                  <a:defRPr sz="31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150000"/>
                  <a:buChar char="•"/>
                  <a:defRPr sz="2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SzPct val="150000"/>
                  <a:buChar char="•"/>
                  <a:defRPr sz="2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tx2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ru-RU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4" name="Rectangle 13"/>
              <p:cNvSpPr>
                <a:spLocks noChangeArrowheads="1"/>
              </p:cNvSpPr>
              <p:nvPr/>
            </p:nvSpPr>
            <p:spPr bwMode="auto">
              <a:xfrm>
                <a:off x="1152" y="1536"/>
                <a:ext cx="288" cy="24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0000"/>
                  <a:buFont typeface="Wingdings" panose="05000000000000000000" pitchFamily="2" charset="2"/>
                  <a:buChar char="l"/>
                  <a:defRPr sz="31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150000"/>
                  <a:buChar char="•"/>
                  <a:defRPr sz="2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SzPct val="150000"/>
                  <a:buChar char="•"/>
                  <a:defRPr sz="2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tx2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ru-RU" sz="1800"/>
              </a:p>
            </p:txBody>
          </p:sp>
        </p:grpSp>
        <p:grpSp>
          <p:nvGrpSpPr>
            <p:cNvPr id="10" name="Group 14"/>
            <p:cNvGrpSpPr>
              <a:grpSpLocks/>
            </p:cNvGrpSpPr>
            <p:nvPr/>
          </p:nvGrpSpPr>
          <p:grpSpPr bwMode="auto">
            <a:xfrm>
              <a:off x="4079" y="2014"/>
              <a:ext cx="577" cy="243"/>
              <a:chOff x="863" y="1536"/>
              <a:chExt cx="577" cy="243"/>
            </a:xfrm>
          </p:grpSpPr>
          <p:sp>
            <p:nvSpPr>
              <p:cNvPr id="11" name="Rectangle 15"/>
              <p:cNvSpPr>
                <a:spLocks noChangeArrowheads="1"/>
              </p:cNvSpPr>
              <p:nvPr/>
            </p:nvSpPr>
            <p:spPr bwMode="auto">
              <a:xfrm>
                <a:off x="863" y="1537"/>
                <a:ext cx="288" cy="24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0000"/>
                  <a:buFont typeface="Wingdings" panose="05000000000000000000" pitchFamily="2" charset="2"/>
                  <a:buChar char="l"/>
                  <a:defRPr sz="31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150000"/>
                  <a:buChar char="•"/>
                  <a:defRPr sz="2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SzPct val="150000"/>
                  <a:buChar char="•"/>
                  <a:defRPr sz="2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tx2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ru-RU" sz="2400"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2" name="Rectangle 16"/>
              <p:cNvSpPr>
                <a:spLocks noChangeArrowheads="1"/>
              </p:cNvSpPr>
              <p:nvPr/>
            </p:nvSpPr>
            <p:spPr bwMode="auto">
              <a:xfrm>
                <a:off x="1152" y="1536"/>
                <a:ext cx="288" cy="24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0000"/>
                  <a:buFont typeface="Wingdings" panose="05000000000000000000" pitchFamily="2" charset="2"/>
                  <a:buChar char="l"/>
                  <a:defRPr sz="31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150000"/>
                  <a:buChar char="•"/>
                  <a:defRPr sz="2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SzPct val="150000"/>
                  <a:buChar char="•"/>
                  <a:defRPr sz="2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tx2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ru-RU" sz="1800"/>
              </a:p>
            </p:txBody>
          </p:sp>
        </p:grpSp>
      </p:grpSp>
      <p:grpSp>
        <p:nvGrpSpPr>
          <p:cNvPr id="19" name="Group 17"/>
          <p:cNvGrpSpPr>
            <a:grpSpLocks/>
          </p:cNvGrpSpPr>
          <p:nvPr/>
        </p:nvGrpSpPr>
        <p:grpSpPr bwMode="auto">
          <a:xfrm>
            <a:off x="2743200" y="3730625"/>
            <a:ext cx="5257800" cy="384175"/>
            <a:chOff x="1056" y="2302"/>
            <a:chExt cx="3312" cy="242"/>
          </a:xfrm>
        </p:grpSpPr>
        <p:sp>
          <p:nvSpPr>
            <p:cNvPr id="20" name="Rectangle 18"/>
            <p:cNvSpPr>
              <a:spLocks noChangeArrowheads="1"/>
            </p:cNvSpPr>
            <p:nvPr/>
          </p:nvSpPr>
          <p:spPr bwMode="auto">
            <a:xfrm>
              <a:off x="1056" y="2302"/>
              <a:ext cx="288" cy="242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0000"/>
                <a:buFont typeface="Wingdings" panose="05000000000000000000" pitchFamily="2" charset="2"/>
                <a:buChar char="l"/>
                <a:defRPr sz="31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50000"/>
                <a:buChar char="•"/>
                <a:defRPr sz="26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tx1"/>
                </a:buClr>
                <a:buSzPct val="150000"/>
                <a:buChar char="•"/>
                <a:defRPr sz="22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tx2"/>
                </a:buClr>
                <a:buSzPct val="150000"/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folHlink"/>
                </a:buClr>
                <a:buSzPct val="150000"/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150000"/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150000"/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150000"/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150000"/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2400">
                  <a:latin typeface="Verdana" panose="020B0604030504040204" pitchFamily="34" charset="0"/>
                </a:rPr>
                <a:t>a</a:t>
              </a:r>
              <a:endParaRPr lang="en-US" sz="2400">
                <a:latin typeface="Times New Roman" panose="02020603050405020304" pitchFamily="18" charset="0"/>
              </a:endParaRPr>
            </a:p>
          </p:txBody>
        </p:sp>
        <p:sp>
          <p:nvSpPr>
            <p:cNvPr id="21" name="Rectangle 19"/>
            <p:cNvSpPr>
              <a:spLocks noChangeArrowheads="1"/>
            </p:cNvSpPr>
            <p:nvPr/>
          </p:nvSpPr>
          <p:spPr bwMode="auto">
            <a:xfrm>
              <a:off x="2064" y="2302"/>
              <a:ext cx="288" cy="242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0000"/>
                <a:buFont typeface="Wingdings" panose="05000000000000000000" pitchFamily="2" charset="2"/>
                <a:buChar char="l"/>
                <a:defRPr sz="31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50000"/>
                <a:buChar char="•"/>
                <a:defRPr sz="26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tx1"/>
                </a:buClr>
                <a:buSzPct val="150000"/>
                <a:buChar char="•"/>
                <a:defRPr sz="22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tx2"/>
                </a:buClr>
                <a:buSzPct val="150000"/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folHlink"/>
                </a:buClr>
                <a:buSzPct val="150000"/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150000"/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150000"/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150000"/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150000"/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2400">
                  <a:latin typeface="Verdana" panose="020B0604030504040204" pitchFamily="34" charset="0"/>
                </a:rPr>
                <a:t>b</a:t>
              </a:r>
              <a:endParaRPr lang="en-US" sz="2400">
                <a:latin typeface="Times New Roman" panose="02020603050405020304" pitchFamily="18" charset="0"/>
              </a:endParaRPr>
            </a:p>
          </p:txBody>
        </p:sp>
        <p:sp>
          <p:nvSpPr>
            <p:cNvPr id="22" name="Rectangle 20"/>
            <p:cNvSpPr>
              <a:spLocks noChangeArrowheads="1"/>
            </p:cNvSpPr>
            <p:nvPr/>
          </p:nvSpPr>
          <p:spPr bwMode="auto">
            <a:xfrm>
              <a:off x="3072" y="2302"/>
              <a:ext cx="288" cy="242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0000"/>
                <a:buFont typeface="Wingdings" panose="05000000000000000000" pitchFamily="2" charset="2"/>
                <a:buChar char="l"/>
                <a:defRPr sz="31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50000"/>
                <a:buChar char="•"/>
                <a:defRPr sz="26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tx1"/>
                </a:buClr>
                <a:buSzPct val="150000"/>
                <a:buChar char="•"/>
                <a:defRPr sz="22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tx2"/>
                </a:buClr>
                <a:buSzPct val="150000"/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folHlink"/>
                </a:buClr>
                <a:buSzPct val="150000"/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150000"/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150000"/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150000"/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150000"/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2400">
                  <a:latin typeface="Verdana" panose="020B0604030504040204" pitchFamily="34" charset="0"/>
                </a:rPr>
                <a:t>c</a:t>
              </a:r>
              <a:endParaRPr lang="en-US" sz="2400">
                <a:latin typeface="Times New Roman" panose="02020603050405020304" pitchFamily="18" charset="0"/>
              </a:endParaRPr>
            </a:p>
          </p:txBody>
        </p:sp>
        <p:sp>
          <p:nvSpPr>
            <p:cNvPr id="23" name="Rectangle 21"/>
            <p:cNvSpPr>
              <a:spLocks noChangeArrowheads="1"/>
            </p:cNvSpPr>
            <p:nvPr/>
          </p:nvSpPr>
          <p:spPr bwMode="auto">
            <a:xfrm>
              <a:off x="4080" y="2302"/>
              <a:ext cx="288" cy="242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lr>
                  <a:schemeClr val="bg2"/>
                </a:buClr>
                <a:buSzPct val="70000"/>
                <a:buFont typeface="Wingdings" panose="05000000000000000000" pitchFamily="2" charset="2"/>
                <a:buChar char="l"/>
                <a:defRPr sz="31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50000"/>
                <a:buChar char="•"/>
                <a:defRPr sz="26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tx1"/>
                </a:buClr>
                <a:buSzPct val="150000"/>
                <a:buChar char="•"/>
                <a:defRPr sz="22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tx2"/>
                </a:buClr>
                <a:buSzPct val="150000"/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folHlink"/>
                </a:buClr>
                <a:buSzPct val="150000"/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150000"/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150000"/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150000"/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150000"/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sz="2400">
                  <a:latin typeface="Verdana" panose="020B0604030504040204" pitchFamily="34" charset="0"/>
                </a:rPr>
                <a:t>d</a:t>
              </a:r>
              <a:endParaRPr lang="en-US" sz="2400">
                <a:latin typeface="Times New Roman" panose="02020603050405020304" pitchFamily="18" charset="0"/>
              </a:endParaRPr>
            </a:p>
          </p:txBody>
        </p:sp>
      </p:grpSp>
      <p:grpSp>
        <p:nvGrpSpPr>
          <p:cNvPr id="24" name="Group 22"/>
          <p:cNvGrpSpPr>
            <a:grpSpLocks/>
          </p:cNvGrpSpPr>
          <p:nvPr/>
        </p:nvGrpSpPr>
        <p:grpSpPr bwMode="auto">
          <a:xfrm>
            <a:off x="3352800" y="3806825"/>
            <a:ext cx="4191000" cy="152400"/>
            <a:chOff x="1440" y="2064"/>
            <a:chExt cx="2640" cy="96"/>
          </a:xfrm>
        </p:grpSpPr>
        <p:grpSp>
          <p:nvGrpSpPr>
            <p:cNvPr id="25" name="Group 23"/>
            <p:cNvGrpSpPr>
              <a:grpSpLocks/>
            </p:cNvGrpSpPr>
            <p:nvPr/>
          </p:nvGrpSpPr>
          <p:grpSpPr bwMode="auto">
            <a:xfrm>
              <a:off x="1440" y="2064"/>
              <a:ext cx="624" cy="96"/>
              <a:chOff x="1008" y="2304"/>
              <a:chExt cx="624" cy="96"/>
            </a:xfrm>
          </p:grpSpPr>
          <p:sp>
            <p:nvSpPr>
              <p:cNvPr id="32" name="Oval 24"/>
              <p:cNvSpPr>
                <a:spLocks noChangeArrowheads="1"/>
              </p:cNvSpPr>
              <p:nvPr/>
            </p:nvSpPr>
            <p:spPr bwMode="auto">
              <a:xfrm>
                <a:off x="1008" y="2304"/>
                <a:ext cx="96" cy="96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0000"/>
                  <a:buFont typeface="Wingdings" panose="05000000000000000000" pitchFamily="2" charset="2"/>
                  <a:buChar char="l"/>
                  <a:defRPr sz="31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150000"/>
                  <a:buChar char="•"/>
                  <a:defRPr sz="2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SzPct val="150000"/>
                  <a:buChar char="•"/>
                  <a:defRPr sz="2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tx2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ru-RU" sz="1800"/>
              </a:p>
            </p:txBody>
          </p:sp>
          <p:sp>
            <p:nvSpPr>
              <p:cNvPr id="33" name="Line 25"/>
              <p:cNvSpPr>
                <a:spLocks noChangeShapeType="1"/>
              </p:cNvSpPr>
              <p:nvPr/>
            </p:nvSpPr>
            <p:spPr bwMode="auto">
              <a:xfrm>
                <a:off x="1056" y="2352"/>
                <a:ext cx="576" cy="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 type="triangle" w="lg" len="lg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grpSp>
          <p:nvGrpSpPr>
            <p:cNvPr id="26" name="Group 26"/>
            <p:cNvGrpSpPr>
              <a:grpSpLocks/>
            </p:cNvGrpSpPr>
            <p:nvPr/>
          </p:nvGrpSpPr>
          <p:grpSpPr bwMode="auto">
            <a:xfrm>
              <a:off x="2448" y="2064"/>
              <a:ext cx="624" cy="96"/>
              <a:chOff x="1008" y="2304"/>
              <a:chExt cx="624" cy="96"/>
            </a:xfrm>
          </p:grpSpPr>
          <p:sp>
            <p:nvSpPr>
              <p:cNvPr id="30" name="Oval 27"/>
              <p:cNvSpPr>
                <a:spLocks noChangeArrowheads="1"/>
              </p:cNvSpPr>
              <p:nvPr/>
            </p:nvSpPr>
            <p:spPr bwMode="auto">
              <a:xfrm>
                <a:off x="1008" y="2304"/>
                <a:ext cx="96" cy="96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0000"/>
                  <a:buFont typeface="Wingdings" panose="05000000000000000000" pitchFamily="2" charset="2"/>
                  <a:buChar char="l"/>
                  <a:defRPr sz="31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150000"/>
                  <a:buChar char="•"/>
                  <a:defRPr sz="2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SzPct val="150000"/>
                  <a:buChar char="•"/>
                  <a:defRPr sz="2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tx2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ru-RU" sz="1800"/>
              </a:p>
            </p:txBody>
          </p:sp>
          <p:sp>
            <p:nvSpPr>
              <p:cNvPr id="31" name="Line 28"/>
              <p:cNvSpPr>
                <a:spLocks noChangeShapeType="1"/>
              </p:cNvSpPr>
              <p:nvPr/>
            </p:nvSpPr>
            <p:spPr bwMode="auto">
              <a:xfrm>
                <a:off x="1056" y="2352"/>
                <a:ext cx="576" cy="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 type="triangle" w="lg" len="lg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grpSp>
          <p:nvGrpSpPr>
            <p:cNvPr id="27" name="Group 29"/>
            <p:cNvGrpSpPr>
              <a:grpSpLocks/>
            </p:cNvGrpSpPr>
            <p:nvPr/>
          </p:nvGrpSpPr>
          <p:grpSpPr bwMode="auto">
            <a:xfrm>
              <a:off x="3456" y="2064"/>
              <a:ext cx="624" cy="96"/>
              <a:chOff x="1008" y="2304"/>
              <a:chExt cx="624" cy="96"/>
            </a:xfrm>
          </p:grpSpPr>
          <p:sp>
            <p:nvSpPr>
              <p:cNvPr id="28" name="Oval 30"/>
              <p:cNvSpPr>
                <a:spLocks noChangeArrowheads="1"/>
              </p:cNvSpPr>
              <p:nvPr/>
            </p:nvSpPr>
            <p:spPr bwMode="auto">
              <a:xfrm>
                <a:off x="1008" y="2304"/>
                <a:ext cx="96" cy="96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lr>
                    <a:schemeClr val="bg2"/>
                  </a:buClr>
                  <a:buSzPct val="70000"/>
                  <a:buFont typeface="Wingdings" panose="05000000000000000000" pitchFamily="2" charset="2"/>
                  <a:buChar char="l"/>
                  <a:defRPr sz="31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SzPct val="150000"/>
                  <a:buChar char="•"/>
                  <a:defRPr sz="26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SzPct val="150000"/>
                  <a:buChar char="•"/>
                  <a:defRPr sz="2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lr>
                    <a:schemeClr val="tx2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folHlink"/>
                  </a:buClr>
                  <a:buSzPct val="150000"/>
                  <a:buChar char="•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ru-RU" sz="1800"/>
              </a:p>
            </p:txBody>
          </p:sp>
          <p:sp>
            <p:nvSpPr>
              <p:cNvPr id="29" name="Line 31"/>
              <p:cNvSpPr>
                <a:spLocks noChangeShapeType="1"/>
              </p:cNvSpPr>
              <p:nvPr/>
            </p:nvSpPr>
            <p:spPr bwMode="auto">
              <a:xfrm>
                <a:off x="1056" y="2352"/>
                <a:ext cx="576" cy="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 type="triangle" w="lg" len="lg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</p:grpSp>
      </p:grpSp>
      <p:sp>
        <p:nvSpPr>
          <p:cNvPr id="34" name="Text Box 32"/>
          <p:cNvSpPr txBox="1">
            <a:spLocks noChangeArrowheads="1"/>
          </p:cNvSpPr>
          <p:nvPr/>
        </p:nvSpPr>
        <p:spPr bwMode="auto">
          <a:xfrm>
            <a:off x="609600" y="4343400"/>
            <a:ext cx="67056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>
              <a:spcBef>
                <a:spcPct val="20000"/>
              </a:spcBef>
              <a:buClr>
                <a:schemeClr val="bg2"/>
              </a:buClr>
              <a:buSzPct val="70000"/>
              <a:buFont typeface="Wingdings" panose="05000000000000000000" pitchFamily="2" charset="2"/>
              <a:buChar char="l"/>
              <a:defRPr sz="31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spcBef>
                <a:spcPct val="20000"/>
              </a:spcBef>
              <a:buClr>
                <a:schemeClr val="accent1"/>
              </a:buClr>
              <a:buSzPct val="150000"/>
              <a:buChar char="•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tx1"/>
              </a:buClr>
              <a:buSzPct val="150000"/>
              <a:buChar char="•"/>
              <a:defRPr sz="2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150000"/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150000"/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150000"/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150000"/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150000"/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150000"/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1">
              <a:spcBef>
                <a:spcPct val="0"/>
              </a:spcBef>
              <a:buClrTx/>
              <a:buSzTx/>
              <a:buFontTx/>
              <a:buNone/>
            </a:pPr>
            <a:r>
              <a:rPr lang="en-US" sz="2400" dirty="0">
                <a:latin typeface="Times New Roman" panose="02020603050405020304" pitchFamily="18" charset="0"/>
              </a:rPr>
              <a:t>Each node contains a </a:t>
            </a:r>
            <a:r>
              <a:rPr lang="en-US" sz="2400" b="1" dirty="0">
                <a:solidFill>
                  <a:schemeClr val="tx2"/>
                </a:solidFill>
                <a:latin typeface="Times New Roman" panose="02020603050405020304" pitchFamily="18" charset="0"/>
              </a:rPr>
              <a:t>value</a:t>
            </a:r>
            <a:endParaRPr lang="en-US" sz="2400" b="1" dirty="0">
              <a:latin typeface="Times New Roman" panose="02020603050405020304" pitchFamily="18" charset="0"/>
            </a:endParaRPr>
          </a:p>
        </p:txBody>
      </p:sp>
      <p:sp>
        <p:nvSpPr>
          <p:cNvPr id="35" name="Text Box 33"/>
          <p:cNvSpPr txBox="1">
            <a:spLocks noChangeArrowheads="1"/>
          </p:cNvSpPr>
          <p:nvPr/>
        </p:nvSpPr>
        <p:spPr bwMode="auto">
          <a:xfrm>
            <a:off x="1066800" y="4724400"/>
            <a:ext cx="6934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0000"/>
              <a:buFont typeface="Wingdings" panose="05000000000000000000" pitchFamily="2" charset="2"/>
              <a:buChar char="l"/>
              <a:defRPr sz="31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50000"/>
              <a:buChar char="•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tx1"/>
              </a:buClr>
              <a:buSzPct val="150000"/>
              <a:buChar char="•"/>
              <a:defRPr sz="2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150000"/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150000"/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150000"/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150000"/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150000"/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150000"/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  <a:buClrTx/>
              <a:buSzTx/>
              <a:buFontTx/>
              <a:buNone/>
            </a:pPr>
            <a:r>
              <a:rPr lang="en-US" sz="2400" dirty="0">
                <a:latin typeface="Times New Roman" panose="02020603050405020304" pitchFamily="18" charset="0"/>
              </a:rPr>
              <a:t>and a </a:t>
            </a:r>
            <a:r>
              <a:rPr lang="en-US" sz="2400" b="1" dirty="0">
                <a:solidFill>
                  <a:schemeClr val="tx2"/>
                </a:solidFill>
                <a:latin typeface="Times New Roman" panose="02020603050405020304" pitchFamily="18" charset="0"/>
              </a:rPr>
              <a:t>link</a:t>
            </a:r>
            <a:r>
              <a:rPr lang="en-US" sz="2400" dirty="0">
                <a:latin typeface="Times New Roman" panose="02020603050405020304" pitchFamily="18" charset="0"/>
              </a:rPr>
              <a:t> (pointer or reference) to some other node</a:t>
            </a:r>
          </a:p>
        </p:txBody>
      </p:sp>
      <p:sp>
        <p:nvSpPr>
          <p:cNvPr id="36" name="Text Box 34"/>
          <p:cNvSpPr txBox="1">
            <a:spLocks noChangeArrowheads="1"/>
          </p:cNvSpPr>
          <p:nvPr/>
        </p:nvSpPr>
        <p:spPr bwMode="auto">
          <a:xfrm>
            <a:off x="1066800" y="5181600"/>
            <a:ext cx="70104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0000"/>
              <a:buFont typeface="Wingdings" panose="05000000000000000000" pitchFamily="2" charset="2"/>
              <a:buChar char="l"/>
              <a:defRPr sz="31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50000"/>
              <a:buChar char="•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tx1"/>
              </a:buClr>
              <a:buSzPct val="150000"/>
              <a:buChar char="•"/>
              <a:defRPr sz="2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150000"/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150000"/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150000"/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150000"/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150000"/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150000"/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  <a:buClrTx/>
              <a:buSzTx/>
              <a:buFontTx/>
              <a:buNone/>
            </a:pPr>
            <a:r>
              <a:rPr lang="en-US" sz="2400" dirty="0">
                <a:latin typeface="Times New Roman" panose="02020603050405020304" pitchFamily="18" charset="0"/>
              </a:rPr>
              <a:t>The last node contains a </a:t>
            </a:r>
            <a:r>
              <a:rPr lang="en-US" sz="2400" b="1" dirty="0">
                <a:solidFill>
                  <a:schemeClr val="tx2"/>
                </a:solidFill>
                <a:latin typeface="Times New Roman" panose="02020603050405020304" pitchFamily="18" charset="0"/>
              </a:rPr>
              <a:t>null link</a:t>
            </a:r>
            <a:endParaRPr lang="en-US" sz="2400" b="1" dirty="0">
              <a:latin typeface="Times New Roman" panose="02020603050405020304" pitchFamily="18" charset="0"/>
            </a:endParaRPr>
          </a:p>
        </p:txBody>
      </p:sp>
      <p:sp>
        <p:nvSpPr>
          <p:cNvPr id="37" name="Oval 35"/>
          <p:cNvSpPr>
            <a:spLocks noChangeArrowheads="1"/>
          </p:cNvSpPr>
          <p:nvPr/>
        </p:nvSpPr>
        <p:spPr bwMode="auto">
          <a:xfrm>
            <a:off x="8153400" y="3810000"/>
            <a:ext cx="152400" cy="15240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0000"/>
              <a:buFont typeface="Wingdings" panose="05000000000000000000" pitchFamily="2" charset="2"/>
              <a:buChar char="l"/>
              <a:defRPr sz="31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50000"/>
              <a:buChar char="•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tx1"/>
              </a:buClr>
              <a:buSzPct val="150000"/>
              <a:buChar char="•"/>
              <a:defRPr sz="2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150000"/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150000"/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150000"/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150000"/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150000"/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150000"/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lang="ru-RU" sz="1800"/>
          </a:p>
        </p:txBody>
      </p:sp>
      <p:sp>
        <p:nvSpPr>
          <p:cNvPr id="38" name="Text Box 36"/>
          <p:cNvSpPr txBox="1">
            <a:spLocks noChangeArrowheads="1"/>
          </p:cNvSpPr>
          <p:nvPr/>
        </p:nvSpPr>
        <p:spPr bwMode="auto">
          <a:xfrm>
            <a:off x="1066800" y="5638800"/>
            <a:ext cx="70104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0000"/>
              <a:buFont typeface="Wingdings" panose="05000000000000000000" pitchFamily="2" charset="2"/>
              <a:buChar char="l"/>
              <a:defRPr sz="31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150000"/>
              <a:buChar char="•"/>
              <a:defRPr sz="26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tx1"/>
              </a:buClr>
              <a:buSzPct val="150000"/>
              <a:buChar char="•"/>
              <a:defRPr sz="2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tx2"/>
              </a:buClr>
              <a:buSzPct val="150000"/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150000"/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150000"/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150000"/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150000"/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150000"/>
              <a:buChar char="•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  <a:buClrTx/>
              <a:buSzTx/>
              <a:buFontTx/>
              <a:buNone/>
            </a:pPr>
            <a:r>
              <a:rPr lang="en-US" sz="2400" dirty="0">
                <a:latin typeface="Times New Roman" panose="02020603050405020304" pitchFamily="18" charset="0"/>
              </a:rPr>
              <a:t>The list may have a </a:t>
            </a:r>
            <a:r>
              <a:rPr lang="en-US" sz="2400" b="1" dirty="0">
                <a:solidFill>
                  <a:schemeClr val="tx2"/>
                </a:solidFill>
                <a:latin typeface="Times New Roman" panose="02020603050405020304" pitchFamily="18" charset="0"/>
              </a:rPr>
              <a:t>header</a:t>
            </a:r>
            <a:endParaRPr lang="en-US" sz="2400" b="1" dirty="0">
              <a:latin typeface="Times New Roman" panose="02020603050405020304" pitchFamily="18" charset="0"/>
            </a:endParaRPr>
          </a:p>
        </p:txBody>
      </p:sp>
      <p:grpSp>
        <p:nvGrpSpPr>
          <p:cNvPr id="39" name="Group 37"/>
          <p:cNvGrpSpPr>
            <a:grpSpLocks/>
          </p:cNvGrpSpPr>
          <p:nvPr/>
        </p:nvGrpSpPr>
        <p:grpSpPr bwMode="auto">
          <a:xfrm>
            <a:off x="685800" y="2971800"/>
            <a:ext cx="1981200" cy="762000"/>
            <a:chOff x="192" y="1872"/>
            <a:chExt cx="1248" cy="480"/>
          </a:xfrm>
        </p:grpSpPr>
        <p:grpSp>
          <p:nvGrpSpPr>
            <p:cNvPr id="40" name="Group 38"/>
            <p:cNvGrpSpPr>
              <a:grpSpLocks/>
            </p:cNvGrpSpPr>
            <p:nvPr/>
          </p:nvGrpSpPr>
          <p:grpSpPr bwMode="auto">
            <a:xfrm>
              <a:off x="960" y="1920"/>
              <a:ext cx="480" cy="432"/>
              <a:chOff x="432" y="2352"/>
              <a:chExt cx="480" cy="432"/>
            </a:xfrm>
          </p:grpSpPr>
          <p:grpSp>
            <p:nvGrpSpPr>
              <p:cNvPr id="42" name="Group 39"/>
              <p:cNvGrpSpPr>
                <a:grpSpLocks/>
              </p:cNvGrpSpPr>
              <p:nvPr/>
            </p:nvGrpSpPr>
            <p:grpSpPr bwMode="auto">
              <a:xfrm>
                <a:off x="432" y="2352"/>
                <a:ext cx="288" cy="240"/>
                <a:chOff x="960" y="1584"/>
                <a:chExt cx="288" cy="240"/>
              </a:xfrm>
            </p:grpSpPr>
            <p:sp>
              <p:nvSpPr>
                <p:cNvPr id="44" name="Oval 40"/>
                <p:cNvSpPr>
                  <a:spLocks noChangeArrowheads="1"/>
                </p:cNvSpPr>
                <p:nvPr/>
              </p:nvSpPr>
              <p:spPr bwMode="auto">
                <a:xfrm>
                  <a:off x="1056" y="1632"/>
                  <a:ext cx="96" cy="96"/>
                </a:xfrm>
                <a:prstGeom prst="ellipse">
                  <a:avLst/>
                </a:prstGeom>
                <a:solidFill>
                  <a:schemeClr val="tx1"/>
                </a:solidFill>
                <a:ln w="12700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0000"/>
                    <a:buFont typeface="Wingdings" panose="05000000000000000000" pitchFamily="2" charset="2"/>
                    <a:buChar char="l"/>
                    <a:defRPr sz="31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SzPct val="150000"/>
                    <a:buChar char="•"/>
                    <a:defRPr sz="2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SzPct val="150000"/>
                    <a:buChar char="•"/>
                    <a:defRPr sz="2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tx2"/>
                    </a:buClr>
                    <a:buSzPct val="150000"/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folHlink"/>
                    </a:buClr>
                    <a:buSzPct val="150000"/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150000"/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150000"/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150000"/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150000"/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ru-RU" sz="1800"/>
                </a:p>
              </p:txBody>
            </p:sp>
            <p:sp>
              <p:nvSpPr>
                <p:cNvPr id="45" name="Rectangle 41"/>
                <p:cNvSpPr>
                  <a:spLocks noChangeArrowheads="1"/>
                </p:cNvSpPr>
                <p:nvPr/>
              </p:nvSpPr>
              <p:spPr bwMode="auto">
                <a:xfrm>
                  <a:off x="960" y="1584"/>
                  <a:ext cx="288" cy="240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bg2"/>
                    </a:buClr>
                    <a:buSzPct val="70000"/>
                    <a:buFont typeface="Wingdings" panose="05000000000000000000" pitchFamily="2" charset="2"/>
                    <a:buChar char="l"/>
                    <a:defRPr sz="31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SzPct val="150000"/>
                    <a:buChar char="•"/>
                    <a:defRPr sz="26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SzPct val="150000"/>
                    <a:buChar char="•"/>
                    <a:defRPr sz="2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lr>
                      <a:schemeClr val="tx2"/>
                    </a:buClr>
                    <a:buSzPct val="150000"/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lr>
                      <a:schemeClr val="folHlink"/>
                    </a:buClr>
                    <a:buSzPct val="150000"/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150000"/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150000"/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150000"/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folHlink"/>
                    </a:buClr>
                    <a:buSzPct val="150000"/>
                    <a:buChar char="•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ru-RU" sz="1800"/>
                </a:p>
              </p:txBody>
            </p:sp>
          </p:grpSp>
          <p:sp>
            <p:nvSpPr>
              <p:cNvPr id="43" name="Line 42"/>
              <p:cNvSpPr>
                <a:spLocks noChangeShapeType="1"/>
              </p:cNvSpPr>
              <p:nvPr/>
            </p:nvSpPr>
            <p:spPr bwMode="auto">
              <a:xfrm>
                <a:off x="576" y="2448"/>
                <a:ext cx="336" cy="336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41" name="Text Box 43"/>
            <p:cNvSpPr txBox="1">
              <a:spLocks noChangeArrowheads="1"/>
            </p:cNvSpPr>
            <p:nvPr/>
          </p:nvSpPr>
          <p:spPr bwMode="auto">
            <a:xfrm>
              <a:off x="192" y="1872"/>
              <a:ext cx="816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lr>
                  <a:schemeClr val="bg2"/>
                </a:buClr>
                <a:buSzPct val="70000"/>
                <a:buFont typeface="Wingdings" panose="05000000000000000000" pitchFamily="2" charset="2"/>
                <a:buChar char="l"/>
                <a:defRPr sz="31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accent1"/>
                </a:buClr>
                <a:buSzPct val="150000"/>
                <a:buChar char="•"/>
                <a:defRPr sz="26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tx1"/>
                </a:buClr>
                <a:buSzPct val="150000"/>
                <a:buChar char="•"/>
                <a:defRPr sz="22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tx2"/>
                </a:buClr>
                <a:buSzPct val="150000"/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folHlink"/>
                </a:buClr>
                <a:buSzPct val="150000"/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150000"/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150000"/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150000"/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folHlink"/>
                </a:buClr>
                <a:buSzPct val="150000"/>
                <a:buChar char="•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sz="2400">
                  <a:latin typeface="Verdana" panose="020B0604030504040204" pitchFamily="34" charset="0"/>
                </a:rPr>
                <a:t>myList</a:t>
              </a:r>
              <a:endParaRPr lang="en-US" sz="2400">
                <a:latin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98973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3" presetClass="entr" presetSubtype="27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2/3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utoUpdateAnimBg="0"/>
      <p:bldP spid="35" grpId="0" autoUpdateAnimBg="0"/>
      <p:bldP spid="36" grpId="0" autoUpdateAnimBg="0"/>
      <p:bldP spid="37" grpId="0" animBg="1"/>
      <p:bldP spid="38" grpId="0" autoUpdateAnimBg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Linked List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buClr>
                <a:schemeClr val="tx1"/>
              </a:buClr>
            </a:pPr>
            <a:r>
              <a:rPr lang="en-US" dirty="0"/>
              <a:t>Whereas the elements in an array are referenced by position (the index), the elements of a linked list are referenced by their relationship to the other elements of the list.</a:t>
            </a:r>
          </a:p>
        </p:txBody>
      </p:sp>
    </p:spTree>
    <p:extLst>
      <p:ext uri="{BB962C8B-B14F-4D97-AF65-F5344CB8AC3E}">
        <p14:creationId xmlns:p14="http://schemas.microsoft.com/office/powerpoint/2010/main" val="6228015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More terminology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773238"/>
            <a:ext cx="8610600" cy="4248150"/>
          </a:xfrm>
        </p:spPr>
        <p:txBody>
          <a:bodyPr/>
          <a:lstStyle/>
          <a:p>
            <a:pPr eaLnBrk="1" hangingPunct="1"/>
            <a:r>
              <a:rPr lang="en-US" dirty="0"/>
              <a:t>A node’s </a:t>
            </a:r>
            <a:r>
              <a:rPr lang="en-US" b="1" dirty="0">
                <a:solidFill>
                  <a:schemeClr val="tx2"/>
                </a:solidFill>
              </a:rPr>
              <a:t>successor</a:t>
            </a:r>
            <a:r>
              <a:rPr lang="en-US" dirty="0"/>
              <a:t> is the next node in the sequence</a:t>
            </a:r>
          </a:p>
          <a:p>
            <a:pPr lvl="1" eaLnBrk="1" hangingPunct="1"/>
            <a:r>
              <a:rPr lang="en-US" dirty="0"/>
              <a:t>The last node has no successor</a:t>
            </a:r>
          </a:p>
          <a:p>
            <a:pPr eaLnBrk="1" hangingPunct="1"/>
            <a:r>
              <a:rPr lang="en-US" dirty="0"/>
              <a:t>A node’s </a:t>
            </a:r>
            <a:r>
              <a:rPr lang="en-US" b="1" dirty="0">
                <a:solidFill>
                  <a:schemeClr val="tx2"/>
                </a:solidFill>
              </a:rPr>
              <a:t>predecessor</a:t>
            </a:r>
            <a:r>
              <a:rPr lang="en-US" dirty="0"/>
              <a:t> is the previous node in the sequence</a:t>
            </a:r>
          </a:p>
          <a:p>
            <a:pPr lvl="1" eaLnBrk="1" hangingPunct="1"/>
            <a:r>
              <a:rPr lang="en-US" dirty="0"/>
              <a:t>The first node has no predecessor</a:t>
            </a:r>
          </a:p>
          <a:p>
            <a:pPr eaLnBrk="1" hangingPunct="1"/>
            <a:r>
              <a:rPr lang="en-US" dirty="0"/>
              <a:t>A list’s </a:t>
            </a:r>
            <a:r>
              <a:rPr lang="en-US" b="1" dirty="0">
                <a:solidFill>
                  <a:schemeClr val="tx2"/>
                </a:solidFill>
              </a:rPr>
              <a:t>length</a:t>
            </a:r>
            <a:r>
              <a:rPr lang="en-US" b="1" dirty="0"/>
              <a:t> </a:t>
            </a:r>
            <a:r>
              <a:rPr lang="en-US" dirty="0"/>
              <a:t>is the number of elements in it</a:t>
            </a:r>
          </a:p>
          <a:p>
            <a:pPr lvl="1" eaLnBrk="1" hangingPunct="1"/>
            <a:r>
              <a:rPr lang="en-US" dirty="0"/>
              <a:t>A list may be </a:t>
            </a:r>
            <a:r>
              <a:rPr lang="en-US" b="1" dirty="0">
                <a:solidFill>
                  <a:schemeClr val="tx2"/>
                </a:solidFill>
              </a:rPr>
              <a:t>empty</a:t>
            </a:r>
            <a:r>
              <a:rPr lang="en-US" b="1" dirty="0"/>
              <a:t> </a:t>
            </a:r>
            <a:r>
              <a:rPr lang="en-US" dirty="0"/>
              <a:t>(contain no elements)</a:t>
            </a:r>
          </a:p>
        </p:txBody>
      </p:sp>
    </p:spTree>
    <p:extLst>
      <p:ext uri="{BB962C8B-B14F-4D97-AF65-F5344CB8AC3E}">
        <p14:creationId xmlns:p14="http://schemas.microsoft.com/office/powerpoint/2010/main" val="6612061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Advantages of Linked Lists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773238"/>
            <a:ext cx="8077200" cy="4248150"/>
          </a:xfrm>
        </p:spPr>
        <p:txBody>
          <a:bodyPr/>
          <a:lstStyle/>
          <a:p>
            <a:pPr eaLnBrk="1" hangingPunct="1"/>
            <a:r>
              <a:rPr lang="en-US" dirty="0"/>
              <a:t>Insertion becomes a very efficient task when using a linked list – O(1).</a:t>
            </a:r>
          </a:p>
          <a:p>
            <a:pPr eaLnBrk="1" hangingPunct="1"/>
            <a:r>
              <a:rPr lang="en-US" dirty="0"/>
              <a:t>Removing an item from a linked list is just as easy – O(1).</a:t>
            </a:r>
          </a:p>
          <a:p>
            <a:pPr eaLnBrk="1" hangingPunct="1"/>
            <a:r>
              <a:rPr lang="en-US" dirty="0"/>
              <a:t>Index – O(N)</a:t>
            </a:r>
          </a:p>
        </p:txBody>
      </p:sp>
    </p:spTree>
    <p:extLst>
      <p:ext uri="{BB962C8B-B14F-4D97-AF65-F5344CB8AC3E}">
        <p14:creationId xmlns:p14="http://schemas.microsoft.com/office/powerpoint/2010/main" val="227949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Circularly linked list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773238"/>
            <a:ext cx="8077200" cy="1884362"/>
          </a:xfrm>
        </p:spPr>
        <p:txBody>
          <a:bodyPr/>
          <a:lstStyle/>
          <a:p>
            <a:pPr eaLnBrk="1" hangingPunct="1"/>
            <a:r>
              <a:rPr lang="en-US" dirty="0"/>
              <a:t>A circularly linked list is a list in which the last node points back to the first</a:t>
            </a:r>
          </a:p>
          <a:p>
            <a:pPr eaLnBrk="1" hangingPunct="1">
              <a:buNone/>
            </a:pPr>
            <a:r>
              <a:rPr lang="en-US" dirty="0"/>
              <a:t>	node (which may be a header node).</a:t>
            </a:r>
          </a:p>
        </p:txBody>
      </p:sp>
      <p:pic>
        <p:nvPicPr>
          <p:cNvPr id="2050" name="Picture 2" descr="Circular Singly Linked List in C - Sanfoundry">
            <a:extLst>
              <a:ext uri="{FF2B5EF4-FFF2-40B4-BE49-F238E27FC236}">
                <a16:creationId xmlns:a16="http://schemas.microsoft.com/office/drawing/2014/main" id="{ADEEEE43-00E8-4F6F-B779-BF589CCAA7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9700" y="3438617"/>
            <a:ext cx="6324600" cy="3194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46717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Doubly linked list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3AEB3D-4FB8-4A42-AA0B-D978821687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8" name="Picture 4" descr="Doubly Linked List Operations Program in C - Sanfoundry">
            <a:extLst>
              <a:ext uri="{FF2B5EF4-FFF2-40B4-BE49-F238E27FC236}">
                <a16:creationId xmlns:a16="http://schemas.microsoft.com/office/drawing/2014/main" id="{60AE124E-99EB-4AA2-B5A6-EB1E943738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199" y="1773238"/>
            <a:ext cx="8238999" cy="3255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64641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Implementation in C#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773238"/>
            <a:ext cx="8077200" cy="4248150"/>
          </a:xfrm>
        </p:spPr>
        <p:txBody>
          <a:bodyPr/>
          <a:lstStyle/>
          <a:p>
            <a:pPr eaLnBrk="1" hangingPunct="1"/>
            <a:r>
              <a:rPr lang="en-US" dirty="0" err="1"/>
              <a:t>LinkedList</a:t>
            </a:r>
            <a:r>
              <a:rPr lang="en-US" dirty="0"/>
              <a:t>&lt;T&gt; Class</a:t>
            </a:r>
          </a:p>
          <a:p>
            <a:pPr eaLnBrk="1" hangingPunct="1"/>
            <a:r>
              <a:rPr lang="en-US" dirty="0" err="1"/>
              <a:t>LinkedListNode</a:t>
            </a:r>
            <a:r>
              <a:rPr lang="en-US" dirty="0"/>
              <a:t>&lt;T&gt; Class</a:t>
            </a:r>
          </a:p>
          <a:p>
            <a:pPr eaLnBrk="1" hangingPunct="1"/>
            <a:r>
              <a:rPr lang="en-US" dirty="0"/>
              <a:t>Doubly linked</a:t>
            </a:r>
          </a:p>
        </p:txBody>
      </p:sp>
    </p:spTree>
    <p:extLst>
      <p:ext uri="{BB962C8B-B14F-4D97-AF65-F5344CB8AC3E}">
        <p14:creationId xmlns:p14="http://schemas.microsoft.com/office/powerpoint/2010/main" val="28345115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  <p:sp>
        <p:nvSpPr>
          <p:cNvPr id="327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algn="ctr" eaLnBrk="1" hangingPunct="1">
              <a:buFont typeface="Wingdings" panose="05000000000000000000" pitchFamily="2" charset="2"/>
              <a:buNone/>
            </a:pPr>
            <a:r>
              <a:rPr lang="en-US" sz="11700"/>
              <a:t>	The End</a:t>
            </a:r>
            <a:endParaRPr lang="ru-RU" sz="117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ixel">
  <a:themeElements>
    <a:clrScheme name="Pixel 12">
      <a:dk1>
        <a:srgbClr val="000000"/>
      </a:dk1>
      <a:lt1>
        <a:srgbClr val="FFFFFF"/>
      </a:lt1>
      <a:dk2>
        <a:srgbClr val="000000"/>
      </a:dk2>
      <a:lt2>
        <a:srgbClr val="00007D"/>
      </a:lt2>
      <a:accent1>
        <a:srgbClr val="9999FF"/>
      </a:accent1>
      <a:accent2>
        <a:srgbClr val="9999CC"/>
      </a:accent2>
      <a:accent3>
        <a:srgbClr val="FFFFFF"/>
      </a:accent3>
      <a:accent4>
        <a:srgbClr val="000000"/>
      </a:accent4>
      <a:accent5>
        <a:srgbClr val="CACAFF"/>
      </a:accent5>
      <a:accent6>
        <a:srgbClr val="8A8AB9"/>
      </a:accent6>
      <a:hlink>
        <a:srgbClr val="666699"/>
      </a:hlink>
      <a:folHlink>
        <a:srgbClr val="CCCCE6"/>
      </a:folHlink>
    </a:clrScheme>
    <a:fontScheme name="Pixe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ru-RU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ru-RU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Pixel 1">
        <a:dk1>
          <a:srgbClr val="0066FF"/>
        </a:dk1>
        <a:lt1>
          <a:srgbClr val="FFFFFF"/>
        </a:lt1>
        <a:dk2>
          <a:srgbClr val="000066"/>
        </a:dk2>
        <a:lt2>
          <a:srgbClr val="FFFFFF"/>
        </a:lt2>
        <a:accent1>
          <a:srgbClr val="6699FF"/>
        </a:accent1>
        <a:accent2>
          <a:srgbClr val="3333FF"/>
        </a:accent2>
        <a:accent3>
          <a:srgbClr val="AAAAB8"/>
        </a:accent3>
        <a:accent4>
          <a:srgbClr val="DADADA"/>
        </a:accent4>
        <a:accent5>
          <a:srgbClr val="B8CAFF"/>
        </a:accent5>
        <a:accent6>
          <a:srgbClr val="2D2DE7"/>
        </a:accent6>
        <a:hlink>
          <a:srgbClr val="FFCC00"/>
        </a:hlink>
        <a:folHlink>
          <a:srgbClr val="00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2">
        <a:dk1>
          <a:srgbClr val="009999"/>
        </a:dk1>
        <a:lt1>
          <a:srgbClr val="FFFFFF"/>
        </a:lt1>
        <a:dk2>
          <a:srgbClr val="334B49"/>
        </a:dk2>
        <a:lt2>
          <a:srgbClr val="FFFFFF"/>
        </a:lt2>
        <a:accent1>
          <a:srgbClr val="33CCCC"/>
        </a:accent1>
        <a:accent2>
          <a:srgbClr val="008080"/>
        </a:accent2>
        <a:accent3>
          <a:srgbClr val="ADB1B1"/>
        </a:accent3>
        <a:accent4>
          <a:srgbClr val="DADADA"/>
        </a:accent4>
        <a:accent5>
          <a:srgbClr val="ADE2E2"/>
        </a:accent5>
        <a:accent6>
          <a:srgbClr val="007373"/>
        </a:accent6>
        <a:hlink>
          <a:srgbClr val="FFCC00"/>
        </a:hlink>
        <a:folHlink>
          <a:srgbClr val="0066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3">
        <a:dk1>
          <a:srgbClr val="006699"/>
        </a:dk1>
        <a:lt1>
          <a:srgbClr val="FFFFFF"/>
        </a:lt1>
        <a:dk2>
          <a:srgbClr val="333399"/>
        </a:dk2>
        <a:lt2>
          <a:srgbClr val="FFFFFF"/>
        </a:lt2>
        <a:accent1>
          <a:srgbClr val="0099CC"/>
        </a:accent1>
        <a:accent2>
          <a:srgbClr val="0386AF"/>
        </a:accent2>
        <a:accent3>
          <a:srgbClr val="ADADCA"/>
        </a:accent3>
        <a:accent4>
          <a:srgbClr val="DADADA"/>
        </a:accent4>
        <a:accent5>
          <a:srgbClr val="AACAE2"/>
        </a:accent5>
        <a:accent6>
          <a:srgbClr val="02799E"/>
        </a:accent6>
        <a:hlink>
          <a:srgbClr val="FFCC00"/>
        </a:hlink>
        <a:folHlink>
          <a:srgbClr val="6699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4">
        <a:dk1>
          <a:srgbClr val="008080"/>
        </a:dk1>
        <a:lt1>
          <a:srgbClr val="FFFFFF"/>
        </a:lt1>
        <a:dk2>
          <a:srgbClr val="2F978D"/>
        </a:dk2>
        <a:lt2>
          <a:srgbClr val="FFFFFF"/>
        </a:lt2>
        <a:accent1>
          <a:srgbClr val="0099FF"/>
        </a:accent1>
        <a:accent2>
          <a:srgbClr val="009999"/>
        </a:accent2>
        <a:accent3>
          <a:srgbClr val="ADC9C5"/>
        </a:accent3>
        <a:accent4>
          <a:srgbClr val="DADADA"/>
        </a:accent4>
        <a:accent5>
          <a:srgbClr val="AACAFF"/>
        </a:accent5>
        <a:accent6>
          <a:srgbClr val="008A8A"/>
        </a:accent6>
        <a:hlink>
          <a:srgbClr val="FFFFCC"/>
        </a:hlink>
        <a:folHlink>
          <a:srgbClr val="70CAC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5">
        <a:dk1>
          <a:srgbClr val="822504"/>
        </a:dk1>
        <a:lt1>
          <a:srgbClr val="FFFFFF"/>
        </a:lt1>
        <a:dk2>
          <a:srgbClr val="330000"/>
        </a:dk2>
        <a:lt2>
          <a:srgbClr val="FFFFFF"/>
        </a:lt2>
        <a:accent1>
          <a:srgbClr val="FF9900"/>
        </a:accent1>
        <a:accent2>
          <a:srgbClr val="9E2A06"/>
        </a:accent2>
        <a:accent3>
          <a:srgbClr val="ADAAAA"/>
        </a:accent3>
        <a:accent4>
          <a:srgbClr val="DADADA"/>
        </a:accent4>
        <a:accent5>
          <a:srgbClr val="FFCAAA"/>
        </a:accent5>
        <a:accent6>
          <a:srgbClr val="8F2505"/>
        </a:accent6>
        <a:hlink>
          <a:srgbClr val="FF3300"/>
        </a:hlink>
        <a:folHlink>
          <a:srgbClr val="7C070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6">
        <a:dk1>
          <a:srgbClr val="336600"/>
        </a:dk1>
        <a:lt1>
          <a:srgbClr val="FFFFFF"/>
        </a:lt1>
        <a:dk2>
          <a:srgbClr val="4A7911"/>
        </a:dk2>
        <a:lt2>
          <a:srgbClr val="FFFFFF"/>
        </a:lt2>
        <a:accent1>
          <a:srgbClr val="666633"/>
        </a:accent1>
        <a:accent2>
          <a:srgbClr val="669900"/>
        </a:accent2>
        <a:accent3>
          <a:srgbClr val="B1BEAA"/>
        </a:accent3>
        <a:accent4>
          <a:srgbClr val="DADADA"/>
        </a:accent4>
        <a:accent5>
          <a:srgbClr val="B8B8AD"/>
        </a:accent5>
        <a:accent6>
          <a:srgbClr val="5C8A00"/>
        </a:accent6>
        <a:hlink>
          <a:srgbClr val="FFCC00"/>
        </a:hlink>
        <a:folHlink>
          <a:srgbClr val="99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7">
        <a:dk1>
          <a:srgbClr val="000000"/>
        </a:dk1>
        <a:lt1>
          <a:srgbClr val="FFFFFF"/>
        </a:lt1>
        <a:dk2>
          <a:srgbClr val="000000"/>
        </a:dk2>
        <a:lt2>
          <a:srgbClr val="CC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6633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8">
        <a:dk1>
          <a:srgbClr val="003300"/>
        </a:dk1>
        <a:lt1>
          <a:srgbClr val="FFFFFF"/>
        </a:lt1>
        <a:dk2>
          <a:srgbClr val="000000"/>
        </a:dk2>
        <a:lt2>
          <a:srgbClr val="336600"/>
        </a:lt2>
        <a:accent1>
          <a:srgbClr val="CCCC00"/>
        </a:accent1>
        <a:accent2>
          <a:srgbClr val="669900"/>
        </a:accent2>
        <a:accent3>
          <a:srgbClr val="FFFFFF"/>
        </a:accent3>
        <a:accent4>
          <a:srgbClr val="002A00"/>
        </a:accent4>
        <a:accent5>
          <a:srgbClr val="E2E2AA"/>
        </a:accent5>
        <a:accent6>
          <a:srgbClr val="5C8A00"/>
        </a:accent6>
        <a:hlink>
          <a:srgbClr val="333300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9">
        <a:dk1>
          <a:srgbClr val="000000"/>
        </a:dk1>
        <a:lt1>
          <a:srgbClr val="FFFFFF"/>
        </a:lt1>
        <a:dk2>
          <a:srgbClr val="000000"/>
        </a:dk2>
        <a:lt2>
          <a:srgbClr val="440044"/>
        </a:lt2>
        <a:accent1>
          <a:srgbClr val="FFCCCC"/>
        </a:accent1>
        <a:accent2>
          <a:srgbClr val="790571"/>
        </a:accent2>
        <a:accent3>
          <a:srgbClr val="FFFFFF"/>
        </a:accent3>
        <a:accent4>
          <a:srgbClr val="000000"/>
        </a:accent4>
        <a:accent5>
          <a:srgbClr val="FFE2E2"/>
        </a:accent5>
        <a:accent6>
          <a:srgbClr val="6D0466"/>
        </a:accent6>
        <a:hlink>
          <a:srgbClr val="993366"/>
        </a:hlink>
        <a:folHlink>
          <a:srgbClr val="9F839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0">
        <a:dk1>
          <a:srgbClr val="000000"/>
        </a:dk1>
        <a:lt1>
          <a:srgbClr val="FFFFFF"/>
        </a:lt1>
        <a:dk2>
          <a:srgbClr val="000000"/>
        </a:dk2>
        <a:lt2>
          <a:srgbClr val="FF9900"/>
        </a:lt2>
        <a:accent1>
          <a:srgbClr val="FFCC99"/>
        </a:accent1>
        <a:accent2>
          <a:srgbClr val="FBA313"/>
        </a:accent2>
        <a:accent3>
          <a:srgbClr val="FFFFFF"/>
        </a:accent3>
        <a:accent4>
          <a:srgbClr val="000000"/>
        </a:accent4>
        <a:accent5>
          <a:srgbClr val="FFE2CA"/>
        </a:accent5>
        <a:accent6>
          <a:srgbClr val="E39310"/>
        </a:accent6>
        <a:hlink>
          <a:srgbClr val="CC3300"/>
        </a:hlink>
        <a:folHlink>
          <a:srgbClr val="FCC66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1">
        <a:dk1>
          <a:srgbClr val="000000"/>
        </a:dk1>
        <a:lt1>
          <a:srgbClr val="FFFFFF"/>
        </a:lt1>
        <a:dk2>
          <a:srgbClr val="000000"/>
        </a:dk2>
        <a:lt2>
          <a:srgbClr val="779F92"/>
        </a:lt2>
        <a:accent1>
          <a:srgbClr val="33CCCC"/>
        </a:accent1>
        <a:accent2>
          <a:srgbClr val="9DC2D7"/>
        </a:accent2>
        <a:accent3>
          <a:srgbClr val="FFFFFF"/>
        </a:accent3>
        <a:accent4>
          <a:srgbClr val="000000"/>
        </a:accent4>
        <a:accent5>
          <a:srgbClr val="ADE2E2"/>
        </a:accent5>
        <a:accent6>
          <a:srgbClr val="8EB0C3"/>
        </a:accent6>
        <a:hlink>
          <a:srgbClr val="006666"/>
        </a:hlink>
        <a:folHlink>
          <a:srgbClr val="CC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2">
        <a:dk1>
          <a:srgbClr val="000000"/>
        </a:dk1>
        <a:lt1>
          <a:srgbClr val="FFFFFF"/>
        </a:lt1>
        <a:dk2>
          <a:srgbClr val="000000"/>
        </a:dk2>
        <a:lt2>
          <a:srgbClr val="00007D"/>
        </a:lt2>
        <a:accent1>
          <a:srgbClr val="9999FF"/>
        </a:accent1>
        <a:accent2>
          <a:srgbClr val="9999CC"/>
        </a:accent2>
        <a:accent3>
          <a:srgbClr val="FFFFFF"/>
        </a:accent3>
        <a:accent4>
          <a:srgbClr val="000000"/>
        </a:accent4>
        <a:accent5>
          <a:srgbClr val="CACAFF"/>
        </a:accent5>
        <a:accent6>
          <a:srgbClr val="8A8AB9"/>
        </a:accent6>
        <a:hlink>
          <a:srgbClr val="666699"/>
        </a:hlink>
        <a:folHlink>
          <a:srgbClr val="CCCCE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>
  <Template>lecture12</Template>
  <TotalTime>208</TotalTime>
  <Words>745</Words>
  <Application>Microsoft Office PowerPoint</Application>
  <PresentationFormat>On-screen Show (4:3)</PresentationFormat>
  <Paragraphs>104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Arial</vt:lpstr>
      <vt:lpstr>Arial Black</vt:lpstr>
      <vt:lpstr>Consolas</vt:lpstr>
      <vt:lpstr>Times New Roman</vt:lpstr>
      <vt:lpstr>Verdana</vt:lpstr>
      <vt:lpstr>Wingdings</vt:lpstr>
      <vt:lpstr>Pixel</vt:lpstr>
      <vt:lpstr>Lecture 17</vt:lpstr>
      <vt:lpstr>Outcomes</vt:lpstr>
      <vt:lpstr>Big-O notation</vt:lpstr>
      <vt:lpstr>Big-O notation</vt:lpstr>
      <vt:lpstr>O(1)</vt:lpstr>
      <vt:lpstr>O(1)</vt:lpstr>
      <vt:lpstr>O(N)</vt:lpstr>
      <vt:lpstr>O(N)</vt:lpstr>
      <vt:lpstr>O(N2)</vt:lpstr>
      <vt:lpstr>O(N2)</vt:lpstr>
      <vt:lpstr>Other possibilities</vt:lpstr>
      <vt:lpstr>Shortcomings of the Arrays</vt:lpstr>
      <vt:lpstr>Linked List</vt:lpstr>
      <vt:lpstr>Anatomy of a linked list</vt:lpstr>
      <vt:lpstr>Linked List</vt:lpstr>
      <vt:lpstr>More terminology</vt:lpstr>
      <vt:lpstr>Advantages of Linked Lists</vt:lpstr>
      <vt:lpstr>Circularly linked list</vt:lpstr>
      <vt:lpstr>Doubly linked list</vt:lpstr>
      <vt:lpstr>Implementation in C#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Basil</dc:creator>
  <cp:lastModifiedBy>Vasiliy Kuznetsov</cp:lastModifiedBy>
  <cp:revision>30</cp:revision>
  <cp:lastPrinted>1601-01-01T00:00:00Z</cp:lastPrinted>
  <dcterms:created xsi:type="dcterms:W3CDTF">1601-01-01T00:00:00Z</dcterms:created>
  <dcterms:modified xsi:type="dcterms:W3CDTF">2024-02-02T13:43:02Z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