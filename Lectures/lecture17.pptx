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57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7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10.01.2025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10.01.2025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17</a:t>
            </a:r>
          </a:p>
          <a:p>
            <a:pPr eaLnBrk="1" hangingPunct="1"/>
            <a:r>
              <a:rPr lang="en-US" dirty="0"/>
              <a:t>Big-O notation</a:t>
            </a:r>
          </a:p>
          <a:p>
            <a:pPr eaLnBrk="1" hangingPunct="1"/>
            <a:r>
              <a:rPr lang="en-US" dirty="0"/>
              <a:t>Linked lists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/>
            <a:r>
              <a:rPr lang="en-US" sz="2800" dirty="0"/>
              <a:t>Understand Big-O notation</a:t>
            </a:r>
          </a:p>
          <a:p>
            <a:pPr eaLnBrk="1" hangingPunct="1"/>
            <a:r>
              <a:rPr lang="en-US" sz="2800" dirty="0"/>
              <a:t>Understand shortcomings of the Arrays</a:t>
            </a:r>
          </a:p>
          <a:p>
            <a:pPr eaLnBrk="1" hangingPunct="1"/>
            <a:r>
              <a:rPr lang="en-US" sz="2800" dirty="0"/>
              <a:t>Understand nature and structure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 notation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also known as </a:t>
            </a:r>
          </a:p>
          <a:p>
            <a:pPr lvl="1"/>
            <a:r>
              <a:rPr lang="en-US" sz="2800" dirty="0"/>
              <a:t>big Oh notation</a:t>
            </a:r>
          </a:p>
          <a:p>
            <a:pPr lvl="1"/>
            <a:r>
              <a:rPr lang="en-US" sz="2800" dirty="0"/>
              <a:t>big Omicron notation</a:t>
            </a:r>
          </a:p>
          <a:p>
            <a:pPr lvl="1"/>
            <a:r>
              <a:rPr lang="en-US" sz="2800" dirty="0"/>
              <a:t>Landau notation</a:t>
            </a:r>
          </a:p>
          <a:p>
            <a:pPr lvl="1"/>
            <a:r>
              <a:rPr lang="en-US" sz="2800" dirty="0"/>
              <a:t>Bachmann–Landau notation</a:t>
            </a:r>
          </a:p>
          <a:p>
            <a:pPr lvl="1"/>
            <a:r>
              <a:rPr lang="en-US" sz="2800" dirty="0"/>
              <a:t>asymptotic notation</a:t>
            </a:r>
          </a:p>
          <a:p>
            <a:pPr eaLnBrk="1" hangingPunct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41154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 notation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2800" dirty="0"/>
              <a:t>Big O notation is used in Computer Science to describe the performance or complexity of an algorithm </a:t>
            </a:r>
          </a:p>
          <a:p>
            <a:pPr algn="just"/>
            <a:r>
              <a:rPr lang="en-US" sz="2800" dirty="0"/>
              <a:t>Big O specifically describes the </a:t>
            </a:r>
            <a:r>
              <a:rPr lang="en-US" sz="2800" b="1" dirty="0"/>
              <a:t>worst-case</a:t>
            </a:r>
            <a:r>
              <a:rPr lang="en-US" sz="2800" dirty="0"/>
              <a:t> scenario, and can be used to describe the execution time required or the space used (e.g. in memory or on disk) by an algorithm</a:t>
            </a:r>
          </a:p>
        </p:txBody>
      </p:sp>
    </p:spTree>
    <p:extLst>
      <p:ext uri="{BB962C8B-B14F-4D97-AF65-F5344CB8AC3E}">
        <p14:creationId xmlns:p14="http://schemas.microsoft.com/office/powerpoint/2010/main" val="71582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O(1)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3200" dirty="0"/>
              <a:t>O(1) describes an algorithm that will always execute in the same time (or space) regardless of the size of the input dataset</a:t>
            </a:r>
          </a:p>
        </p:txBody>
      </p:sp>
    </p:spTree>
    <p:extLst>
      <p:ext uri="{BB962C8B-B14F-4D97-AF65-F5344CB8AC3E}">
        <p14:creationId xmlns:p14="http://schemas.microsoft.com/office/powerpoint/2010/main" val="80103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O(1)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buNone/>
            </a:pP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IsFirstElementEmpty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[] s)</a:t>
            </a:r>
          </a:p>
          <a:p>
            <a:pPr marL="0" indent="0">
              <a:buNone/>
            </a:pP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 (s[0] == </a:t>
            </a:r>
            <a:r>
              <a:rPr lang="en-GB" sz="32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GB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		return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3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3200" dirty="0"/>
          </a:p>
          <a:p>
            <a:pPr eaLnBrk="1" hangingPunct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0732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O(N)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/>
            <a:r>
              <a:rPr lang="en-US" sz="3200" dirty="0"/>
              <a:t>O(N) describes algorithms whose performance will grow linearly and in direct proportion to the size of the input dataset</a:t>
            </a:r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544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O(N)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ContainsValue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[] s,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v)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s.Length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- 1; 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		if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(s[</a:t>
            </a:r>
            <a:r>
              <a:rPr lang="en-GB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] == v)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			return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GB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3079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O(N</a:t>
            </a:r>
            <a:r>
              <a:rPr lang="en-US" sz="2800" baseline="30000" dirty="0"/>
              <a:t>2</a:t>
            </a:r>
            <a:r>
              <a:rPr lang="en-US" sz="2800" dirty="0"/>
              <a:t>) represents algorithms whose performance is directly proportional to the square of the size of the input dataset </a:t>
            </a:r>
          </a:p>
          <a:p>
            <a:r>
              <a:rPr lang="en-US" sz="2800" dirty="0"/>
              <a:t>This is common with algorithms that involve nested iterations over the data set. Deeper nested iterations will result in O(N</a:t>
            </a:r>
            <a:r>
              <a:rPr lang="en-US" sz="2800" baseline="30000" dirty="0"/>
              <a:t>3</a:t>
            </a:r>
            <a:r>
              <a:rPr lang="en-US" sz="2800" dirty="0"/>
              <a:t>), O(N</a:t>
            </a:r>
            <a:r>
              <a:rPr lang="en-US" sz="2800" baseline="30000" dirty="0"/>
              <a:t>4</a:t>
            </a:r>
            <a:r>
              <a:rPr lang="en-US" sz="2800" dirty="0"/>
              <a:t>) etc.</a:t>
            </a:r>
          </a:p>
        </p:txBody>
      </p:sp>
    </p:spTree>
    <p:extLst>
      <p:ext uri="{BB962C8B-B14F-4D97-AF65-F5344CB8AC3E}">
        <p14:creationId xmlns:p14="http://schemas.microsoft.com/office/powerpoint/2010/main" val="102342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O(N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224793"/>
            <a:ext cx="11225168" cy="466427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ContainsDuplicates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[] 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for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s.Length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  <a:endParaRPr lang="en-GB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for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j = 0; j &lt;=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s.Length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- 1;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	if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j)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		continue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	if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(s[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] == s[j])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			return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327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cases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r>
              <a:rPr lang="en-US" sz="2800" dirty="0"/>
              <a:t>O(log N) – binary search</a:t>
            </a:r>
          </a:p>
          <a:p>
            <a:r>
              <a:rPr lang="en-US" sz="2800" dirty="0"/>
              <a:t>“Have a guess” exercise</a:t>
            </a:r>
          </a:p>
        </p:txBody>
      </p:sp>
    </p:spTree>
    <p:extLst>
      <p:ext uri="{BB962C8B-B14F-4D97-AF65-F5344CB8AC3E}">
        <p14:creationId xmlns:p14="http://schemas.microsoft.com/office/powerpoint/2010/main" val="32629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188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Shortcomings of the Arrays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/>
            <a:r>
              <a:rPr lang="en-US" sz="2800" dirty="0"/>
              <a:t>Insertion and Deletion requires shifting of all array elements</a:t>
            </a:r>
          </a:p>
          <a:p>
            <a:pPr eaLnBrk="1" hangingPunct="1"/>
            <a:r>
              <a:rPr lang="en-US" sz="2800" dirty="0"/>
              <a:t>Need to know the size in advance</a:t>
            </a:r>
          </a:p>
        </p:txBody>
      </p:sp>
    </p:spTree>
    <p:extLst>
      <p:ext uri="{BB962C8B-B14F-4D97-AF65-F5344CB8AC3E}">
        <p14:creationId xmlns:p14="http://schemas.microsoft.com/office/powerpoint/2010/main" val="890821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A linked list is a collection of class objects called </a:t>
            </a:r>
            <a:r>
              <a:rPr lang="en-US" sz="2800" b="1" dirty="0"/>
              <a:t>nodes</a:t>
            </a:r>
            <a:endParaRPr lang="en-US" sz="2800" dirty="0"/>
          </a:p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Each node is linked to its </a:t>
            </a:r>
            <a:r>
              <a:rPr lang="en-US" sz="2800" b="1" dirty="0"/>
              <a:t>successor</a:t>
            </a:r>
            <a:r>
              <a:rPr lang="en-US" sz="2800" dirty="0"/>
              <a:t> node in the list using a reference to the successor node</a:t>
            </a:r>
          </a:p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A node consists of a field for storing </a:t>
            </a:r>
            <a:r>
              <a:rPr lang="en-US" sz="2800" b="1" dirty="0"/>
              <a:t>data</a:t>
            </a:r>
            <a:r>
              <a:rPr lang="en-US" sz="2800" dirty="0"/>
              <a:t> and the field for the </a:t>
            </a:r>
            <a:r>
              <a:rPr lang="en-US" sz="2800" b="1" dirty="0"/>
              <a:t>next node reference</a:t>
            </a:r>
            <a:endParaRPr lang="en-US" sz="2800" dirty="0"/>
          </a:p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The reference to another node is called a </a:t>
            </a:r>
            <a:r>
              <a:rPr lang="en-US" sz="2800" b="1" dirty="0"/>
              <a:t>link</a:t>
            </a:r>
            <a:endParaRPr lang="en-US" sz="2800" dirty="0"/>
          </a:p>
          <a:p>
            <a:pPr algn="just" eaLnBrk="1" hangingPunct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86899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linked list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675889"/>
          </a:xfrm>
        </p:spPr>
        <p:txBody>
          <a:bodyPr/>
          <a:lstStyle/>
          <a:p>
            <a:pPr eaLnBrk="1" hangingPunct="1"/>
            <a:r>
              <a:rPr lang="en-US" sz="2800" dirty="0"/>
              <a:t>A linked list consists of a sequence of nodes</a:t>
            </a:r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endParaRPr lang="en-US" sz="2800" b="1" dirty="0">
              <a:latin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sz="2800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6BB5E6B4-425C-4169-97F0-DF22E097DF21}"/>
              </a:ext>
            </a:extLst>
          </p:cNvPr>
          <p:cNvGrpSpPr>
            <a:grpSpLocks/>
          </p:cNvGrpSpPr>
          <p:nvPr/>
        </p:nvGrpSpPr>
        <p:grpSpPr bwMode="auto">
          <a:xfrm>
            <a:off x="4015811" y="3202570"/>
            <a:ext cx="5715000" cy="390525"/>
            <a:chOff x="1056" y="2011"/>
            <a:chExt cx="3600" cy="246"/>
          </a:xfrm>
        </p:grpSpPr>
        <p:grpSp>
          <p:nvGrpSpPr>
            <p:cNvPr id="9" name="Group 5">
              <a:extLst>
                <a:ext uri="{FF2B5EF4-FFF2-40B4-BE49-F238E27FC236}">
                  <a16:creationId xmlns:a16="http://schemas.microsoft.com/office/drawing/2014/main" id="{ED6AC67D-D486-489D-9EAB-6FF4F6CA9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011"/>
              <a:ext cx="577" cy="243"/>
              <a:chOff x="863" y="1536"/>
              <a:chExt cx="577" cy="243"/>
            </a:xfrm>
          </p:grpSpPr>
          <p:sp>
            <p:nvSpPr>
              <p:cNvPr id="20" name="Rectangle 6">
                <a:extLst>
                  <a:ext uri="{FF2B5EF4-FFF2-40B4-BE49-F238E27FC236}">
                    <a16:creationId xmlns:a16="http://schemas.microsoft.com/office/drawing/2014/main" id="{07926FAE-35AF-426B-BF6F-1CC3E0574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" y="1537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E48C0C6E-A18C-4B21-AD94-5C609385D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536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1800"/>
              </a:p>
            </p:txBody>
          </p:sp>
        </p:grpSp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0D753563-2014-42FB-9684-5FFC82F0D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3" y="2014"/>
              <a:ext cx="577" cy="243"/>
              <a:chOff x="863" y="1536"/>
              <a:chExt cx="577" cy="243"/>
            </a:xfrm>
          </p:grpSpPr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B3FF3278-C0CE-49AC-8A66-C98128FC8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" y="1537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0">
                <a:extLst>
                  <a:ext uri="{FF2B5EF4-FFF2-40B4-BE49-F238E27FC236}">
                    <a16:creationId xmlns:a16="http://schemas.microsoft.com/office/drawing/2014/main" id="{E1FB35DC-4E04-45AC-8F52-E1EDC7BA2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536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180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E1C8857-CE2E-4E85-A8B3-84A18A0032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1" y="2014"/>
              <a:ext cx="577" cy="243"/>
              <a:chOff x="863" y="1536"/>
              <a:chExt cx="577" cy="243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C5855C5-D912-4840-A63D-519AE589A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" y="1537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94A66E4-A383-464D-AA60-0E3FF425A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536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1800"/>
              </a:p>
            </p:txBody>
          </p:sp>
        </p:grpSp>
        <p:grpSp>
          <p:nvGrpSpPr>
            <p:cNvPr id="13" name="Group 14">
              <a:extLst>
                <a:ext uri="{FF2B5EF4-FFF2-40B4-BE49-F238E27FC236}">
                  <a16:creationId xmlns:a16="http://schemas.microsoft.com/office/drawing/2014/main" id="{69DC0AB4-8F97-499F-917A-7C2F68ECEE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9" y="2014"/>
              <a:ext cx="577" cy="243"/>
              <a:chOff x="863" y="1536"/>
              <a:chExt cx="577" cy="243"/>
            </a:xfrm>
          </p:grpSpPr>
          <p:sp>
            <p:nvSpPr>
              <p:cNvPr id="14" name="Rectangle 15">
                <a:extLst>
                  <a:ext uri="{FF2B5EF4-FFF2-40B4-BE49-F238E27FC236}">
                    <a16:creationId xmlns:a16="http://schemas.microsoft.com/office/drawing/2014/main" id="{669875BA-2D4C-44D7-894C-342544A7D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" y="1537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6">
                <a:extLst>
                  <a:ext uri="{FF2B5EF4-FFF2-40B4-BE49-F238E27FC236}">
                    <a16:creationId xmlns:a16="http://schemas.microsoft.com/office/drawing/2014/main" id="{1A726ECC-1E57-4B20-A1BE-EADAB96A9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536"/>
                <a:ext cx="288" cy="2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1800"/>
              </a:p>
            </p:txBody>
          </p:sp>
        </p:grpSp>
      </p:grpSp>
      <p:grpSp>
        <p:nvGrpSpPr>
          <p:cNvPr id="22" name="Group 17">
            <a:extLst>
              <a:ext uri="{FF2B5EF4-FFF2-40B4-BE49-F238E27FC236}">
                <a16:creationId xmlns:a16="http://schemas.microsoft.com/office/drawing/2014/main" id="{5E639C48-4B56-4DFB-A757-211E933C7407}"/>
              </a:ext>
            </a:extLst>
          </p:cNvPr>
          <p:cNvGrpSpPr>
            <a:grpSpLocks/>
          </p:cNvGrpSpPr>
          <p:nvPr/>
        </p:nvGrpSpPr>
        <p:grpSpPr bwMode="auto">
          <a:xfrm>
            <a:off x="4015811" y="3210507"/>
            <a:ext cx="5257800" cy="384175"/>
            <a:chOff x="1056" y="2302"/>
            <a:chExt cx="3312" cy="242"/>
          </a:xfrm>
        </p:grpSpPr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17935CE6-0D24-4F9A-AF38-355AFB6D0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302"/>
              <a:ext cx="288" cy="2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l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50000"/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50000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400">
                  <a:latin typeface="Verdana" panose="020B0604030504040204" pitchFamily="34" charset="0"/>
                </a:rPr>
                <a:t>a</a:t>
              </a:r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4161EEDF-AD96-4ADC-B534-A58A747C9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302"/>
              <a:ext cx="288" cy="2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l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50000"/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50000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400">
                  <a:latin typeface="Verdana" panose="020B0604030504040204" pitchFamily="34" charset="0"/>
                </a:rPr>
                <a:t>b</a:t>
              </a:r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5BE56BF6-6D3B-467C-B427-CFFB07B03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02"/>
              <a:ext cx="288" cy="2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l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50000"/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50000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400">
                  <a:latin typeface="Verdana" panose="020B0604030504040204" pitchFamily="34" charset="0"/>
                </a:rPr>
                <a:t>c</a:t>
              </a:r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21">
              <a:extLst>
                <a:ext uri="{FF2B5EF4-FFF2-40B4-BE49-F238E27FC236}">
                  <a16:creationId xmlns:a16="http://schemas.microsoft.com/office/drawing/2014/main" id="{8394A375-92CE-49F7-A572-0D3457201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302"/>
              <a:ext cx="288" cy="2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l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50000"/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50000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2400">
                  <a:latin typeface="Verdana" panose="020B0604030504040204" pitchFamily="34" charset="0"/>
                </a:rPr>
                <a:t>d</a:t>
              </a:r>
              <a:endParaRPr 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" name="Group 22">
            <a:extLst>
              <a:ext uri="{FF2B5EF4-FFF2-40B4-BE49-F238E27FC236}">
                <a16:creationId xmlns:a16="http://schemas.microsoft.com/office/drawing/2014/main" id="{5325E235-705B-4D89-B2D9-6A7B908D1C79}"/>
              </a:ext>
            </a:extLst>
          </p:cNvPr>
          <p:cNvGrpSpPr>
            <a:grpSpLocks/>
          </p:cNvGrpSpPr>
          <p:nvPr/>
        </p:nvGrpSpPr>
        <p:grpSpPr bwMode="auto">
          <a:xfrm>
            <a:off x="4625411" y="3286707"/>
            <a:ext cx="4191000" cy="152400"/>
            <a:chOff x="1440" y="2064"/>
            <a:chExt cx="2640" cy="96"/>
          </a:xfrm>
        </p:grpSpPr>
        <p:grpSp>
          <p:nvGrpSpPr>
            <p:cNvPr id="28" name="Group 23">
              <a:extLst>
                <a:ext uri="{FF2B5EF4-FFF2-40B4-BE49-F238E27FC236}">
                  <a16:creationId xmlns:a16="http://schemas.microsoft.com/office/drawing/2014/main" id="{0DAB3930-7D06-4B7B-AE88-89FD2E57D4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064"/>
              <a:ext cx="624" cy="96"/>
              <a:chOff x="1008" y="2304"/>
              <a:chExt cx="624" cy="96"/>
            </a:xfrm>
          </p:grpSpPr>
          <p:sp>
            <p:nvSpPr>
              <p:cNvPr id="35" name="Oval 24">
                <a:extLst>
                  <a:ext uri="{FF2B5EF4-FFF2-40B4-BE49-F238E27FC236}">
                    <a16:creationId xmlns:a16="http://schemas.microsoft.com/office/drawing/2014/main" id="{78189190-9611-4F24-9028-8054BC2ED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1800"/>
              </a:p>
            </p:txBody>
          </p:sp>
          <p:sp>
            <p:nvSpPr>
              <p:cNvPr id="36" name="Line 25">
                <a:extLst>
                  <a:ext uri="{FF2B5EF4-FFF2-40B4-BE49-F238E27FC236}">
                    <a16:creationId xmlns:a16="http://schemas.microsoft.com/office/drawing/2014/main" id="{605674B0-4606-425B-BCD3-4CACEF1D8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352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" name="Group 26">
              <a:extLst>
                <a:ext uri="{FF2B5EF4-FFF2-40B4-BE49-F238E27FC236}">
                  <a16:creationId xmlns:a16="http://schemas.microsoft.com/office/drawing/2014/main" id="{D6561807-2BEE-4CF6-94D4-7B83ED8B0D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064"/>
              <a:ext cx="624" cy="96"/>
              <a:chOff x="1008" y="2304"/>
              <a:chExt cx="624" cy="96"/>
            </a:xfrm>
          </p:grpSpPr>
          <p:sp>
            <p:nvSpPr>
              <p:cNvPr id="33" name="Oval 27">
                <a:extLst>
                  <a:ext uri="{FF2B5EF4-FFF2-40B4-BE49-F238E27FC236}">
                    <a16:creationId xmlns:a16="http://schemas.microsoft.com/office/drawing/2014/main" id="{496DCB50-9935-4252-871D-16361F329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1800"/>
              </a:p>
            </p:txBody>
          </p:sp>
          <p:sp>
            <p:nvSpPr>
              <p:cNvPr id="34" name="Line 28">
                <a:extLst>
                  <a:ext uri="{FF2B5EF4-FFF2-40B4-BE49-F238E27FC236}">
                    <a16:creationId xmlns:a16="http://schemas.microsoft.com/office/drawing/2014/main" id="{F93B756E-1760-4A3C-B7A9-41F2B6CD32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352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ED10BA3-AF51-4086-8689-3885B48679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064"/>
              <a:ext cx="624" cy="96"/>
              <a:chOff x="1008" y="2304"/>
              <a:chExt cx="624" cy="96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9E0C59B-32E2-4F0E-A360-5FD9005BB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0000"/>
                  <a:buFont typeface="Wingdings" panose="05000000000000000000" pitchFamily="2" charset="2"/>
                  <a:buChar char="l"/>
                  <a:defRPr sz="31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150000"/>
                  <a:buChar char="•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150000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150000"/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1800"/>
              </a:p>
            </p:txBody>
          </p:sp>
          <p:sp>
            <p:nvSpPr>
              <p:cNvPr id="32" name="Line 31">
                <a:extLst>
                  <a:ext uri="{FF2B5EF4-FFF2-40B4-BE49-F238E27FC236}">
                    <a16:creationId xmlns:a16="http://schemas.microsoft.com/office/drawing/2014/main" id="{F37743B5-0C06-4E6A-8B72-8571A7D9ED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2352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7" name="Oval 35">
            <a:extLst>
              <a:ext uri="{FF2B5EF4-FFF2-40B4-BE49-F238E27FC236}">
                <a16:creationId xmlns:a16="http://schemas.microsoft.com/office/drawing/2014/main" id="{56ADA603-8FB9-4C1A-AA74-1E4CE6C4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6011" y="3289882"/>
            <a:ext cx="152400" cy="1524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Char char="l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5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50000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5000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ru-RU" sz="1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69A5415-05F3-42B8-8586-362E3FB065CD}"/>
              </a:ext>
            </a:extLst>
          </p:cNvPr>
          <p:cNvGrpSpPr>
            <a:grpSpLocks/>
          </p:cNvGrpSpPr>
          <p:nvPr/>
        </p:nvGrpSpPr>
        <p:grpSpPr bwMode="auto">
          <a:xfrm>
            <a:off x="1958411" y="2451682"/>
            <a:ext cx="1981200" cy="762000"/>
            <a:chOff x="192" y="1872"/>
            <a:chExt cx="1248" cy="48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F7DADCA-21D8-4CD4-B0FE-3A142A177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920"/>
              <a:ext cx="480" cy="432"/>
              <a:chOff x="432" y="2352"/>
              <a:chExt cx="480" cy="432"/>
            </a:xfrm>
          </p:grpSpPr>
          <p:grpSp>
            <p:nvGrpSpPr>
              <p:cNvPr id="41" name="Group 39">
                <a:extLst>
                  <a:ext uri="{FF2B5EF4-FFF2-40B4-BE49-F238E27FC236}">
                    <a16:creationId xmlns:a16="http://schemas.microsoft.com/office/drawing/2014/main" id="{78511277-379A-43DB-B611-3F0FF04899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2352"/>
                <a:ext cx="288" cy="240"/>
                <a:chOff x="960" y="1584"/>
                <a:chExt cx="288" cy="240"/>
              </a:xfrm>
            </p:grpSpPr>
            <p:sp>
              <p:nvSpPr>
                <p:cNvPr id="43" name="Oval 40">
                  <a:extLst>
                    <a:ext uri="{FF2B5EF4-FFF2-40B4-BE49-F238E27FC236}">
                      <a16:creationId xmlns:a16="http://schemas.microsoft.com/office/drawing/2014/main" id="{4F8AE56D-9855-4FB0-9556-470E1B0BA9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163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0000"/>
                    <a:buFont typeface="Wingdings" panose="05000000000000000000" pitchFamily="2" charset="2"/>
                    <a:buChar char="l"/>
                    <a:defRPr sz="31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150000"/>
                    <a:buChar char="•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150000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ru-RU" sz="1800"/>
                </a:p>
              </p:txBody>
            </p:sp>
            <p:sp>
              <p:nvSpPr>
                <p:cNvPr id="44" name="Rectangle 41">
                  <a:extLst>
                    <a:ext uri="{FF2B5EF4-FFF2-40B4-BE49-F238E27FC236}">
                      <a16:creationId xmlns:a16="http://schemas.microsoft.com/office/drawing/2014/main" id="{6FDBB85F-D619-4A75-86E1-64E9D9FA66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584"/>
                  <a:ext cx="288" cy="24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0000"/>
                    <a:buFont typeface="Wingdings" panose="05000000000000000000" pitchFamily="2" charset="2"/>
                    <a:buChar char="l"/>
                    <a:defRPr sz="31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150000"/>
                    <a:buChar char="•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SzPct val="150000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150000"/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ru-RU" sz="1800"/>
                </a:p>
              </p:txBody>
            </p:sp>
          </p:grpSp>
          <p:sp>
            <p:nvSpPr>
              <p:cNvPr id="42" name="Line 42">
                <a:extLst>
                  <a:ext uri="{FF2B5EF4-FFF2-40B4-BE49-F238E27FC236}">
                    <a16:creationId xmlns:a16="http://schemas.microsoft.com/office/drawing/2014/main" id="{D51C3EA2-E041-4570-90FE-F91F32F6D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448"/>
                <a:ext cx="336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" name="Text Box 43">
              <a:extLst>
                <a:ext uri="{FF2B5EF4-FFF2-40B4-BE49-F238E27FC236}">
                  <a16:creationId xmlns:a16="http://schemas.microsoft.com/office/drawing/2014/main" id="{7EE20BC7-F50D-4BC0-9BAE-25769D2E7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872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anose="05000000000000000000" pitchFamily="2" charset="2"/>
                <a:buChar char="l"/>
                <a:defRPr sz="31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50000"/>
                <a:buChar char="•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50000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15000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2400" dirty="0" err="1">
                  <a:latin typeface="Verdana" panose="020B0604030504040204" pitchFamily="34" charset="0"/>
                </a:rPr>
                <a:t>myList</a:t>
              </a:r>
              <a:endParaRPr 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AF3DDA5-9879-4370-8169-273268A7972E}"/>
              </a:ext>
            </a:extLst>
          </p:cNvPr>
          <p:cNvSpPr txBox="1">
            <a:spLocks/>
          </p:cNvSpPr>
          <p:nvPr/>
        </p:nvSpPr>
        <p:spPr>
          <a:xfrm>
            <a:off x="838201" y="3554079"/>
            <a:ext cx="11225168" cy="999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Each node contains a </a:t>
            </a:r>
            <a:r>
              <a:rPr lang="en-US" sz="2800" b="1" dirty="0"/>
              <a:t>value</a:t>
            </a:r>
            <a:r>
              <a:rPr lang="en-US" sz="2800" dirty="0"/>
              <a:t> and a </a:t>
            </a:r>
            <a:r>
              <a:rPr lang="en-US" sz="2800" b="1" dirty="0"/>
              <a:t>link</a:t>
            </a:r>
            <a:r>
              <a:rPr lang="en-US" sz="2800" dirty="0"/>
              <a:t> (pointer or reference) to some other node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77CEFA99-8FC2-4F8D-BB5F-42FF67C18E68}"/>
              </a:ext>
            </a:extLst>
          </p:cNvPr>
          <p:cNvSpPr txBox="1">
            <a:spLocks/>
          </p:cNvSpPr>
          <p:nvPr/>
        </p:nvSpPr>
        <p:spPr>
          <a:xfrm>
            <a:off x="838201" y="4486868"/>
            <a:ext cx="11225168" cy="660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The last node contains a </a:t>
            </a:r>
            <a:r>
              <a:rPr lang="en-US" sz="2800" b="1" dirty="0"/>
              <a:t>null link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B60D1283-6184-439B-93B8-64CB23580067}"/>
              </a:ext>
            </a:extLst>
          </p:cNvPr>
          <p:cNvSpPr txBox="1">
            <a:spLocks/>
          </p:cNvSpPr>
          <p:nvPr/>
        </p:nvSpPr>
        <p:spPr>
          <a:xfrm>
            <a:off x="838201" y="5144558"/>
            <a:ext cx="11225168" cy="660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The list may have a </a:t>
            </a:r>
            <a:r>
              <a:rPr lang="en-US" sz="2800" b="1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55859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7" grpId="0" animBg="1"/>
      <p:bldP spid="45" grpId="0"/>
      <p:bldP spid="46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sz="2800" dirty="0"/>
              <a:t>Whereas the elements in an array are referenced by position (the index), the elements of a linked list are referenced by their relationship to the other elements of the list.</a:t>
            </a:r>
          </a:p>
        </p:txBody>
      </p:sp>
    </p:spTree>
    <p:extLst>
      <p:ext uri="{BB962C8B-B14F-4D97-AF65-F5344CB8AC3E}">
        <p14:creationId xmlns:p14="http://schemas.microsoft.com/office/powerpoint/2010/main" val="1645669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terminology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/>
            <a:r>
              <a:rPr lang="en-US" sz="2800" dirty="0"/>
              <a:t>A node’s </a:t>
            </a:r>
            <a:r>
              <a:rPr lang="en-US" sz="2800" b="1" dirty="0"/>
              <a:t>successor</a:t>
            </a:r>
            <a:r>
              <a:rPr lang="en-US" sz="2800" dirty="0"/>
              <a:t> is the next node in the sequence</a:t>
            </a:r>
          </a:p>
          <a:p>
            <a:pPr lvl="1" eaLnBrk="1" hangingPunct="1"/>
            <a:r>
              <a:rPr lang="en-US" sz="2800" dirty="0"/>
              <a:t>The last node has no successor</a:t>
            </a:r>
          </a:p>
          <a:p>
            <a:pPr eaLnBrk="1" hangingPunct="1"/>
            <a:r>
              <a:rPr lang="en-US" sz="2800" dirty="0"/>
              <a:t>A node’s </a:t>
            </a:r>
            <a:r>
              <a:rPr lang="en-US" sz="2800" b="1" dirty="0"/>
              <a:t>predecessor</a:t>
            </a:r>
            <a:r>
              <a:rPr lang="en-US" sz="2800" dirty="0"/>
              <a:t> is the previous node in the sequence</a:t>
            </a:r>
          </a:p>
          <a:p>
            <a:pPr lvl="1" eaLnBrk="1" hangingPunct="1"/>
            <a:r>
              <a:rPr lang="en-US" sz="2800" dirty="0"/>
              <a:t>The first node has no predecessor</a:t>
            </a:r>
          </a:p>
          <a:p>
            <a:pPr eaLnBrk="1" hangingPunct="1"/>
            <a:r>
              <a:rPr lang="en-US" sz="2800" dirty="0"/>
              <a:t>A list’s </a:t>
            </a:r>
            <a:r>
              <a:rPr lang="en-US" sz="2800" b="1" dirty="0"/>
              <a:t>length</a:t>
            </a:r>
            <a:r>
              <a:rPr lang="en-US" sz="2800" dirty="0"/>
              <a:t> is the number of elements in it</a:t>
            </a:r>
          </a:p>
          <a:p>
            <a:pPr lvl="1" eaLnBrk="1" hangingPunct="1"/>
            <a:r>
              <a:rPr lang="en-US" sz="2800" dirty="0"/>
              <a:t>A list may be </a:t>
            </a:r>
            <a:r>
              <a:rPr lang="en-US" sz="2800" b="1" dirty="0"/>
              <a:t>empty</a:t>
            </a:r>
            <a:r>
              <a:rPr lang="en-US" sz="2800" dirty="0"/>
              <a:t> (contain no elements)</a:t>
            </a:r>
          </a:p>
        </p:txBody>
      </p:sp>
    </p:spTree>
    <p:extLst>
      <p:ext uri="{BB962C8B-B14F-4D97-AF65-F5344CB8AC3E}">
        <p14:creationId xmlns:p14="http://schemas.microsoft.com/office/powerpoint/2010/main" val="536379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Linked Lists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 eaLnBrk="1" hangingPunct="1"/>
            <a:r>
              <a:rPr lang="en-US" sz="2800" dirty="0"/>
              <a:t>Insertion becomes a very efficient task when using a linked list</a:t>
            </a:r>
          </a:p>
          <a:p>
            <a:pPr lvl="1" algn="just"/>
            <a:r>
              <a:rPr lang="en-US" sz="2800" dirty="0"/>
              <a:t>O(1)</a:t>
            </a:r>
          </a:p>
          <a:p>
            <a:pPr algn="just" eaLnBrk="1" hangingPunct="1"/>
            <a:r>
              <a:rPr lang="en-US" sz="2800" dirty="0"/>
              <a:t>Removing an item from a linked list is just as easy</a:t>
            </a:r>
          </a:p>
          <a:p>
            <a:pPr lvl="1" algn="just"/>
            <a:r>
              <a:rPr lang="en-US" sz="2800" dirty="0"/>
              <a:t>O(1)</a:t>
            </a:r>
          </a:p>
          <a:p>
            <a:pPr algn="just" eaLnBrk="1" hangingPunct="1"/>
            <a:r>
              <a:rPr lang="en-US" sz="2800" dirty="0"/>
              <a:t>Yet getting an element from particular position is slow</a:t>
            </a:r>
          </a:p>
          <a:p>
            <a:pPr lvl="1" algn="just"/>
            <a:r>
              <a:rPr lang="en-US" sz="2800" dirty="0"/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786675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Circularly linked list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/>
            <a:r>
              <a:rPr lang="en-US" sz="2800" dirty="0"/>
              <a:t>A circularly linked list is a list in which the last node points back to the first node (which may be a header node)</a:t>
            </a:r>
          </a:p>
        </p:txBody>
      </p:sp>
      <p:pic>
        <p:nvPicPr>
          <p:cNvPr id="8" name="Picture 2" descr="Circular Singly Linked List in C - Sanfoundry">
            <a:extLst>
              <a:ext uri="{FF2B5EF4-FFF2-40B4-BE49-F238E27FC236}">
                <a16:creationId xmlns:a16="http://schemas.microsoft.com/office/drawing/2014/main" id="{647E819A-CB87-4AA3-848B-E38246571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485" y="2694958"/>
            <a:ext cx="6324600" cy="319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327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9" name="Picture 4" descr="Doubly Linked List Operations Program in C - Sanfoundry">
            <a:extLst>
              <a:ext uri="{FF2B5EF4-FFF2-40B4-BE49-F238E27FC236}">
                <a16:creationId xmlns:a16="http://schemas.microsoft.com/office/drawing/2014/main" id="{D9EF6CBE-75E5-4D25-B853-147C3EC16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500" y="1801019"/>
            <a:ext cx="8238999" cy="325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656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C#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2800" dirty="0"/>
              <a:t>LinkedList&lt;T&gt; Class</a:t>
            </a:r>
          </a:p>
          <a:p>
            <a:pPr eaLnBrk="1" hangingPunct="1">
              <a:lnSpc>
                <a:spcPct val="150000"/>
              </a:lnSpc>
            </a:pPr>
            <a:r>
              <a:rPr lang="en-US" sz="2800" dirty="0" err="1"/>
              <a:t>LinkedListNode</a:t>
            </a:r>
            <a:r>
              <a:rPr lang="en-US" sz="2800" dirty="0"/>
              <a:t>&lt;T&gt; Class</a:t>
            </a:r>
          </a:p>
          <a:p>
            <a:pPr eaLnBrk="1" hangingPunct="1">
              <a:lnSpc>
                <a:spcPct val="150000"/>
              </a:lnSpc>
            </a:pPr>
            <a:r>
              <a:rPr lang="en-US" sz="2800" dirty="0"/>
              <a:t>Doubly linked</a:t>
            </a:r>
          </a:p>
        </p:txBody>
      </p:sp>
    </p:spTree>
    <p:extLst>
      <p:ext uri="{BB962C8B-B14F-4D97-AF65-F5344CB8AC3E}">
        <p14:creationId xmlns:p14="http://schemas.microsoft.com/office/powerpoint/2010/main" val="216299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</TotalTime>
  <Words>846</Words>
  <Application>Microsoft Office PowerPoint</Application>
  <PresentationFormat>Widescreen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Consolas</vt:lpstr>
      <vt:lpstr>Times New Roman</vt:lpstr>
      <vt:lpstr>Verdana</vt:lpstr>
      <vt:lpstr>Тема Office</vt:lpstr>
      <vt:lpstr>Fundamentals of Programming</vt:lpstr>
      <vt:lpstr>Agenda</vt:lpstr>
      <vt:lpstr>Big-O notation</vt:lpstr>
      <vt:lpstr>Big-O notation</vt:lpstr>
      <vt:lpstr>O(1)</vt:lpstr>
      <vt:lpstr>O(1)</vt:lpstr>
      <vt:lpstr>O(N)</vt:lpstr>
      <vt:lpstr>O(N)</vt:lpstr>
      <vt:lpstr>O(N2)</vt:lpstr>
      <vt:lpstr>O(N2)</vt:lpstr>
      <vt:lpstr>Other cases</vt:lpstr>
      <vt:lpstr>Linked Lists</vt:lpstr>
      <vt:lpstr>Shortcomings of the Arrays</vt:lpstr>
      <vt:lpstr>Linked List</vt:lpstr>
      <vt:lpstr>Anatomy of a linked list</vt:lpstr>
      <vt:lpstr>Linked List</vt:lpstr>
      <vt:lpstr>More terminology</vt:lpstr>
      <vt:lpstr>Advantages of Linked Lists</vt:lpstr>
      <vt:lpstr>Circularly linked list</vt:lpstr>
      <vt:lpstr>Doubly linked list</vt:lpstr>
      <vt:lpstr>Implementation in C#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182</cp:revision>
  <dcterms:created xsi:type="dcterms:W3CDTF">2022-06-28T05:50:22Z</dcterms:created>
  <dcterms:modified xsi:type="dcterms:W3CDTF">2025-01-10T16:05:08Z</dcterms:modified>
</cp:coreProperties>
</file>