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57" r:id="rId20"/>
    <p:sldId id="287" r:id="rId21"/>
    <p:sldId id="288" r:id="rId22"/>
    <p:sldId id="289" r:id="rId23"/>
    <p:sldId id="290" r:id="rId24"/>
    <p:sldId id="291" r:id="rId25"/>
    <p:sldId id="292" r:id="rId26"/>
    <p:sldId id="270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EE"/>
    <a:srgbClr val="F2F2F2"/>
    <a:srgbClr val="358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6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D7DEE-5312-4C23-BF9D-CEE6AA43FDA7}" type="datetimeFigureOut">
              <a:rPr lang="ru-RU" smtClean="0"/>
              <a:t>15.09.2024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33E4F-C868-4D44-AC30-8AEA639D40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5264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A2733B-51EE-F674-C628-1F90FFB250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" dirty="0"/>
              <a:t>PRESENTATION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07DD49-C310-E4D0-AD52-96E34968CD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8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3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061EA6-9975-07F8-8A83-81823CDEE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99630"/>
            <a:ext cx="12192000" cy="5576705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</p:spTree>
    <p:extLst>
      <p:ext uri="{BB962C8B-B14F-4D97-AF65-F5344CB8AC3E}">
        <p14:creationId xmlns:p14="http://schemas.microsoft.com/office/powerpoint/2010/main" val="428725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F199F8-BC65-3557-878B-6D38F25C56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1E0BA4-DEFA-2D05-F078-B6A2267C8E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TRANSITION HEADLINE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E63F29-9D71-414F-9F6E-D1DAEA3892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Let’s start with the first set of slides</a:t>
            </a:r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4560" y="429394"/>
            <a:ext cx="2402881" cy="1953882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93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3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280644-DFCA-A39E-6662-615C37F73B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90" r="3233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F9CA98-FE23-6C0C-C5CC-498BF27477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857519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988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4725317" cy="8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</a:t>
            </a:r>
            <a:endParaRPr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60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58718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4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7545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1" y="700391"/>
            <a:ext cx="1634857" cy="400373"/>
          </a:xfrm>
          <a:prstGeom prst="rect">
            <a:avLst/>
          </a:prstGeom>
        </p:spPr>
      </p:pic>
      <p:sp>
        <p:nvSpPr>
          <p:cNvPr id="11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2" y="6306797"/>
            <a:ext cx="1849235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13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646267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65376-C484-7E39-4F18-93A9C81E25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3186"/>
            <a:ext cx="12192000" cy="23159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58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87901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You can also insert a photos</a:t>
            </a:r>
            <a:endParaRPr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9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0821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</p:spPr>
      </p:pic>
      <p:sp>
        <p:nvSpPr>
          <p:cNvPr id="7" name="Google Shape;144;p19">
            <a:extLst>
              <a:ext uri="{FF2B5EF4-FFF2-40B4-BE49-F238E27FC236}">
                <a16:creationId xmlns:a16="http://schemas.microsoft.com/office/drawing/2014/main" id="{603DAD57-855B-69D0-1CBD-C5B3BD3EC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You can also split your content</a:t>
            </a:r>
            <a:endParaRPr dirty="0"/>
          </a:p>
        </p:txBody>
      </p:sp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A3271C3-5EB1-33E0-AD0F-C686F31E636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Black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ebony and of outer space. It has been the symbolic color of elegance, solemnity and authority.</a:t>
            </a:r>
            <a:endParaRPr dirty="0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0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989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5;p19">
            <a:extLst>
              <a:ext uri="{FF2B5EF4-FFF2-40B4-BE49-F238E27FC236}">
                <a16:creationId xmlns:a16="http://schemas.microsoft.com/office/drawing/2014/main" id="{E5CCA84B-7D50-8B33-EC06-994FE264398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8201" y="474531"/>
            <a:ext cx="854899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two or three columns</a:t>
            </a:r>
            <a:endParaRPr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96998A-0669-DD7B-F5BE-B19B862C8D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10309"/>
            <a:ext cx="12192000" cy="947691"/>
          </a:xfrm>
          <a:prstGeom prst="rect">
            <a:avLst/>
          </a:prstGeom>
        </p:spPr>
      </p:pic>
      <p:sp>
        <p:nvSpPr>
          <p:cNvPr id="10" name="Google Shape;153;p20">
            <a:extLst>
              <a:ext uri="{FF2B5EF4-FFF2-40B4-BE49-F238E27FC236}">
                <a16:creationId xmlns:a16="http://schemas.microsoft.com/office/drawing/2014/main" id="{42D3C5AD-203C-06E8-B308-7570F018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Yellow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gold, butter and ripe lemons. In the spectrum of visible light, yellow is found between green and orange.</a:t>
            </a:r>
            <a:endParaRPr dirty="0"/>
          </a:p>
        </p:txBody>
      </p:sp>
      <p:sp>
        <p:nvSpPr>
          <p:cNvPr id="15" name="Google Shape;154;p20">
            <a:extLst>
              <a:ext uri="{FF2B5EF4-FFF2-40B4-BE49-F238E27FC236}">
                <a16:creationId xmlns:a16="http://schemas.microsoft.com/office/drawing/2014/main" id="{93774569-09A6-3D2C-E96E-EB2A888029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Blue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colour of the clear sky and the deep sea. It is located between violet and green on the optical spectrum.</a:t>
            </a:r>
            <a:endParaRPr dirty="0"/>
          </a:p>
        </p:txBody>
      </p:sp>
      <p:sp>
        <p:nvSpPr>
          <p:cNvPr id="16" name="Google Shape;155;p20">
            <a:extLst>
              <a:ext uri="{FF2B5EF4-FFF2-40B4-BE49-F238E27FC236}">
                <a16:creationId xmlns:a16="http://schemas.microsoft.com/office/drawing/2014/main" id="{12B6BEED-76B3-42F1-1655-75B4633AFEFE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>
              <a:defRPr sz="2000"/>
            </a:lvl1pPr>
          </a:lstStyle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Red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blood, and because of this it has historically been associated with sacrifice, danger and courage. 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940" y="700391"/>
            <a:ext cx="1634859" cy="400373"/>
          </a:xfrm>
          <a:prstGeom prst="rect">
            <a:avLst/>
          </a:prstGeom>
        </p:spPr>
      </p:pic>
      <p:sp>
        <p:nvSpPr>
          <p:cNvPr id="17" name="Текст 15">
            <a:extLst>
              <a:ext uri="{FF2B5EF4-FFF2-40B4-BE49-F238E27FC236}">
                <a16:creationId xmlns:a16="http://schemas.microsoft.com/office/drawing/2014/main" id="{6263DB5C-C63E-9F5C-C9E7-E895DD387D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B79A03B0-37CA-036A-92F2-830D5136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20" name="Рисунок 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1380" y="6306797"/>
            <a:ext cx="1849240" cy="355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1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86C3C5BA-7D7F-4C3F-2640-8F638B45F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1F200A8-E1A7-4435-83E2-162A61D52FA6}" type="datetime1">
              <a:rPr lang="ru-RU" smtClean="0"/>
              <a:t>15.09.2024</a:t>
            </a:fld>
            <a:endParaRPr lang="ru-RU" dirty="0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1FF6D44D-D6D0-493E-4D28-4910FD0372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Name of Department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4BCEA065-B04F-95C1-710E-80D4D07F32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4CFBF5F-D9F7-437E-8CF8-688EAF21A1C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92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4" r:id="rId3"/>
    <p:sldLayoutId id="2147483665" r:id="rId4"/>
    <p:sldLayoutId id="2147483663" r:id="rId5"/>
    <p:sldLayoutId id="2147483650" r:id="rId6"/>
    <p:sldLayoutId id="2147483666" r:id="rId7"/>
    <p:sldLayoutId id="2147483671" r:id="rId8"/>
    <p:sldLayoutId id="2147483662" r:id="rId9"/>
    <p:sldLayoutId id="2147483670" r:id="rId10"/>
    <p:sldLayoutId id="2147483669" r:id="rId11"/>
    <p:sldLayoutId id="2147483668" r:id="rId12"/>
    <p:sldLayoutId id="2147483667" r:id="rId13"/>
    <p:sldLayoutId id="2147483661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CDC59-877C-90A9-C652-0BE567D7F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341" y="1671545"/>
            <a:ext cx="10972799" cy="2387600"/>
          </a:xfrm>
        </p:spPr>
        <p:txBody>
          <a:bodyPr/>
          <a:lstStyle/>
          <a:p>
            <a:r>
              <a:rPr lang="en" dirty="0"/>
              <a:t>Fundamentals of Programming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86D810-431C-E147-2D52-2B768F306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9</a:t>
            </a:r>
          </a:p>
          <a:p>
            <a:r>
              <a:rPr lang="en-US" altLang="en-US" sz="2400" dirty="0"/>
              <a:t>Relational database model, SQL</a:t>
            </a:r>
            <a:endParaRPr lang="en-US" sz="2400" dirty="0"/>
          </a:p>
        </p:txBody>
      </p:sp>
      <p:sp>
        <p:nvSpPr>
          <p:cNvPr id="9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504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Relational database model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en-US" sz="3200" dirty="0"/>
              <a:t>SQL – Structured Query Language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200" dirty="0"/>
              <a:t>Using VB to manipulate data in databases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66381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a database?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Clr>
                <a:schemeClr val="tx1"/>
              </a:buClr>
              <a:buNone/>
            </a:pPr>
            <a:r>
              <a:rPr lang="en-US" altLang="en-US" sz="3200" b="1" dirty="0"/>
              <a:t>Database</a:t>
            </a:r>
            <a:r>
              <a:rPr lang="en-US" altLang="en-US" sz="3200" dirty="0"/>
              <a:t> consists of one or more complex files that store data in a structured format.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Clr>
                <a:schemeClr val="tx1"/>
              </a:buClr>
              <a:buNone/>
            </a:pPr>
            <a:r>
              <a:rPr lang="en-US" altLang="en-US" sz="3200" b="1" dirty="0"/>
              <a:t>Database Management System </a:t>
            </a:r>
            <a:r>
              <a:rPr lang="en-US" altLang="en-US" sz="3200" i="1" dirty="0"/>
              <a:t>(DBMS,  Database engine)</a:t>
            </a:r>
            <a:r>
              <a:rPr lang="en-US" altLang="en-US" sz="3200" dirty="0"/>
              <a:t> manages the file or files and the data within those files.</a:t>
            </a:r>
          </a:p>
        </p:txBody>
      </p:sp>
    </p:spTree>
    <p:extLst>
      <p:ext uri="{BB962C8B-B14F-4D97-AF65-F5344CB8AC3E}">
        <p14:creationId xmlns:p14="http://schemas.microsoft.com/office/powerpoint/2010/main" val="9141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DBMS?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D29D6D6D-AFFD-4333-8ED0-BD942F4B9686}"/>
              </a:ext>
            </a:extLst>
          </p:cNvPr>
          <p:cNvSpPr/>
          <p:nvPr/>
        </p:nvSpPr>
        <p:spPr>
          <a:xfrm>
            <a:off x="538163" y="1320263"/>
            <a:ext cx="11193462" cy="12855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en-US" sz="1600" b="1" dirty="0" err="1">
                <a:solidFill>
                  <a:schemeClr val="tx1"/>
                </a:solidFill>
              </a:rPr>
              <a:t>Webopedia</a:t>
            </a:r>
            <a:endParaRPr lang="en-US" altLang="en-US" sz="16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DBMS is a collection of programs that enables you to store, modify, and extract information from a database</a:t>
            </a:r>
            <a:r>
              <a:rPr lang="en-US" altLang="en-US" sz="1400" dirty="0">
                <a:solidFill>
                  <a:schemeClr val="tx1"/>
                </a:solidFill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600" i="1" dirty="0">
                <a:solidFill>
                  <a:schemeClr val="accent5"/>
                </a:solidFill>
              </a:rPr>
              <a:t>http://www.webopedia.com/TERM/D/database_management_system_DBMS.html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093A7E7D-15E4-41BA-88C9-A92F5C907F38}"/>
              </a:ext>
            </a:extLst>
          </p:cNvPr>
          <p:cNvSpPr/>
          <p:nvPr/>
        </p:nvSpPr>
        <p:spPr>
          <a:xfrm>
            <a:off x="538163" y="2711654"/>
            <a:ext cx="11193462" cy="16383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en-US" sz="1600" b="1" dirty="0">
                <a:solidFill>
                  <a:schemeClr val="tx1"/>
                </a:solidFill>
              </a:rPr>
              <a:t>Dictionary.com</a:t>
            </a:r>
          </a:p>
          <a:p>
            <a:pPr>
              <a:lnSpc>
                <a:spcPct val="120000"/>
              </a:lnSpc>
            </a:pPr>
            <a:r>
              <a:rPr lang="en-US" altLang="en-US" sz="1600" dirty="0">
                <a:solidFill>
                  <a:schemeClr val="tx1"/>
                </a:solidFill>
              </a:rPr>
              <a:t>DBMS: software that mediates access to, additions and deletions of, and changes in data contained in a database, so as to store and access data efficiently and control which data particular programs or individuals are allowed to use.</a:t>
            </a:r>
          </a:p>
          <a:p>
            <a:pPr>
              <a:lnSpc>
                <a:spcPct val="120000"/>
              </a:lnSpc>
            </a:pPr>
            <a:r>
              <a:rPr lang="en-US" sz="1600" i="1" dirty="0">
                <a:solidFill>
                  <a:schemeClr val="accent5"/>
                </a:solidFill>
              </a:rPr>
              <a:t>http://www.dictionary.com/browse/dbms</a:t>
            </a:r>
          </a:p>
        </p:txBody>
      </p:sp>
      <p:sp>
        <p:nvSpPr>
          <p:cNvPr id="13" name="Rounded Rectangle 22">
            <a:extLst>
              <a:ext uri="{FF2B5EF4-FFF2-40B4-BE49-F238E27FC236}">
                <a16:creationId xmlns:a16="http://schemas.microsoft.com/office/drawing/2014/main" id="{9277FEDA-6E53-4F9D-AD0B-0672B1EA852A}"/>
              </a:ext>
            </a:extLst>
          </p:cNvPr>
          <p:cNvSpPr/>
          <p:nvPr/>
        </p:nvSpPr>
        <p:spPr>
          <a:xfrm>
            <a:off x="538163" y="4455759"/>
            <a:ext cx="11193462" cy="143069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DBMS provides a means of accessing the data stored inside the database.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</a:rPr>
              <a:t>It manages important issues such as concurrent access (multiple accesses at one time) of the data, efficient access of the data, data backup and recovery.</a:t>
            </a:r>
          </a:p>
        </p:txBody>
      </p:sp>
    </p:spTree>
    <p:extLst>
      <p:ext uri="{BB962C8B-B14F-4D97-AF65-F5344CB8AC3E}">
        <p14:creationId xmlns:p14="http://schemas.microsoft.com/office/powerpoint/2010/main" val="201362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relational DBMS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5</a:t>
            </a:fld>
            <a:endParaRPr lang="ru-RU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43E0E8-8D25-4B05-9F0E-B5B8C2EF3AD2}"/>
              </a:ext>
            </a:extLst>
          </p:cNvPr>
          <p:cNvGrpSpPr/>
          <p:nvPr/>
        </p:nvGrpSpPr>
        <p:grpSpPr>
          <a:xfrm>
            <a:off x="695438" y="1340654"/>
            <a:ext cx="10747948" cy="1251236"/>
            <a:chOff x="695438" y="1340654"/>
            <a:chExt cx="10747948" cy="1251236"/>
          </a:xfrm>
        </p:grpSpPr>
        <p:pic>
          <p:nvPicPr>
            <p:cNvPr id="9" name="Picture 12" descr="Image result for oracle logo">
              <a:extLst>
                <a:ext uri="{FF2B5EF4-FFF2-40B4-BE49-F238E27FC236}">
                  <a16:creationId xmlns:a16="http://schemas.microsoft.com/office/drawing/2014/main" id="{D417E3E1-2E5F-47EC-B4E5-F0BC78E16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0596" y="1514293"/>
              <a:ext cx="3232790" cy="10775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6EE1D6E-BCDA-4E3D-B6C9-0805AA5E45D4}"/>
                </a:ext>
              </a:extLst>
            </p:cNvPr>
            <p:cNvGrpSpPr/>
            <p:nvPr/>
          </p:nvGrpSpPr>
          <p:grpSpPr>
            <a:xfrm>
              <a:off x="695438" y="1340654"/>
              <a:ext cx="2936942" cy="1162381"/>
              <a:chOff x="4132264" y="2631234"/>
              <a:chExt cx="3959504" cy="1567090"/>
            </a:xfrm>
          </p:grpSpPr>
          <p:pic>
            <p:nvPicPr>
              <p:cNvPr id="15" name="Picture 2" descr="Image result for microsoft access logo">
                <a:extLst>
                  <a:ext uri="{FF2B5EF4-FFF2-40B4-BE49-F238E27FC236}">
                    <a16:creationId xmlns:a16="http://schemas.microsoft.com/office/drawing/2014/main" id="{F773B0AD-BA2D-4655-8AFD-3DC23919CB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2264" y="2631234"/>
                <a:ext cx="1594924" cy="15670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BE36E5-2C12-459D-A8C8-31F797079D93}"/>
                  </a:ext>
                </a:extLst>
              </p:cNvPr>
              <p:cNvSpPr txBox="1"/>
              <p:nvPr/>
            </p:nvSpPr>
            <p:spPr>
              <a:xfrm>
                <a:off x="5727188" y="2885735"/>
                <a:ext cx="2364580" cy="1058086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1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Microsoft</a:t>
                </a:r>
                <a:r>
                  <a:rPr lang="en-US" sz="1400" baseline="300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®</a:t>
                </a:r>
                <a:r>
                  <a:rPr lang="en-US" sz="14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600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Access</a:t>
                </a:r>
                <a:endParaRPr lang="en-US" sz="2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pic>
          <p:nvPicPr>
            <p:cNvPr id="14" name="Picture 22" descr="Image result for sql server logo">
              <a:extLst>
                <a:ext uri="{FF2B5EF4-FFF2-40B4-BE49-F238E27FC236}">
                  <a16:creationId xmlns:a16="http://schemas.microsoft.com/office/drawing/2014/main" id="{819BDC81-96E8-4E7C-9BB7-5F9B89D59C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32388" y="1454954"/>
              <a:ext cx="3359150" cy="8569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E60D80-3428-4162-887A-DE5B4D6B8F61}"/>
              </a:ext>
            </a:extLst>
          </p:cNvPr>
          <p:cNvGrpSpPr/>
          <p:nvPr/>
        </p:nvGrpSpPr>
        <p:grpSpPr>
          <a:xfrm>
            <a:off x="695438" y="2624877"/>
            <a:ext cx="10549418" cy="1803798"/>
            <a:chOff x="695438" y="2819643"/>
            <a:chExt cx="10549418" cy="180379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76BFEEB-5EB9-46C6-AB20-C7FAF309D64C}"/>
                </a:ext>
              </a:extLst>
            </p:cNvPr>
            <p:cNvGrpSpPr/>
            <p:nvPr/>
          </p:nvGrpSpPr>
          <p:grpSpPr>
            <a:xfrm>
              <a:off x="4241913" y="3305095"/>
              <a:ext cx="3484484" cy="1207139"/>
              <a:chOff x="6189266" y="710656"/>
              <a:chExt cx="4172302" cy="1445421"/>
            </a:xfrm>
          </p:grpSpPr>
          <p:pic>
            <p:nvPicPr>
              <p:cNvPr id="21" name="Picture 16" descr="Image result for Interbase logo">
                <a:extLst>
                  <a:ext uri="{FF2B5EF4-FFF2-40B4-BE49-F238E27FC236}">
                    <a16:creationId xmlns:a16="http://schemas.microsoft.com/office/drawing/2014/main" id="{FAD63B8E-E07E-48F4-81A9-0C0AA82C8E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9266" y="710656"/>
                <a:ext cx="1445421" cy="14454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6BE668-CD87-4937-AA97-E0C689E00B8B}"/>
                  </a:ext>
                </a:extLst>
              </p:cNvPr>
              <p:cNvSpPr txBox="1"/>
              <p:nvPr/>
            </p:nvSpPr>
            <p:spPr>
              <a:xfrm>
                <a:off x="7671154" y="1110201"/>
                <a:ext cx="2690414" cy="700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dirty="0" err="1">
                    <a:solidFill>
                      <a:srgbClr val="EB2D2E"/>
                    </a:solidFill>
                  </a:rPr>
                  <a:t>InterBase</a:t>
                </a:r>
                <a:r>
                  <a:rPr lang="en-US" sz="3200" b="1" baseline="30000" dirty="0">
                    <a:solidFill>
                      <a:srgbClr val="EB2D2E"/>
                    </a:solidFill>
                  </a:rPr>
                  <a:t>®</a:t>
                </a:r>
              </a:p>
            </p:txBody>
          </p:sp>
        </p:grpSp>
        <p:pic>
          <p:nvPicPr>
            <p:cNvPr id="19" name="Picture 20" descr="Image result for mysql logo">
              <a:extLst>
                <a:ext uri="{FF2B5EF4-FFF2-40B4-BE49-F238E27FC236}">
                  <a16:creationId xmlns:a16="http://schemas.microsoft.com/office/drawing/2014/main" id="{A6CD8C08-7C8C-40E0-ADF0-4E73556DBE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7905" y="2819643"/>
              <a:ext cx="2926951" cy="15137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4" descr="Image result for postgresql">
              <a:extLst>
                <a:ext uri="{FF2B5EF4-FFF2-40B4-BE49-F238E27FC236}">
                  <a16:creationId xmlns:a16="http://schemas.microsoft.com/office/drawing/2014/main" id="{917E234E-F67C-45B2-9219-1B788771E5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438" y="3190189"/>
              <a:ext cx="3122441" cy="14332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AAA71E-6030-4DEF-AA32-62ABEB7A8DD4}"/>
              </a:ext>
            </a:extLst>
          </p:cNvPr>
          <p:cNvGrpSpPr/>
          <p:nvPr/>
        </p:nvGrpSpPr>
        <p:grpSpPr>
          <a:xfrm>
            <a:off x="523107" y="4586900"/>
            <a:ext cx="10414968" cy="1436863"/>
            <a:chOff x="523107" y="4586900"/>
            <a:chExt cx="10414968" cy="1436863"/>
          </a:xfrm>
        </p:grpSpPr>
        <p:pic>
          <p:nvPicPr>
            <p:cNvPr id="24" name="Picture 14" descr="Image result for Informix logo">
              <a:extLst>
                <a:ext uri="{FF2B5EF4-FFF2-40B4-BE49-F238E27FC236}">
                  <a16:creationId xmlns:a16="http://schemas.microsoft.com/office/drawing/2014/main" id="{CBDF70C9-9017-4D80-84DC-0932F998299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06" t="28260" r="11329" b="27027"/>
            <a:stretch/>
          </p:blipFill>
          <p:spPr bwMode="auto">
            <a:xfrm>
              <a:off x="523107" y="4671213"/>
              <a:ext cx="3467101" cy="13525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6" descr="Image result for ibm db2 logo">
              <a:extLst>
                <a:ext uri="{FF2B5EF4-FFF2-40B4-BE49-F238E27FC236}">
                  <a16:creationId xmlns:a16="http://schemas.microsoft.com/office/drawing/2014/main" id="{27E28358-52CA-414A-8D7D-0737874ED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0013" y="4920472"/>
              <a:ext cx="3284728" cy="8540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8" descr="https://upload.wikimedia.org/wikipedia/en/3/3e/MariaDB_Logo_from_SkySQL_Ab.png">
              <a:extLst>
                <a:ext uri="{FF2B5EF4-FFF2-40B4-BE49-F238E27FC236}">
                  <a16:creationId xmlns:a16="http://schemas.microsoft.com/office/drawing/2014/main" id="{3B53F0B9-A379-474B-832C-8DB207CA0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6455" y="4586900"/>
              <a:ext cx="2791620" cy="14368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4459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Tables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  <a:buNone/>
            </a:pPr>
            <a:r>
              <a:rPr lang="en-US" altLang="en-US" sz="3200" b="1" dirty="0"/>
              <a:t>Table</a:t>
            </a:r>
            <a:r>
              <a:rPr lang="en-US" altLang="en-US" sz="3200" dirty="0"/>
              <a:t> contains a collection of data, which is represented by one or more columns, and a number of rows of data. 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</a:pPr>
            <a:r>
              <a:rPr lang="en-US" altLang="en-US" sz="2800" dirty="0"/>
              <a:t>Columns are referred as </a:t>
            </a:r>
            <a:r>
              <a:rPr lang="en-US" altLang="en-US" sz="2800" b="1" dirty="0"/>
              <a:t>fields</a:t>
            </a:r>
            <a:r>
              <a:rPr lang="en-US" altLang="en-US" sz="2800" dirty="0"/>
              <a:t> or </a:t>
            </a:r>
            <a:r>
              <a:rPr lang="en-US" altLang="en-US" sz="2800" b="1" dirty="0"/>
              <a:t>attributes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chemeClr val="tx1"/>
              </a:buClr>
            </a:pPr>
            <a:r>
              <a:rPr lang="en-US" altLang="en-US" sz="2800" dirty="0"/>
              <a:t>Rows referred as </a:t>
            </a:r>
            <a:r>
              <a:rPr lang="en-US" altLang="en-US" sz="2800" b="1" dirty="0"/>
              <a:t>records</a:t>
            </a:r>
            <a:r>
              <a:rPr lang="en-US" altLang="en-US" sz="2800" dirty="0"/>
              <a:t> or </a:t>
            </a:r>
            <a:r>
              <a:rPr lang="en-US" altLang="en-US" sz="2800" b="1" dirty="0"/>
              <a:t>tuples</a:t>
            </a:r>
            <a:endParaRPr lang="en-US" altLang="en-US" sz="2800" dirty="0"/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E20D7A30-CF35-41AB-A5DF-9337FFED28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120023"/>
              </p:ext>
            </p:extLst>
          </p:nvPr>
        </p:nvGraphicFramePr>
        <p:xfrm>
          <a:off x="2638352" y="3801786"/>
          <a:ext cx="6915296" cy="1976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Bitmap Image" r:id="rId3" imgW="4858428" imgH="1514686" progId="Paint.Picture">
                  <p:embed/>
                </p:oleObj>
              </mc:Choice>
              <mc:Fallback>
                <p:oleObj name="Bitmap Image" r:id="rId3" imgW="4858428" imgH="1514686" progId="Paint.Picture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352" y="3801786"/>
                        <a:ext cx="6915296" cy="1976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0506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DB vs DBMS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29" name="Flowchart: Magnetic Disk 28">
            <a:extLst>
              <a:ext uri="{FF2B5EF4-FFF2-40B4-BE49-F238E27FC236}">
                <a16:creationId xmlns:a16="http://schemas.microsoft.com/office/drawing/2014/main" id="{747B3257-3943-45AD-8BBE-6C3E218D845A}"/>
              </a:ext>
            </a:extLst>
          </p:cNvPr>
          <p:cNvSpPr/>
          <p:nvPr/>
        </p:nvSpPr>
        <p:spPr>
          <a:xfrm>
            <a:off x="1181100" y="1517271"/>
            <a:ext cx="3038475" cy="3962400"/>
          </a:xfrm>
          <a:prstGeom prst="flowChartMagneticDisk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CB2FFC-6D0F-4FCB-9F43-7CF7FFF44D1B}"/>
              </a:ext>
            </a:extLst>
          </p:cNvPr>
          <p:cNvSpPr txBox="1"/>
          <p:nvPr/>
        </p:nvSpPr>
        <p:spPr>
          <a:xfrm>
            <a:off x="2088076" y="1809440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Database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7E1C8BB-88CD-4E14-BCC6-6D7CFCE20E2A}"/>
              </a:ext>
            </a:extLst>
          </p:cNvPr>
          <p:cNvGrpSpPr/>
          <p:nvPr/>
        </p:nvGrpSpPr>
        <p:grpSpPr>
          <a:xfrm>
            <a:off x="2006046" y="3479421"/>
            <a:ext cx="1375329" cy="1393593"/>
            <a:chOff x="2149873" y="3619500"/>
            <a:chExt cx="1375329" cy="1393593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2" name="AutoShape 9">
              <a:extLst>
                <a:ext uri="{FF2B5EF4-FFF2-40B4-BE49-F238E27FC236}">
                  <a16:creationId xmlns:a16="http://schemas.microsoft.com/office/drawing/2014/main" id="{51E8E34A-74C6-44E3-B290-45B5225F6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9873" y="3619500"/>
              <a:ext cx="940260" cy="1001619"/>
            </a:xfrm>
            <a:prstGeom prst="foldedCorner">
              <a:avLst>
                <a:gd name="adj" fmla="val 12500"/>
              </a:avLst>
            </a:prstGeom>
            <a:grpFill/>
            <a:ln w="3810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3" name="AutoShape 10">
              <a:extLst>
                <a:ext uri="{FF2B5EF4-FFF2-40B4-BE49-F238E27FC236}">
                  <a16:creationId xmlns:a16="http://schemas.microsoft.com/office/drawing/2014/main" id="{C096DBE6-73D8-4FAB-A2F1-23FA935CB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6611" y="3814769"/>
              <a:ext cx="940260" cy="1001619"/>
            </a:xfrm>
            <a:prstGeom prst="foldedCorner">
              <a:avLst>
                <a:gd name="adj" fmla="val 12500"/>
              </a:avLst>
            </a:prstGeom>
            <a:grpFill/>
            <a:ln w="3810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4" name="AutoShape 11">
              <a:extLst>
                <a:ext uri="{FF2B5EF4-FFF2-40B4-BE49-F238E27FC236}">
                  <a16:creationId xmlns:a16="http://schemas.microsoft.com/office/drawing/2014/main" id="{54F9B80E-18EA-4AD7-BC98-867CA946D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4942" y="4011474"/>
              <a:ext cx="940260" cy="1001619"/>
            </a:xfrm>
            <a:prstGeom prst="foldedCorner">
              <a:avLst>
                <a:gd name="adj" fmla="val 12500"/>
              </a:avLst>
            </a:prstGeom>
            <a:grpFill/>
            <a:ln w="38100">
              <a:solidFill>
                <a:schemeClr val="accent5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E573625-9169-497B-A88A-0F31D17564DD}"/>
              </a:ext>
            </a:extLst>
          </p:cNvPr>
          <p:cNvSpPr txBox="1"/>
          <p:nvPr/>
        </p:nvSpPr>
        <p:spPr>
          <a:xfrm>
            <a:off x="2088076" y="3022340"/>
            <a:ext cx="12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Tables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02DD59-55A6-4A08-8B9A-B000839C19B3}"/>
              </a:ext>
            </a:extLst>
          </p:cNvPr>
          <p:cNvSpPr txBox="1"/>
          <p:nvPr/>
        </p:nvSpPr>
        <p:spPr>
          <a:xfrm>
            <a:off x="5126551" y="1985405"/>
            <a:ext cx="2254710" cy="302852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lIns="182880" tIns="182880" rIns="182880" bIns="182880" rtlCol="0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en-US" dirty="0"/>
              <a:t>DBMS manages the database: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creating tables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inserting data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retrieving data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updating data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deleting data</a:t>
            </a:r>
          </a:p>
          <a:p>
            <a:pPr marL="228600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etc.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89FEEA9-B711-4E1A-B482-8F742FA7A865}"/>
              </a:ext>
            </a:extLst>
          </p:cNvPr>
          <p:cNvSpPr txBox="1"/>
          <p:nvPr/>
        </p:nvSpPr>
        <p:spPr>
          <a:xfrm>
            <a:off x="5749081" y="1564896"/>
            <a:ext cx="100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DBMS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5D51D61-8F5F-4869-9D0D-C2D92C44B403}"/>
              </a:ext>
            </a:extLst>
          </p:cNvPr>
          <p:cNvCxnSpPr>
            <a:stCxn id="36" idx="1"/>
            <a:endCxn id="29" idx="4"/>
          </p:cNvCxnSpPr>
          <p:nvPr/>
        </p:nvCxnSpPr>
        <p:spPr>
          <a:xfrm flipH="1" flipV="1">
            <a:off x="4219575" y="3498471"/>
            <a:ext cx="906976" cy="1195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lowchart: Magnetic Disk 38">
            <a:extLst>
              <a:ext uri="{FF2B5EF4-FFF2-40B4-BE49-F238E27FC236}">
                <a16:creationId xmlns:a16="http://schemas.microsoft.com/office/drawing/2014/main" id="{84239921-731B-4160-BBFF-91056E4C9AB3}"/>
              </a:ext>
            </a:extLst>
          </p:cNvPr>
          <p:cNvSpPr/>
          <p:nvPr/>
        </p:nvSpPr>
        <p:spPr>
          <a:xfrm>
            <a:off x="9174677" y="1014701"/>
            <a:ext cx="855148" cy="111517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lowchart: Magnetic Disk 39">
            <a:extLst>
              <a:ext uri="{FF2B5EF4-FFF2-40B4-BE49-F238E27FC236}">
                <a16:creationId xmlns:a16="http://schemas.microsoft.com/office/drawing/2014/main" id="{BC6F34F1-3DDA-47CD-AF31-B8E534067000}"/>
              </a:ext>
            </a:extLst>
          </p:cNvPr>
          <p:cNvSpPr/>
          <p:nvPr/>
        </p:nvSpPr>
        <p:spPr>
          <a:xfrm>
            <a:off x="10269002" y="2071130"/>
            <a:ext cx="855148" cy="111517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Magnetic Disk 40">
            <a:extLst>
              <a:ext uri="{FF2B5EF4-FFF2-40B4-BE49-F238E27FC236}">
                <a16:creationId xmlns:a16="http://schemas.microsoft.com/office/drawing/2014/main" id="{17450A5C-944D-4234-9801-D9596144E9E0}"/>
              </a:ext>
            </a:extLst>
          </p:cNvPr>
          <p:cNvSpPr/>
          <p:nvPr/>
        </p:nvSpPr>
        <p:spPr>
          <a:xfrm>
            <a:off x="10269002" y="3699059"/>
            <a:ext cx="855148" cy="111517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lowchart: Magnetic Disk 41">
            <a:extLst>
              <a:ext uri="{FF2B5EF4-FFF2-40B4-BE49-F238E27FC236}">
                <a16:creationId xmlns:a16="http://schemas.microsoft.com/office/drawing/2014/main" id="{7C796485-C65D-4681-90C6-C6255C570B1B}"/>
              </a:ext>
            </a:extLst>
          </p:cNvPr>
          <p:cNvSpPr/>
          <p:nvPr/>
        </p:nvSpPr>
        <p:spPr>
          <a:xfrm>
            <a:off x="9205354" y="4736437"/>
            <a:ext cx="855148" cy="1115177"/>
          </a:xfrm>
          <a:prstGeom prst="flowChartMagneticDisk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CD3EB7A-8705-485C-A428-213414D2EFB1}"/>
              </a:ext>
            </a:extLst>
          </p:cNvPr>
          <p:cNvCxnSpPr>
            <a:stCxn id="36" idx="3"/>
            <a:endCxn id="39" idx="2"/>
          </p:cNvCxnSpPr>
          <p:nvPr/>
        </p:nvCxnSpPr>
        <p:spPr>
          <a:xfrm flipV="1">
            <a:off x="7381261" y="1572290"/>
            <a:ext cx="1793416" cy="1927376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230FFF3-E6BF-4D8E-A805-6739C2EB0EE6}"/>
              </a:ext>
            </a:extLst>
          </p:cNvPr>
          <p:cNvCxnSpPr>
            <a:stCxn id="36" idx="3"/>
            <a:endCxn id="40" idx="2"/>
          </p:cNvCxnSpPr>
          <p:nvPr/>
        </p:nvCxnSpPr>
        <p:spPr>
          <a:xfrm flipV="1">
            <a:off x="7381261" y="2628719"/>
            <a:ext cx="2887741" cy="870947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96DCFC0-4971-4BD8-922E-53F7E4C760BF}"/>
              </a:ext>
            </a:extLst>
          </p:cNvPr>
          <p:cNvCxnSpPr>
            <a:stCxn id="36" idx="3"/>
            <a:endCxn id="41" idx="2"/>
          </p:cNvCxnSpPr>
          <p:nvPr/>
        </p:nvCxnSpPr>
        <p:spPr>
          <a:xfrm>
            <a:off x="7381261" y="3499666"/>
            <a:ext cx="2887741" cy="756982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E9105DA-67C5-456B-9E58-233D147F1571}"/>
              </a:ext>
            </a:extLst>
          </p:cNvPr>
          <p:cNvCxnSpPr>
            <a:stCxn id="36" idx="3"/>
            <a:endCxn id="42" idx="2"/>
          </p:cNvCxnSpPr>
          <p:nvPr/>
        </p:nvCxnSpPr>
        <p:spPr>
          <a:xfrm>
            <a:off x="7381261" y="3499666"/>
            <a:ext cx="1824093" cy="179436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25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Primary key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2800" b="1" dirty="0"/>
              <a:t>Primary key</a:t>
            </a:r>
            <a:r>
              <a:rPr lang="en-US" altLang="en-US" sz="2800" dirty="0"/>
              <a:t> (PK) – a field that contains a unique value for each row in a table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The physical location of the row in a table is unimportant but a means of isolating a specific row in the table is necessary.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This is achieved by having a column on each row with a unique value, different from all other rows in that table.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2800" dirty="0"/>
              <a:t>PK enables user to retrieve just one row from among the others in the table.</a:t>
            </a:r>
          </a:p>
        </p:txBody>
      </p:sp>
    </p:spTree>
    <p:extLst>
      <p:ext uri="{BB962C8B-B14F-4D97-AF65-F5344CB8AC3E}">
        <p14:creationId xmlns:p14="http://schemas.microsoft.com/office/powerpoint/2010/main" val="1552379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3200" b="1" dirty="0"/>
              <a:t>Relationship</a:t>
            </a:r>
            <a:r>
              <a:rPr lang="en-US" altLang="en-US" sz="3200" dirty="0"/>
              <a:t> is a meaningful association between tables: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a </a:t>
            </a:r>
            <a:r>
              <a:rPr lang="en-US" altLang="en-US" sz="3200" i="1" dirty="0"/>
              <a:t>Person</a:t>
            </a:r>
            <a:r>
              <a:rPr lang="en-US" altLang="en-US" sz="3200" dirty="0"/>
              <a:t> is located in a </a:t>
            </a:r>
            <a:r>
              <a:rPr lang="en-US" altLang="en-US" sz="3200" i="1" dirty="0"/>
              <a:t>Country</a:t>
            </a:r>
            <a:endParaRPr lang="en-US" altLang="en-US" sz="3200" dirty="0"/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a </a:t>
            </a:r>
            <a:r>
              <a:rPr lang="en-US" altLang="en-US" sz="3200" i="1" dirty="0"/>
              <a:t>Sales Agent</a:t>
            </a:r>
            <a:r>
              <a:rPr lang="en-US" altLang="en-US" sz="3200" dirty="0"/>
              <a:t> is responsible for a </a:t>
            </a:r>
            <a:r>
              <a:rPr lang="en-US" altLang="en-US" sz="3200" i="1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74053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Relationship types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Clr>
                <a:schemeClr val="tx1"/>
              </a:buClr>
            </a:pPr>
            <a:r>
              <a:rPr lang="en-US" altLang="en-US" sz="3200" b="1" dirty="0"/>
              <a:t>One-to-One</a:t>
            </a:r>
            <a:r>
              <a:rPr lang="en-US" altLang="en-US" sz="3200" dirty="0"/>
              <a:t> (Person – Student)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Clr>
                <a:schemeClr val="tx1"/>
              </a:buClr>
            </a:pPr>
            <a:r>
              <a:rPr lang="en-US" altLang="en-US" sz="3200" b="1" dirty="0"/>
              <a:t>One-to-Many</a:t>
            </a:r>
            <a:r>
              <a:rPr lang="en-US" altLang="en-US" sz="3200" dirty="0"/>
              <a:t> (Course – Student)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400"/>
              </a:spcAft>
              <a:buClr>
                <a:schemeClr val="tx1"/>
              </a:buClr>
            </a:pPr>
            <a:r>
              <a:rPr lang="en-US" altLang="en-US" sz="3200" b="1" dirty="0"/>
              <a:t>Many-to-Many </a:t>
            </a:r>
            <a:r>
              <a:rPr lang="en-US" altLang="en-US" sz="3200" dirty="0"/>
              <a:t>(Student – Module)</a:t>
            </a:r>
          </a:p>
        </p:txBody>
      </p:sp>
    </p:spTree>
    <p:extLst>
      <p:ext uri="{BB962C8B-B14F-4D97-AF65-F5344CB8AC3E}">
        <p14:creationId xmlns:p14="http://schemas.microsoft.com/office/powerpoint/2010/main" val="4087389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SQL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/>
              <a:t>Structured Query Language </a:t>
            </a:r>
            <a:r>
              <a:rPr lang="en-US" altLang="en-US" sz="3200" dirty="0"/>
              <a:t>– special purpose language to retrieve and manipulate data of a relational database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Consists of 2 major components: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DDL – Data Definition Language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DML – Data Manipulation Language</a:t>
            </a:r>
          </a:p>
        </p:txBody>
      </p:sp>
    </p:spTree>
    <p:extLst>
      <p:ext uri="{BB962C8B-B14F-4D97-AF65-F5344CB8AC3E}">
        <p14:creationId xmlns:p14="http://schemas.microsoft.com/office/powerpoint/2010/main" val="161177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DDL (Data Definition Language)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3200" dirty="0"/>
              <a:t>Used to manage database objects: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create tables or views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change columns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delete tables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etc. 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3981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293990" cy="857400"/>
          </a:xfrm>
        </p:spPr>
        <p:txBody>
          <a:bodyPr/>
          <a:lstStyle/>
          <a:p>
            <a:r>
              <a:rPr lang="en-US" altLang="en-US" dirty="0"/>
              <a:t>DML (Data Manipulation Language)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GB" sz="3200" dirty="0"/>
              <a:t>Used for accessing and manipulating the data. Consists of 4 main operations (CRUD):</a:t>
            </a:r>
            <a:endParaRPr lang="en-US" altLang="en-US" sz="3200" dirty="0"/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/>
              <a:t>C</a:t>
            </a:r>
            <a:r>
              <a:rPr lang="en-US" altLang="en-US" sz="3200" dirty="0"/>
              <a:t>reate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/>
              <a:t>R</a:t>
            </a:r>
            <a:r>
              <a:rPr lang="en-US" altLang="en-US" sz="3200" dirty="0"/>
              <a:t>etrieve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/>
              <a:t>U</a:t>
            </a:r>
            <a:r>
              <a:rPr lang="en-US" altLang="en-US" sz="3200" dirty="0"/>
              <a:t>pdate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/>
              <a:t>D</a:t>
            </a:r>
            <a:r>
              <a:rPr lang="en-US" altLang="en-US" sz="3200" dirty="0"/>
              <a:t>elete</a:t>
            </a:r>
          </a:p>
        </p:txBody>
      </p:sp>
    </p:spTree>
    <p:extLst>
      <p:ext uri="{BB962C8B-B14F-4D97-AF65-F5344CB8AC3E}">
        <p14:creationId xmlns:p14="http://schemas.microsoft.com/office/powerpoint/2010/main" val="2866655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293990" cy="857400"/>
          </a:xfrm>
        </p:spPr>
        <p:txBody>
          <a:bodyPr/>
          <a:lstStyle/>
          <a:p>
            <a:r>
              <a:rPr lang="en-US" altLang="en-US" dirty="0"/>
              <a:t>SQL SELECT – retrieve data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SELECT {* | </a:t>
            </a:r>
            <a:r>
              <a:rPr lang="en-US" altLang="en-US" sz="2800" dirty="0" err="1"/>
              <a:t>column_name_list</a:t>
            </a:r>
            <a:r>
              <a:rPr lang="en-US" altLang="en-US" sz="2800" dirty="0"/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FROM </a:t>
            </a:r>
            <a:r>
              <a:rPr lang="en-US" altLang="en-US" sz="2800" dirty="0" err="1"/>
              <a:t>table_list</a:t>
            </a:r>
            <a:endParaRPr lang="en-US" alt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[WHERE conditions]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More on this – next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4EC395-4601-4604-83CD-6DD1DDCCC4F0}"/>
              </a:ext>
            </a:extLst>
          </p:cNvPr>
          <p:cNvSpPr txBox="1"/>
          <p:nvPr/>
        </p:nvSpPr>
        <p:spPr>
          <a:xfrm>
            <a:off x="838201" y="3360398"/>
            <a:ext cx="10515598" cy="984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'select all columns from Teacher table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*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</a:t>
            </a:r>
            <a:endParaRPr lang="en-US" altLang="en-US" sz="2000" b="1" dirty="0">
              <a:solidFill>
                <a:schemeClr val="accent6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6FF47-899E-4021-BC38-1C1F2BEA1363}"/>
              </a:ext>
            </a:extLst>
          </p:cNvPr>
          <p:cNvSpPr txBox="1"/>
          <p:nvPr/>
        </p:nvSpPr>
        <p:spPr>
          <a:xfrm>
            <a:off x="837503" y="4461021"/>
            <a:ext cx="10515598" cy="984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'select first and last names from Teacher table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SELECT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firstName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lastName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FROM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</a:t>
            </a:r>
            <a:endParaRPr lang="en-US" altLang="en-US" sz="2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812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293990" cy="857400"/>
          </a:xfrm>
        </p:spPr>
        <p:txBody>
          <a:bodyPr/>
          <a:lstStyle/>
          <a:p>
            <a:r>
              <a:rPr lang="en-US" altLang="en-US" dirty="0"/>
              <a:t>SQL INSERT – create data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INSERT INTO </a:t>
            </a:r>
            <a:r>
              <a:rPr lang="en-US" altLang="en-US" sz="2800" dirty="0" err="1"/>
              <a:t>table_name</a:t>
            </a: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[(</a:t>
            </a:r>
            <a:r>
              <a:rPr lang="en-US" altLang="en-US" sz="2800" dirty="0" err="1"/>
              <a:t>column_list</a:t>
            </a:r>
            <a:r>
              <a:rPr lang="en-US" altLang="en-US" sz="2800" dirty="0"/>
              <a:t>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VALUES (</a:t>
            </a:r>
            <a:r>
              <a:rPr lang="en-US" altLang="en-US" sz="2800" dirty="0" err="1"/>
              <a:t>values_list</a:t>
            </a:r>
            <a:r>
              <a:rPr lang="en-US" altLang="en-US" sz="28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2DDBE-A97E-41E3-9C26-3E3567A21576}"/>
              </a:ext>
            </a:extLst>
          </p:cNvPr>
          <p:cNvSpPr txBox="1"/>
          <p:nvPr/>
        </p:nvSpPr>
        <p:spPr>
          <a:xfrm>
            <a:off x="838201" y="3224164"/>
            <a:ext cx="10515598" cy="22159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'insert a row into Teacher table with the given values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INSERT INTO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	(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firstName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lastName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address, phone) </a:t>
            </a: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VALUES</a:t>
            </a: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'Anna'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Kozlova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'Tashkent'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'111-11-11'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)</a:t>
            </a:r>
          </a:p>
          <a:p>
            <a:endParaRPr lang="en-US" altLang="en-US" sz="2000" b="1" dirty="0">
              <a:solidFill>
                <a:schemeClr val="accent6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529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293990" cy="857400"/>
          </a:xfrm>
        </p:spPr>
        <p:txBody>
          <a:bodyPr/>
          <a:lstStyle/>
          <a:p>
            <a:r>
              <a:rPr lang="en-US" altLang="en-US" dirty="0"/>
              <a:t>SQL INSERT – create data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INSERT INTO </a:t>
            </a:r>
            <a:r>
              <a:rPr lang="en-US" altLang="en-US" sz="2800" dirty="0" err="1"/>
              <a:t>table_name</a:t>
            </a: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[(</a:t>
            </a:r>
            <a:r>
              <a:rPr lang="en-US" altLang="en-US" sz="2800" dirty="0" err="1"/>
              <a:t>column_list</a:t>
            </a:r>
            <a:r>
              <a:rPr lang="en-US" altLang="en-US" sz="2800" dirty="0"/>
              <a:t>)]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VALUES (</a:t>
            </a:r>
            <a:r>
              <a:rPr lang="en-US" altLang="en-US" sz="2800" dirty="0" err="1"/>
              <a:t>values_list</a:t>
            </a:r>
            <a:r>
              <a:rPr lang="en-US" altLang="en-US" sz="2800" dirty="0"/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22DDBE-A97E-41E3-9C26-3E3567A21576}"/>
              </a:ext>
            </a:extLst>
          </p:cNvPr>
          <p:cNvSpPr txBox="1"/>
          <p:nvPr/>
        </p:nvSpPr>
        <p:spPr>
          <a:xfrm>
            <a:off x="838201" y="3224164"/>
            <a:ext cx="10515598" cy="22159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'insert a row into Teacher table with the given values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INSERT INTO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	(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firstName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lastName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address, phone) </a:t>
            </a: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VALUES</a:t>
            </a: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	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'Anna'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Kozlova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'Tashkent'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,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'111-11-11'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)</a:t>
            </a:r>
          </a:p>
          <a:p>
            <a:endParaRPr lang="en-US" altLang="en-US" sz="2000" b="1" dirty="0">
              <a:solidFill>
                <a:schemeClr val="accent6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258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293990" cy="857400"/>
          </a:xfrm>
        </p:spPr>
        <p:txBody>
          <a:bodyPr/>
          <a:lstStyle/>
          <a:p>
            <a:r>
              <a:rPr lang="en-US" altLang="en-US" dirty="0"/>
              <a:t>SQL UPDATE – edit data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UPDATE </a:t>
            </a:r>
            <a:r>
              <a:rPr lang="en-US" altLang="en-US" sz="2800" dirty="0" err="1"/>
              <a:t>table_name</a:t>
            </a: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SET {column=value}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[WHERE conditions]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29CD48-D766-41EB-9C7C-A7D2C9FC941E}"/>
              </a:ext>
            </a:extLst>
          </p:cNvPr>
          <p:cNvSpPr txBox="1"/>
          <p:nvPr/>
        </p:nvSpPr>
        <p:spPr>
          <a:xfrm>
            <a:off x="838201" y="3429000"/>
            <a:ext cx="10515598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'change phone number for the teacher whose ID = 1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UPDATE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SET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phone = 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'222-22-22' </a:t>
            </a:r>
          </a:p>
          <a:p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id = 1</a:t>
            </a:r>
          </a:p>
        </p:txBody>
      </p:sp>
    </p:spTree>
    <p:extLst>
      <p:ext uri="{BB962C8B-B14F-4D97-AF65-F5344CB8AC3E}">
        <p14:creationId xmlns:p14="http://schemas.microsoft.com/office/powerpoint/2010/main" val="3546478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4531"/>
            <a:ext cx="10293990" cy="857400"/>
          </a:xfrm>
        </p:spPr>
        <p:txBody>
          <a:bodyPr/>
          <a:lstStyle/>
          <a:p>
            <a:r>
              <a:rPr lang="en-US" altLang="en-US" dirty="0"/>
              <a:t>SQL DELETE – remove data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DELETE FROM </a:t>
            </a:r>
            <a:r>
              <a:rPr lang="en-US" altLang="en-US" sz="2800" dirty="0" err="1"/>
              <a:t>table_name</a:t>
            </a:r>
            <a:endParaRPr lang="en-US" alt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2800" dirty="0"/>
              <a:t>[WHERE conditions]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C87903-4585-489E-9245-A7C5F2BA03AA}"/>
              </a:ext>
            </a:extLst>
          </p:cNvPr>
          <p:cNvSpPr txBox="1"/>
          <p:nvPr/>
        </p:nvSpPr>
        <p:spPr>
          <a:xfrm>
            <a:off x="838201" y="3086762"/>
            <a:ext cx="10515598" cy="22006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'delete a row with ID = 1 from Teacher table</a:t>
            </a:r>
            <a:endParaRPr lang="en-US" altLang="en-US" sz="2000" b="1" dirty="0">
              <a:solidFill>
                <a:schemeClr val="accent1"/>
              </a:solidFill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DELETE FROM </a:t>
            </a:r>
            <a:r>
              <a:rPr lang="en-US" altLang="en-US" sz="2000" b="1" dirty="0" err="1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tbTeacher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en-US" sz="2000" b="1" dirty="0">
                <a:solidFill>
                  <a:schemeClr val="accent1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WHERE</a:t>
            </a:r>
            <a:r>
              <a:rPr lang="en-US" altLang="en-US" sz="2000" b="1" dirty="0"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 id = 1</a:t>
            </a:r>
          </a:p>
          <a:p>
            <a:pPr>
              <a:lnSpc>
                <a:spcPct val="120000"/>
              </a:lnSpc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'always include WHERE clause in your DELETE statements,</a:t>
            </a:r>
          </a:p>
          <a:p>
            <a:pPr>
              <a:lnSpc>
                <a:spcPct val="120000"/>
              </a:lnSpc>
            </a:pPr>
            <a:r>
              <a:rPr lang="en-US" altLang="en-US" sz="2000" b="1" dirty="0">
                <a:solidFill>
                  <a:schemeClr val="accent6"/>
                </a:solidFill>
                <a:latin typeface="Courier New" panose="02070309020205020404" pitchFamily="49" charset="0"/>
                <a:ea typeface="Segoe UI" panose="020B0502040204020203" pitchFamily="34" charset="0"/>
                <a:cs typeface="Courier New" panose="02070309020205020404" pitchFamily="49" charset="0"/>
              </a:rPr>
              <a:t>'unless you want to remove all data from table</a:t>
            </a:r>
          </a:p>
        </p:txBody>
      </p:sp>
    </p:spTree>
    <p:extLst>
      <p:ext uri="{BB962C8B-B14F-4D97-AF65-F5344CB8AC3E}">
        <p14:creationId xmlns:p14="http://schemas.microsoft.com/office/powerpoint/2010/main" val="2702561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D72AC-B176-B6FA-C292-B3C3C2B39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Working with databases in C#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5FAD64E5-0D38-95EE-E7BB-019A1762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188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ADO.NET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3200" b="1" dirty="0"/>
              <a:t>ADO.NET</a:t>
            </a:r>
            <a:r>
              <a:rPr lang="en-US" altLang="en-US" sz="3200" dirty="0"/>
              <a:t> is a collection of classes (</a:t>
            </a:r>
            <a:r>
              <a:rPr lang="en-US" altLang="en-US" sz="3200" dirty="0" err="1"/>
              <a:t>System.Data</a:t>
            </a:r>
            <a:r>
              <a:rPr lang="en-US" altLang="en-US" sz="3200" dirty="0"/>
              <a:t> namespace) designed to provide connection to relational databases.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altLang="en-US" sz="32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3200" dirty="0"/>
              <a:t>DB programming in .NET could be done via </a:t>
            </a:r>
            <a:r>
              <a:rPr lang="en-US" altLang="en-US" sz="3200" b="1" dirty="0"/>
              <a:t>connected</a:t>
            </a:r>
            <a:r>
              <a:rPr lang="en-US" altLang="en-US" sz="3200" dirty="0"/>
              <a:t> and </a:t>
            </a:r>
            <a:r>
              <a:rPr lang="en-US" altLang="en-US" sz="3200" b="1" dirty="0"/>
              <a:t>disconnected</a:t>
            </a:r>
            <a:r>
              <a:rPr lang="en-US" altLang="en-US" sz="3200" dirty="0"/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4286778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Connected architecture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altLang="en-US" sz="3200" dirty="0"/>
              <a:t>For every operation (CRUD) the application issues SQL statement against a database and shows the result to user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3200" b="1" dirty="0"/>
              <a:t>…</a:t>
            </a:r>
            <a:r>
              <a:rPr lang="en-US" altLang="en-US" sz="3200" b="1" dirty="0" err="1"/>
              <a:t>DbConnection</a:t>
            </a:r>
            <a:r>
              <a:rPr lang="en-US" altLang="en-US" sz="3200" dirty="0"/>
              <a:t> – connect to DB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3200" b="1" dirty="0"/>
              <a:t>…</a:t>
            </a:r>
            <a:r>
              <a:rPr lang="en-US" altLang="en-US" sz="3200" b="1" dirty="0" err="1"/>
              <a:t>DbCommand</a:t>
            </a:r>
            <a:r>
              <a:rPr lang="en-US" altLang="en-US" sz="3200" dirty="0"/>
              <a:t> – to send SQL to DB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altLang="en-US" sz="3200" b="1" dirty="0"/>
              <a:t>…</a:t>
            </a:r>
            <a:r>
              <a:rPr lang="en-US" altLang="en-US" sz="3200" b="1" dirty="0" err="1"/>
              <a:t>DataReader</a:t>
            </a:r>
            <a:r>
              <a:rPr lang="en-US" altLang="en-US" sz="3200" dirty="0"/>
              <a:t> – to read database response</a:t>
            </a:r>
          </a:p>
        </p:txBody>
      </p:sp>
    </p:spTree>
    <p:extLst>
      <p:ext uri="{BB962C8B-B14F-4D97-AF65-F5344CB8AC3E}">
        <p14:creationId xmlns:p14="http://schemas.microsoft.com/office/powerpoint/2010/main" val="2581973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Connected architecture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29DE69-521B-45A2-B61F-C0FB3A729D92}"/>
              </a:ext>
            </a:extLst>
          </p:cNvPr>
          <p:cNvSpPr txBox="1"/>
          <p:nvPr/>
        </p:nvSpPr>
        <p:spPr>
          <a:xfrm>
            <a:off x="838202" y="1331931"/>
            <a:ext cx="10515598" cy="46782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182880" tIns="182880" rIns="182880" bIns="182880" rtlCol="0">
            <a:spAutoFit/>
          </a:bodyPr>
          <a:lstStyle/>
          <a:p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sql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"select * from 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tb_teacher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cmd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OleDbCommand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sql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conn);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conn.Open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OleDbDataReader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cmd.ExecuteReader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result 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rdr.Read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result +=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$"Id: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{rdr.GetInt32(0)}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;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result +=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$"Last name: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rdr.GetString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(1)}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;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result +=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$"First name: 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rdr.GetString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(2);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result +=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$"Address: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rdr.GetString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(3)}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; 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	result += 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$"Phone: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rdr.GetString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(4)}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\n"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MessageBox.Show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(result);</a:t>
            </a:r>
            <a:endParaRPr lang="en-US" altLang="en-US" sz="2000" b="1" dirty="0">
              <a:latin typeface="Courier New" panose="02070309020205020404" pitchFamily="49" charset="0"/>
              <a:ea typeface="Segoe UI" panose="020B0502040204020203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702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Disconnected architecture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Application connects to the database to retrieve data and store it in memory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Disconnect from the database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Do updates to in-memory copy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Connect to database and do updates to the database</a:t>
            </a:r>
          </a:p>
        </p:txBody>
      </p:sp>
    </p:spTree>
    <p:extLst>
      <p:ext uri="{BB962C8B-B14F-4D97-AF65-F5344CB8AC3E}">
        <p14:creationId xmlns:p14="http://schemas.microsoft.com/office/powerpoint/2010/main" val="3030791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Disconnected architecture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/>
              <a:t>…</a:t>
            </a:r>
            <a:r>
              <a:rPr lang="en-US" altLang="en-US" sz="3200" b="1" dirty="0" err="1"/>
              <a:t>TableAdapter</a:t>
            </a:r>
            <a:r>
              <a:rPr lang="en-US" altLang="en-US" sz="3200" b="1" dirty="0"/>
              <a:t> </a:t>
            </a:r>
            <a:r>
              <a:rPr lang="en-US" altLang="en-US" sz="3200" dirty="0"/>
              <a:t>– performs read and update operations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 err="1"/>
              <a:t>DataSet</a:t>
            </a:r>
            <a:r>
              <a:rPr lang="en-US" altLang="en-US" sz="3200" b="1" dirty="0"/>
              <a:t>, </a:t>
            </a:r>
            <a:r>
              <a:rPr lang="en-US" altLang="en-US" sz="3200" b="1" dirty="0" err="1"/>
              <a:t>TypedTableBase</a:t>
            </a:r>
            <a:r>
              <a:rPr lang="en-US" altLang="en-US" sz="3200" dirty="0"/>
              <a:t> – in-memory data store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b="1" dirty="0" err="1"/>
              <a:t>BindingSource</a:t>
            </a:r>
            <a:r>
              <a:rPr lang="en-US" altLang="en-US" sz="3200" dirty="0"/>
              <a:t> – position aware view of a </a:t>
            </a:r>
            <a:r>
              <a:rPr lang="en-US" altLang="en-US" sz="3200" dirty="0" err="1"/>
              <a:t>DataTable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03143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48CAD7-9596-6B8F-4390-68B91C5F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Disconnected architecture</a:t>
            </a:r>
            <a:endParaRPr lang="en-GB" altLang="en-US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BSc Business Information Systems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5BC0FE-D183-67C7-F7C6-FE47407B2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FBF5F-D9F7-437E-8CF8-688EAF21A1C0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F96A1-2AE3-49B3-A580-B61EF36B2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714500"/>
            <a:ext cx="11225168" cy="417457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Used for client with limited network connectivity (smart devices, distant areas)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If there is need for offline data storage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altLang="en-US" sz="3200" dirty="0"/>
              <a:t>Potentially outdated data</a:t>
            </a:r>
          </a:p>
        </p:txBody>
      </p:sp>
    </p:spTree>
    <p:extLst>
      <p:ext uri="{BB962C8B-B14F-4D97-AF65-F5344CB8AC3E}">
        <p14:creationId xmlns:p14="http://schemas.microsoft.com/office/powerpoint/2010/main" val="41132172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50F9B-C91F-8251-DBB6-902A113A00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585132-5E6B-6252-979D-81557B974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8522" y="6356350"/>
            <a:ext cx="2035278" cy="365125"/>
          </a:xfrm>
        </p:spPr>
        <p:txBody>
          <a:bodyPr/>
          <a:lstStyle/>
          <a:p>
            <a:fld id="{24CFBF5F-D9F7-437E-8CF8-688EAF21A1C0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A6B5030E-C28D-91D0-D376-9646C9A271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1" y="6341397"/>
            <a:ext cx="3101410" cy="374650"/>
          </a:xfrm>
        </p:spPr>
        <p:txBody>
          <a:bodyPr/>
          <a:lstStyle/>
          <a:p>
            <a:r>
              <a:rPr lang="en-US"/>
              <a:t>BSc Business Information Systems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7918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Custom 8">
      <a:dk1>
        <a:sysClr val="windowText" lastClr="000000"/>
      </a:dk1>
      <a:lt1>
        <a:sysClr val="window" lastClr="FFFFFF"/>
      </a:lt1>
      <a:dk2>
        <a:srgbClr val="07428C"/>
      </a:dk2>
      <a:lt2>
        <a:srgbClr val="EDEDED"/>
      </a:lt2>
      <a:accent1>
        <a:srgbClr val="083FA4"/>
      </a:accent1>
      <a:accent2>
        <a:srgbClr val="ED7D31"/>
      </a:accent2>
      <a:accent3>
        <a:srgbClr val="35A8E0"/>
      </a:accent3>
      <a:accent4>
        <a:srgbClr val="FFC000"/>
      </a:accent4>
      <a:accent5>
        <a:srgbClr val="4472C4"/>
      </a:accent5>
      <a:accent6>
        <a:srgbClr val="70AD47"/>
      </a:accent6>
      <a:hlink>
        <a:srgbClr val="358A7C"/>
      </a:hlink>
      <a:folHlink>
        <a:srgbClr val="B7283C"/>
      </a:folHlink>
    </a:clrScheme>
    <a:fontScheme name="Другая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Другая 13">
      <a:dk1>
        <a:sysClr val="windowText" lastClr="000000"/>
      </a:dk1>
      <a:lt1>
        <a:sysClr val="window" lastClr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1172</Words>
  <Application>Microsoft Office PowerPoint</Application>
  <PresentationFormat>Widescreen</PresentationFormat>
  <Paragraphs>204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Consolas</vt:lpstr>
      <vt:lpstr>Courier New</vt:lpstr>
      <vt:lpstr>Tahoma</vt:lpstr>
      <vt:lpstr>Тема Office</vt:lpstr>
      <vt:lpstr>Bitmap Image</vt:lpstr>
      <vt:lpstr>Fundamentals of Programming</vt:lpstr>
      <vt:lpstr>Agenda</vt:lpstr>
      <vt:lpstr>What is a database?</vt:lpstr>
      <vt:lpstr>What is DBMS?</vt:lpstr>
      <vt:lpstr>Examples of relational DBMS</vt:lpstr>
      <vt:lpstr>Tables</vt:lpstr>
      <vt:lpstr>DB vs DBMS</vt:lpstr>
      <vt:lpstr>Primary key</vt:lpstr>
      <vt:lpstr>Relationship</vt:lpstr>
      <vt:lpstr>Relationship types</vt:lpstr>
      <vt:lpstr>SQL</vt:lpstr>
      <vt:lpstr>DDL (Data Definition Language)</vt:lpstr>
      <vt:lpstr>DML (Data Manipulation Language)</vt:lpstr>
      <vt:lpstr>SQL SELECT – retrieve data</vt:lpstr>
      <vt:lpstr>SQL INSERT – create data</vt:lpstr>
      <vt:lpstr>SQL INSERT – create data</vt:lpstr>
      <vt:lpstr>SQL UPDATE – edit data</vt:lpstr>
      <vt:lpstr>SQL DELETE – remove data</vt:lpstr>
      <vt:lpstr>Working with databases in C#</vt:lpstr>
      <vt:lpstr>ADO.NET</vt:lpstr>
      <vt:lpstr>Connected architecture</vt:lpstr>
      <vt:lpstr>Connected architecture</vt:lpstr>
      <vt:lpstr>Disconnected architecture</vt:lpstr>
      <vt:lpstr>Disconnected architecture</vt:lpstr>
      <vt:lpstr>Disconnected architecture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Vasiliy Kuznetsov</cp:lastModifiedBy>
  <cp:revision>140</cp:revision>
  <dcterms:created xsi:type="dcterms:W3CDTF">2022-06-28T05:50:22Z</dcterms:created>
  <dcterms:modified xsi:type="dcterms:W3CDTF">2024-09-15T09:18:18Z</dcterms:modified>
</cp:coreProperties>
</file>